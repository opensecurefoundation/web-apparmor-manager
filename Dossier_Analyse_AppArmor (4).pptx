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8" r:id="rId17"/>
    <p:sldId id="279" r:id="rId18"/>
    <p:sldId id="280" r:id="rId19"/>
    <p:sldId id="281" r:id="rId20"/>
    <p:sldId id="274" r:id="rId21"/>
    <p:sldId id="275" r:id="rId22"/>
    <p:sldId id="276" r:id="rId23"/>
    <p:sldId id="264" r:id="rId24"/>
    <p:sldId id="265" r:id="rId25"/>
    <p:sldId id="266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84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AE37-D85B-C5AD-FB4D-D1B2A5DD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FF59F-B4F7-C792-F818-40D9909CB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38648-27E8-822F-39B9-0C49E1949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93F85-D80B-7A1F-41B3-AD96ECE00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22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1340-1032-1AE1-F160-0310B0E4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F61B3-9E21-6B7B-FFF4-46214167D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A6E0F-5F42-CAF7-D54B-47D500E06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5F3FE-7959-07E3-D337-37F01021C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3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74895-D39A-6B33-D83E-69C743CB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4E3D5-D18D-51EF-4F93-4129EB538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A7EBE-E79D-E681-62AA-09C86B853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C66CD-F9E4-018C-C993-C11C6A169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96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6801492" y="-439734"/>
            <a:ext cx="2794571" cy="265895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365608" y="176751"/>
            <a:ext cx="8001076" cy="471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SECURITE DES SYSTEMES D’EXPOITATION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SYSTEME D’EXPLOITATION AVANCEE </a:t>
            </a:r>
            <a:endParaRPr lang="fr-CM" sz="2000" b="1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7080" y="109728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Gestionnaire Web Sécurisé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pour l'Administration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 Profils AppArmor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9692" y="271494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 &amp; Mitigation des Comportements Malveillants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3657600"/>
            <a:ext cx="3200400" cy="36576"/>
          </a:xfrm>
          <a:prstGeom prst="rect">
            <a:avLst/>
          </a:prstGeom>
          <a:solidFill>
            <a:srgbClr val="DCE2EC">
              <a:alpha val="60000"/>
            </a:srgbClr>
          </a:solidFill>
          <a:ln w="12700">
            <a:solidFill>
              <a:srgbClr val="DCE2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Groupe 6  |  Institut Saint Jean  |  Sécurité des </a:t>
            </a:r>
            <a:r>
              <a:rPr lang="en-US" sz="1400" dirty="0" err="1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</a:t>
            </a:r>
            <a:r>
              <a:rPr lang="en-US" sz="1400" dirty="0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d’Information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NANA NDIEUPE Emilie  ·  NSOE MARIE  ·  SIMO YANNICK  |  Supervisé par M. NGUIMBUS Emmanuel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Année 2025 - 2026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883C3A6-4862-8FF5-6E54-6979AB15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240" y="-25837"/>
            <a:ext cx="1879705" cy="1827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52090" cy="51435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84505" y="532201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SOMMAIRE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2A3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Dossier d'Analyse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54680" y="49377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4937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3154680" y="113385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13385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 &amp; Périmètre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177393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177393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Exigences Fonctionnelles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237744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3154680" y="241401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4140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Exigences Non-Fonctionnelles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305409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05409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 des Cas d'Utilisation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08960" y="365760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7" name="Text 25"/>
          <p:cNvSpPr/>
          <p:nvPr/>
        </p:nvSpPr>
        <p:spPr>
          <a:xfrm>
            <a:off x="3154680" y="369417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36941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Diagramme UML – Use Case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54680" y="433425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433425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Synthèse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· 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projet académique vise à concevoir, développer et déployer un gestionnaire web sécurisé dédié à l'administration et à l'audit des profils AppArmor sur des systèmes Linux Ubuntu.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système devra non seulement administrer les politiques de </a:t>
            </a:r>
            <a:r>
              <a:rPr lang="en-US" sz="11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AppArmor, mais aussi détecter et répondre aux comportements malveillants en temps réel.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96012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 dirty="0"/>
          </a:p>
        </p:txBody>
      </p:sp>
      <p:sp>
        <p:nvSpPr>
          <p:cNvPr id="15" name="Text 13"/>
          <p:cNvSpPr/>
          <p:nvPr/>
        </p:nvSpPr>
        <p:spPr>
          <a:xfrm>
            <a:off x="4663440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Linux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34416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Renforcer la gestion des profils AppArmor via une solution centralisée web sur Ubuntu.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19456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4663440" y="2286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Attaque</a:t>
            </a: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Défense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5786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Simuler des scénarios d'attaques réelles et démontrer l'efficacité des mécanismes de défense AppArmor.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342900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3" name="Text 21"/>
          <p:cNvSpPr/>
          <p:nvPr/>
        </p:nvSpPr>
        <p:spPr>
          <a:xfrm>
            <a:off x="466344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&amp; Logs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8130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Analyser</a:t>
            </a: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automatique</a:t>
            </a: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des logs, comparer l'état avant/après protection et visualiser les incidents via un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· Contexte &amp; Périmètre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234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systèmes Linux sont exposés à des attaques variées (accès non autorisé, exécution de commandes malveillantes). AppArmor est un module de </a:t>
            </a:r>
            <a:r>
              <a:rPr lang="en-US" sz="105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Linux basé sur le Mandatory Access Control (MAC) qui définit et applique des politiques strictes pour chaque application. Ce projet centralise sa gestion dans une interface web sécurisée.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365760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Inclus</a:t>
            </a: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dans le périmètre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E2D4E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 local / VMware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web sécurisée (HTTPS)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Intégration avec AppArmor (Ubuntu)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centralisée des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profils</a:t>
            </a:r>
            <a:endParaRPr lang="en-US" sz="950" dirty="0">
              <a:solidFill>
                <a:srgbClr val="1E2D4E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200400"/>
            <a:ext cx="2532888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Visualisation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des logs</a:t>
            </a:r>
          </a:p>
        </p:txBody>
      </p:sp>
      <p:sp>
        <p:nvSpPr>
          <p:cNvPr id="21" name="Text 19"/>
          <p:cNvSpPr/>
          <p:nvPr/>
        </p:nvSpPr>
        <p:spPr>
          <a:xfrm>
            <a:off x="270210" y="406908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mitigation des menaces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0370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35254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vulnérable (démo attaque)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81528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5" name="Shape 23"/>
          <p:cNvSpPr/>
          <p:nvPr/>
        </p:nvSpPr>
        <p:spPr>
          <a:xfrm>
            <a:off x="3081528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3172968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Hors périmètre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91256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72968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SELinux ou autres LSM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 Windows / macOS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63824" y="304495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Réseaux distribués à grande échelle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72968" y="335584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 avancée (option future)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72968" y="37170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88736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4" name="Shape 32"/>
          <p:cNvSpPr/>
          <p:nvPr/>
        </p:nvSpPr>
        <p:spPr>
          <a:xfrm>
            <a:off x="5888736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5" name="Text 33"/>
          <p:cNvSpPr/>
          <p:nvPr/>
        </p:nvSpPr>
        <p:spPr>
          <a:xfrm>
            <a:off x="5980176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Contraintes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98464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0176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open source uniquement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0176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Environnement local ou virtualisé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313867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Respect des bonnes pratiques web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07608" y="35648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acceptable (&lt; 5 s)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98464" y="356158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953943-DCA5-DA29-9D6B-6254B1B71CCE}"/>
              </a:ext>
            </a:extLst>
          </p:cNvPr>
          <p:cNvSpPr txBox="1"/>
          <p:nvPr/>
        </p:nvSpPr>
        <p:spPr>
          <a:xfrm>
            <a:off x="365760" y="3872484"/>
            <a:ext cx="25470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000" i="1" dirty="0">
                <a:solidFill>
                  <a:srgbClr val="222222"/>
                </a:solidFill>
                <a:latin typeface="Times New Roman"/>
              </a:rPr>
              <a:t>gestion des clés SSH</a:t>
            </a:r>
            <a:endParaRPr lang="fr-CM" sz="1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038D8E-ACDE-38B4-C5E0-1394AC1228F3}"/>
              </a:ext>
            </a:extLst>
          </p:cNvPr>
          <p:cNvSpPr txBox="1"/>
          <p:nvPr/>
        </p:nvSpPr>
        <p:spPr>
          <a:xfrm>
            <a:off x="1362456" y="3355848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000" i="1" dirty="0">
                <a:solidFill>
                  <a:srgbClr val="222222"/>
                </a:solidFill>
                <a:latin typeface="Times New Roman"/>
              </a:rPr>
              <a:t>, authentification des hôtes</a:t>
            </a:r>
            <a:endParaRPr lang="fr-CM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Exigences Fonctionnelles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11480" y="987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" y="9692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Authentification sécurisée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26187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administrateur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 identifiant + mot de passe hashé. Journalisation des tentatives.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41148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" y="19933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des profils AppArmor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28600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Création, modification, suppression, activation/désactivation des profils. Modes complain &amp; enforce.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411480" y="30358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3272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Restriction processus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310128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Définition de règles limitant l'accès aux fichiers sensibles et les exécutions de processus.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86784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411480" y="40599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" y="4041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de surveillance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334256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 affichant l'état global des profils, alertes en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914400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1" name="Text 29"/>
          <p:cNvSpPr/>
          <p:nvPr/>
        </p:nvSpPr>
        <p:spPr>
          <a:xfrm>
            <a:off x="4846320" y="987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68112" y="9692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Visualisation temps réel des logs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126187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Collecte et affichage en direct des logs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AppArmor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automatique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avec filtrage, recherche et historisation.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1938528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6" name="Text 34"/>
          <p:cNvSpPr/>
          <p:nvPr/>
        </p:nvSpPr>
        <p:spPr>
          <a:xfrm>
            <a:off x="484632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68112" y="19933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 de comportements malveillants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228600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Identification d'accès non autorisés, exécutions interdites et corrélation d'événements suspects.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automatique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2962656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1" name="Text 39"/>
          <p:cNvSpPr/>
          <p:nvPr/>
        </p:nvSpPr>
        <p:spPr>
          <a:xfrm>
            <a:off x="4846320" y="30358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68112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 &amp; réponse aux incidents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3310128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Blocage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restriction de processus, isolation d'application et notification admin.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automatique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Exigences Non-Fonctionnelles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743200" cy="211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38404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Authentification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 hash bcrypt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Protection XSS, CSRF, injection SQL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Chiffrement HTTPS (TLS)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7" name="Shape 15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326440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Temps de réponse &lt; 5 secondes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Mise à jour logs quasi-temps réel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simultanée de plusieurs profils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fluide même sous charge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4" name="Shape 22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614476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Disponibilité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Accessible 24h/24 en local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Résistance aux pannes mineures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Sauvegarde automatique des configs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Restauration rapide du système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31958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1" name="Shape 29"/>
          <p:cNvSpPr/>
          <p:nvPr/>
        </p:nvSpPr>
        <p:spPr>
          <a:xfrm>
            <a:off x="260604" y="3143504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2" name="Text 30"/>
          <p:cNvSpPr/>
          <p:nvPr/>
        </p:nvSpPr>
        <p:spPr>
          <a:xfrm>
            <a:off x="352044" y="32369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Évolutivité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044" y="35798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modulaire extensible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8755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Ajout futur de modules IA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4904" y="42153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interne pour intégrations tierces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5501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Documentation technique complète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8" name="Shape 36"/>
          <p:cNvSpPr/>
          <p:nvPr/>
        </p:nvSpPr>
        <p:spPr>
          <a:xfrm>
            <a:off x="315468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9" name="Text 37"/>
          <p:cNvSpPr/>
          <p:nvPr/>
        </p:nvSpPr>
        <p:spPr>
          <a:xfrm>
            <a:off x="326440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Maintenabilité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4612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source commenté et versionné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unitaires &amp; fonctionnels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Séparation frontend / backend claire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4612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 d'erreurs applicatifs détaillés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5" name="Shape 43"/>
          <p:cNvSpPr/>
          <p:nvPr/>
        </p:nvSpPr>
        <p:spPr>
          <a:xfrm>
            <a:off x="603504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6" name="Text 44"/>
          <p:cNvSpPr/>
          <p:nvPr/>
        </p:nvSpPr>
        <p:spPr>
          <a:xfrm>
            <a:off x="614476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Ergonomie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intuitive sans formation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 lisible &amp; clair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Alertes visuelles immédiates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Compatible navigateurs modernes</a:t>
            </a:r>
            <a:endParaRPr lang="en-US" sz="95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2F02F0-6AE6-9886-6504-182A0A34EE7A}"/>
              </a:ext>
            </a:extLst>
          </p:cNvPr>
          <p:cNvSpPr txBox="1"/>
          <p:nvPr/>
        </p:nvSpPr>
        <p:spPr>
          <a:xfrm>
            <a:off x="365760" y="2331720"/>
            <a:ext cx="2532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000" dirty="0">
                <a:solidFill>
                  <a:srgbClr val="222222"/>
                </a:solidFill>
                <a:latin typeface="Times New Roman"/>
              </a:rPr>
              <a:t>clés dédiées, </a:t>
            </a:r>
            <a:r>
              <a:rPr lang="fr-CM" sz="1000" i="1" dirty="0">
                <a:solidFill>
                  <a:srgbClr val="222222"/>
                </a:solidFill>
                <a:latin typeface="Times New Roman"/>
              </a:rPr>
              <a:t>rotation périodique</a:t>
            </a:r>
            <a:endParaRPr lang="fr-CM" sz="1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CE0C12-D91F-CAAB-0E9C-8A6EBC4F4E14}"/>
              </a:ext>
            </a:extLst>
          </p:cNvPr>
          <p:cNvSpPr txBox="1"/>
          <p:nvPr/>
        </p:nvSpPr>
        <p:spPr>
          <a:xfrm>
            <a:off x="384048" y="2577941"/>
            <a:ext cx="2482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222222"/>
                </a:solidFill>
                <a:latin typeface="Times New Roman"/>
              </a:rPr>
              <a:t>compte de déploiement à droits limités</a:t>
            </a:r>
            <a:endParaRPr lang="fr-CM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04C4770-6F13-463F-4858-3F9A086AF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9144000" cy="4411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(2/2)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D253D0-A2D4-696A-A625-D36DC5A4AEC6}"/>
              </a:ext>
            </a:extLst>
          </p:cNvPr>
          <p:cNvSpPr txBox="1"/>
          <p:nvPr/>
        </p:nvSpPr>
        <p:spPr>
          <a:xfrm>
            <a:off x="1221474" y="691209"/>
            <a:ext cx="4756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n°1 : Se connecter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459F785-1FAA-C9F1-AF5D-85570B310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60119"/>
            <a:ext cx="4995080" cy="1565911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F9B7EAE1-B7B6-96AE-559A-225E4F1C9403}"/>
              </a:ext>
            </a:extLst>
          </p:cNvPr>
          <p:cNvSpPr txBox="1"/>
          <p:nvPr/>
        </p:nvSpPr>
        <p:spPr>
          <a:xfrm>
            <a:off x="129654" y="2741283"/>
            <a:ext cx="41652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L'administrateur possède un compte valide et actif dans le système.</a:t>
            </a:r>
          </a:p>
          <a:p>
            <a:pPr lvl="0"/>
            <a:r>
              <a:rPr lang="fr-CM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Le serveur d'application (backend) et la base de données des utilisateurs sont opérationnels.</a:t>
            </a:r>
          </a:p>
          <a:p>
            <a:pPr lvl="0"/>
            <a:r>
              <a:rPr lang="fr-CM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L'administrateur dispose d'une connexion réseau fonctionnelle vers l'application web.</a:t>
            </a:r>
          </a:p>
          <a:p>
            <a:pPr lvl="0"/>
            <a:r>
              <a:rPr lang="fr-CM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L'administrateur n'est pas déjà connecté (aucune session active en cours).</a:t>
            </a:r>
          </a:p>
          <a:p>
            <a:endParaRPr lang="fr-CM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7EC7878-9345-BF09-F910-F57706FFE1AB}"/>
              </a:ext>
            </a:extLst>
          </p:cNvPr>
          <p:cNvSpPr txBox="1"/>
          <p:nvPr/>
        </p:nvSpPr>
        <p:spPr>
          <a:xfrm>
            <a:off x="4932983" y="1183738"/>
            <a:ext cx="41652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L'administrateur ouvre son navigateur et accède à l'URL de l'application Gestionnaire Web 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2-Le système affiche la page de connexion contenant les champs « Identifiant » et « Mot de passe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3-L'administrateur saisit son identifiant et son mot de passe.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4-L'administrateur clique sur le bouton « Se connecter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5-Le système transmet les identifiants au serveur d'authentification.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6-Le serveur vérifie la validité des informations saisies auprès de la base des utilisateurs.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7-Le système confirme l'authenticité des informations et crée une session sécurisée (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/session ID).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8-Le système redirige l'administrateur vers le tableau de bord principal de l'application.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9-Le système enregistre l'événement de connexion dans le journal d'audit.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D1214-96E1-17B5-D4BA-0CE1038F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BCA0F4-034A-2DFA-E719-B34926C598D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20112B-04FC-8F3F-3815-13C0C8878CD4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(2/2)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BC5250-57DA-D085-3291-E48C935F112A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2AF2CD-6B42-B8ED-30E6-23864205A6BB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921662-ABAF-90D0-067E-5A805E722162}"/>
              </a:ext>
            </a:extLst>
          </p:cNvPr>
          <p:cNvSpPr txBox="1"/>
          <p:nvPr/>
        </p:nvSpPr>
        <p:spPr>
          <a:xfrm>
            <a:off x="1" y="685800"/>
            <a:ext cx="2743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Identifiant ou mot de passe incorrect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l'étape 6, le système détecte que les informations saisies sont invalides.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le message « Identifiant ou mot de passe incorrect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invité à ressaisir ses identifiants (retour à l'étape 3).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incrémente le compteur de tentatives échouées pour ce compte.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Compte verrouillé après tentatives multiples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Après un nombre défini (par exemple 3) de tentatives échouées consécutives, le système verrouille temporairement le compte.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indiquant la durée de verrouillage restante.</a:t>
            </a:r>
          </a:p>
          <a:p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doit attendre la fin du délai ou contacter un autre administrateur pour débloquer le compte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9971F7-F7B2-288D-7DB8-C7F0A3780AC1}"/>
              </a:ext>
            </a:extLst>
          </p:cNvPr>
          <p:cNvSpPr txBox="1"/>
          <p:nvPr/>
        </p:nvSpPr>
        <p:spPr>
          <a:xfrm>
            <a:off x="2913798" y="822960"/>
            <a:ext cx="32072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Champs obligatoires vides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Se connecter » sans remplir un ou plusieurs champs.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effectue une validation côté client et affiche un message d'erreur signalant le(s) champ(s) manquant(s).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connexion n'est pas tentée tant que les champs ne sont pas complétés.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A4 — Serveur d'authentification indisponible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ne parvient pas à contacter le service d'authentification.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technique et invite l'administrateur à réessayer ultérieurement.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82C03C6-1DAC-E813-CAE8-AC461567961A}"/>
              </a:ext>
            </a:extLst>
          </p:cNvPr>
          <p:cNvSpPr txBox="1"/>
          <p:nvPr/>
        </p:nvSpPr>
        <p:spPr>
          <a:xfrm>
            <a:off x="6182436" y="822960"/>
            <a:ext cx="28523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session utilisateur valide et sécurisée est créée pour la durée de l'utilisation de l'application.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 accès aux fonctionnalités correspondant à son rôle et à ses droits.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tentative de connexion (réussie ou échouée) est journalisée.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732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B2167-5E3B-CA74-7A52-EAEE5384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C04507-17E2-ECBF-4319-9E2C3C77755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3E91B5-77D3-B656-6F0A-BD4C5C55BEC4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(2/2)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5C1AEAB-8969-6C65-066B-2740A7501655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B3470F-709E-D67B-1F79-D6779EFA3AF0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3E3969C-2FA3-48BA-6765-AA0F57CC803B}"/>
              </a:ext>
            </a:extLst>
          </p:cNvPr>
          <p:cNvSpPr txBox="1"/>
          <p:nvPr/>
        </p:nvSpPr>
        <p:spPr>
          <a:xfrm>
            <a:off x="2902880" y="638740"/>
            <a:ext cx="3916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n°2 : Créer un profil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99FDA241-5BCF-B264-7396-BC49C43A1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43011"/>
            <a:ext cx="4291199" cy="138839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F764092-A73D-3DCA-0D3A-4F4B71C0865C}"/>
              </a:ext>
            </a:extLst>
          </p:cNvPr>
          <p:cNvSpPr txBox="1"/>
          <p:nvPr/>
        </p:nvSpPr>
        <p:spPr>
          <a:xfrm>
            <a:off x="4291199" y="848637"/>
            <a:ext cx="46941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dispose des droits de gestion des profils.</a:t>
            </a:r>
          </a:p>
          <a:p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service </a:t>
            </a:r>
            <a:r>
              <a:rPr lang="fr-CM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installé et opérationnel sur au moins un serveur cible</a:t>
            </a: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nouveau profil </a:t>
            </a:r>
            <a:r>
              <a:rPr lang="fr-CM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créé et disponible dans la liste des profils, à l'état inactif.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de profil est généré et stocké, prêt à être modifié ou déployé.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L'opération de création est journalisée.</a:t>
            </a:r>
          </a:p>
          <a:p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89B3EE7-9621-A6FD-1535-80CCD1624896}"/>
              </a:ext>
            </a:extLst>
          </p:cNvPr>
          <p:cNvSpPr txBox="1"/>
          <p:nvPr/>
        </p:nvSpPr>
        <p:spPr>
          <a:xfrm>
            <a:off x="-54591" y="2190886"/>
            <a:ext cx="4345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accède à la section « Profils </a:t>
            </a:r>
            <a:r>
              <a:rPr lang="fr-CM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Créer un nouveau profil ».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formulaire de création (nom du profil, chemin de l'exécutable, mode par défaut, règles d'accès aux fichiers/réseau/capacités).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renseigne le nom du profil et le chemin de l'application concernée.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définit les règles d'accès (lecture, écriture, exécution, réseau, capacités système).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valide la création du profil.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vérifie la syntaxe et la cohérence du profil selon la grammaire </a:t>
            </a:r>
            <a:r>
              <a:rPr lang="fr-CM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enregistre le profil en base de données et génère le fichier de profil correspondant.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de confirmation et ajoute le profil à la liste, à l'état « Brouillon/Inactif ».</a:t>
            </a:r>
          </a:p>
          <a:p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2A822D6-80A5-083C-4433-205B3493AF4E}"/>
              </a:ext>
            </a:extLst>
          </p:cNvPr>
          <p:cNvSpPr txBox="1"/>
          <p:nvPr/>
        </p:nvSpPr>
        <p:spPr>
          <a:xfrm>
            <a:off x="4465547" y="2667890"/>
            <a:ext cx="553996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Erreur de syntaxe dans les règles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une règle non conforme à la syntaxe </a:t>
            </a:r>
            <a:r>
              <a:rPr lang="fr-CM" sz="1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localisant la ligne concernée.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corrige la règle et soumet à nouveau.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Nom de profil déjà existant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qu'un profil porte déjà le même nom.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rejette la création et propose de renommer le nouveau profil.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Chemin d'exécutable invalide ou introuvable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avertit que le chemin indiqué n'existe pas sur le(s) serveur(s) cible(s).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peut corriger le chemin ou poursuivre malgré l'avertissement.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A4 — Annulation de la création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Annuler » avant validation.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abandonne l'opération sans enregistrer de données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92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CE155-25B6-898A-85E6-A7147884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07945D-A4F9-5143-C047-115CEE5D9D0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55A4A5-E4EA-2110-445D-A5DD01F7068C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(2/2)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C38A383-EA72-9A7D-5972-0EBC0D5CD955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9BEC23-DF2B-6CC0-B706-1E0F59F810D8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1041DA-126D-F5A1-BBF9-0B467E6A0731}"/>
              </a:ext>
            </a:extLst>
          </p:cNvPr>
          <p:cNvSpPr txBox="1"/>
          <p:nvPr/>
        </p:nvSpPr>
        <p:spPr>
          <a:xfrm>
            <a:off x="2183641" y="661183"/>
            <a:ext cx="428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n°3 : Modifier un profil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635540C-02C5-1FEF-2895-51BC3815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8680"/>
            <a:ext cx="4399356" cy="137637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C3ECA0B-7DC4-A516-33F7-B882CFFE7081}"/>
              </a:ext>
            </a:extLst>
          </p:cNvPr>
          <p:cNvSpPr txBox="1"/>
          <p:nvPr/>
        </p:nvSpPr>
        <p:spPr>
          <a:xfrm>
            <a:off x="0" y="2245057"/>
            <a:ext cx="32140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un profil existant dans la liste des profils.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Modifier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charge et affiche les règles et paramètres actuels du profil.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modifie les règles souhaitées (ajout, suppression, changement de droits).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valide les modifications.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vérifie la syntaxe et la cohérence des nouvelles règles.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enregistre une nouvelle version du profil et conserve l'historique des versions précédentes.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de confirmation.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3A88D3E-22BB-7088-D6D4-9BB3A27CBE30}"/>
              </a:ext>
            </a:extLst>
          </p:cNvPr>
          <p:cNvSpPr txBox="1"/>
          <p:nvPr/>
        </p:nvSpPr>
        <p:spPr>
          <a:xfrm>
            <a:off x="3452884" y="2905506"/>
            <a:ext cx="483130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Profil verrouillé (modification concurrente)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qu'un autre processus modifie ou déploie déjà ce profil.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refuse l'accès en modification et affiche un message informatif.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Erreur de syntaxe dans les nouvelles règles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une erreur de syntaxe lors de la validation.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le détail de l'erreur et invite à corriger avant nouvelle soumission.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Annulation des modifications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quitte l'écran de modification sans valider.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conserve la version précédente du profil inchangée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3A1591A-C4A7-8B72-F07E-02808CF2DFD0}"/>
              </a:ext>
            </a:extLst>
          </p:cNvPr>
          <p:cNvSpPr txBox="1"/>
          <p:nvPr/>
        </p:nvSpPr>
        <p:spPr>
          <a:xfrm>
            <a:off x="4399356" y="822960"/>
            <a:ext cx="483130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 et dispose des droits de gestion des profils.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à modifier existe déjà dans le système.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n'est pas verrouillé par une opération concurrente (ex. déploiement en cours).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est mis à jour avec une nouvelle version enregistrée et horodatée.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 profil est actif sur un ou plusieurs serveurs, un avertissement invite à le redéployer pour appliquer les changements.</a:t>
            </a:r>
          </a:p>
          <a:p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L'opération de modification est journalisée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355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263928A2-700F-CCD8-08C0-370400E80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704"/>
            <a:ext cx="4399356" cy="152172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1601233-AAB8-084A-E572-DC5EFC69DD98}"/>
              </a:ext>
            </a:extLst>
          </p:cNvPr>
          <p:cNvSpPr txBox="1"/>
          <p:nvPr/>
        </p:nvSpPr>
        <p:spPr>
          <a:xfrm>
            <a:off x="0" y="1771429"/>
            <a:ext cx="43993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le profil à supprimer dans la liste des profils.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Supprimer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une demande de confirmation rappelant les conséquences de l'action.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confirme la suppression.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vérifie que le profil n'est pas actuellement déployé et actif sur un serveur.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supprime l'enregistrement du profil en base de données ainsi que le fichier associé.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de confirmation et retire le profil de la liste.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F881E41-DA42-3C2F-A29E-AC4BA265986B}"/>
              </a:ext>
            </a:extLst>
          </p:cNvPr>
          <p:cNvSpPr txBox="1"/>
          <p:nvPr/>
        </p:nvSpPr>
        <p:spPr>
          <a:xfrm>
            <a:off x="2872854" y="0"/>
            <a:ext cx="42239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n°4: Supprimer un profil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991A4C0-9678-922C-C919-D8C1195F9B8C}"/>
              </a:ext>
            </a:extLst>
          </p:cNvPr>
          <p:cNvSpPr txBox="1"/>
          <p:nvPr/>
        </p:nvSpPr>
        <p:spPr>
          <a:xfrm>
            <a:off x="4481471" y="276999"/>
            <a:ext cx="446964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 et dispose des droits de gestion des profils.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à supprimer existe dans le système.</a:t>
            </a:r>
          </a:p>
          <a:p>
            <a:pPr lvl="0"/>
            <a:r>
              <a:rPr lang="fr-FR" sz="1200" dirty="0">
                <a:solidFill>
                  <a:srgbClr val="222222"/>
                </a:solidFill>
                <a:latin typeface="Times New Roman"/>
              </a:rPr>
              <a:t>une copie du profil est archivée avant suppression définitive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est supprimé de manière irréversible de la base de données et de la liste des profils.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associés au profil sont supprimés du stockage.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L'opération de suppression est journalisée avec l'identité de l'administrateur.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75CBAF-4E69-DEF7-8764-EF383B72AE56}"/>
              </a:ext>
            </a:extLst>
          </p:cNvPr>
          <p:cNvSpPr txBox="1"/>
          <p:nvPr/>
        </p:nvSpPr>
        <p:spPr>
          <a:xfrm>
            <a:off x="4700630" y="2379829"/>
            <a:ext cx="425332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Profil actif sur un ou plusieurs serveurs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que le profil est actuellement déployé et actif.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avertissement demandant de désactiver/retirer le profil des serveurs concernés au préalable, ou de forcer la suppression.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choisit d'annuler, de désactiver le profil avant de continuer, ou de confirmer une suppression forcée.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Annulation de la suppression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Annuler » lors de la demande de confirmation.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abandonne l'opération et le profil reste inchangé.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029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03169E5-205F-DEDF-AC62-41654065C19A}"/>
              </a:ext>
            </a:extLst>
          </p:cNvPr>
          <p:cNvSpPr txBox="1"/>
          <p:nvPr/>
        </p:nvSpPr>
        <p:spPr>
          <a:xfrm>
            <a:off x="2101755" y="0"/>
            <a:ext cx="4940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n°5 : Activer/Désactiver un profil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026EDC6-1A4C-FE69-48E6-F76C08491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704"/>
            <a:ext cx="4399356" cy="152172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4FD347F-A656-DFD2-A100-0728CA743CA2}"/>
              </a:ext>
            </a:extLst>
          </p:cNvPr>
          <p:cNvSpPr txBox="1"/>
          <p:nvPr/>
        </p:nvSpPr>
        <p:spPr>
          <a:xfrm>
            <a:off x="4447123" y="362930"/>
            <a:ext cx="46968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le profil concerné dans la liste des profils.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actionne le bouton d'activation ou de désactivation (interrupteur).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envoie la commande correspondante (par exemple 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-enforce ou 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aa-disable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au serveur cible.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serveur cible exécute la commande et retourne un statut d'exécution.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met à jour l'état du profil (actif/inactif) dans l'interface.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une confirmation du changement d'état.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Serveur cible injoignable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ne parvient pas à communiquer avec le serveur cible.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de connexion et laisse l'état du profil inchangé.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peut réessayer ultérieurement.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Profil déjà dans l'état demandé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que le profil est déjà activé (ou désactivé).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informatif sans effectuer d'action supplémentaire.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Permissions insuffisantes sur le serveur cible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serveur cible refuse l'exécution de la commande par manque de droits.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détaillé.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7E4F21-F36B-B515-F8CB-DF36F7294869}"/>
              </a:ext>
            </a:extLst>
          </p:cNvPr>
          <p:cNvSpPr txBox="1"/>
          <p:nvPr/>
        </p:nvSpPr>
        <p:spPr>
          <a:xfrm>
            <a:off x="81887" y="1862919"/>
            <a:ext cx="42444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L'état (actif/inactif) du profil est mis à jour et cohérent entre l'application et le serveur cible.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changement d'état est journalisé avec horodatage et identité de l'administrateur.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 et dispose des droits nécessaires.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concerné existe et est associé à au moins un serveur cible.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serveur cible est accessible depuis l'application (connexion réseau/agent opérationnel).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48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034BD36-4BB2-DFCF-7454-88F672586640}"/>
              </a:ext>
            </a:extLst>
          </p:cNvPr>
          <p:cNvSpPr txBox="1"/>
          <p:nvPr/>
        </p:nvSpPr>
        <p:spPr>
          <a:xfrm>
            <a:off x="2606721" y="0"/>
            <a:ext cx="6045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n°6 : Changer le mode (</a:t>
            </a:r>
            <a:r>
              <a:rPr lang="fr-CM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</a:t>
            </a:r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Enforce)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8B6D799-DE6F-525D-3F06-4BD81EEF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704"/>
            <a:ext cx="4399356" cy="152172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1CDC879-CCE2-A39C-630D-81A0246BEEF5}"/>
              </a:ext>
            </a:extLst>
          </p:cNvPr>
          <p:cNvSpPr txBox="1"/>
          <p:nvPr/>
        </p:nvSpPr>
        <p:spPr>
          <a:xfrm>
            <a:off x="4462818" y="399829"/>
            <a:ext cx="46197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le profil concerné.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choisit le mode cible : « 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 ou « Enforce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demande une confirmation du changement de mode.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confirme.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exécute la commande correspondante sur le serveur cible (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aa-complain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-enforce).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vérifie le résultat de l'exécution.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met à jour et affiche le nouveau mode du profil.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Échec de la commande sur le serveur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serveur retourne une erreur (droits insuffisants, service </a:t>
            </a:r>
            <a:r>
              <a:rPr lang="fr-CM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arrêté, etc.).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explicite et conserve le mode précédent.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Profil déjà dans le mode sélectionné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que le profil est déjà dans le mode demandé.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informe l'administrateur sans effectuer de changement.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6DC476-0225-5DE4-7CD9-EF1136943B4E}"/>
              </a:ext>
            </a:extLst>
          </p:cNvPr>
          <p:cNvSpPr txBox="1"/>
          <p:nvPr/>
        </p:nvSpPr>
        <p:spPr>
          <a:xfrm>
            <a:off x="0" y="1771429"/>
            <a:ext cx="43993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mode du profil (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Enforce) est mis à jour sur le serveur cible et dans l'application.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mode 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les violations sont uniquement journalisées ; en mode Enforce, elles sont bloquées.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changement est journalisé.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 et dispose des droits nécessaires.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concerné existe et est actuellement actif sur le serveur cible.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service 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fonctionne correctement sur le serveur cible.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556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80515EF-4E06-82BC-4117-2C87C82A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999"/>
            <a:ext cx="4399356" cy="152172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04112EE-6837-702A-8E9D-89C285B5A057}"/>
              </a:ext>
            </a:extLst>
          </p:cNvPr>
          <p:cNvSpPr txBox="1"/>
          <p:nvPr/>
        </p:nvSpPr>
        <p:spPr>
          <a:xfrm>
            <a:off x="2340591" y="0"/>
            <a:ext cx="4292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n°7 : Déployer un profil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309ACE7-9632-AAFF-18F3-2012B1C8220C}"/>
              </a:ext>
            </a:extLst>
          </p:cNvPr>
          <p:cNvSpPr txBox="1"/>
          <p:nvPr/>
        </p:nvSpPr>
        <p:spPr>
          <a:xfrm>
            <a:off x="4486701" y="276999"/>
            <a:ext cx="4609532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le profil à déployer.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Déployer ».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la liste des serveurs cibles disponibles.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un ou plusieurs serveurs cibles.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confirme le déploiement.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transfère le fichier de profil vers chaque serveur cible via une connexion sécurisée (SSH ou agent dédié).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charge le profil sur chaque serveur (commande </a:t>
            </a:r>
            <a:r>
              <a:rPr lang="fr-CM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apparmor_parser</a:t>
            </a:r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rechargement du service).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vérifie le statut de chargement sur chaque serveur.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rapport de déploiement indiquant le succès ou l'échec pour chaque serveur.</a:t>
            </a:r>
          </a:p>
          <a:p>
            <a:pPr lvl="0"/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Serveur cible injoignable pendant le déploiement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ne parvient pas à contacter un ou plusieurs serveurs sélectionnés.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rapport de déploiement indique les serveurs en échec.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peut relancer le déploiement uniquement sur les serveurs en échec.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Conflit de version de profil sur le serveur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qu'une version différente du profil est déjà présente sur le serveur cible.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avertit l'administrateur et demande confirmation avant d'écraser la version existante.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Annulation du déploiement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annule l'opération avant confirmation finale.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Aucun transfert n'est effectué sur les serveurs cibles.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FE73B01-E1DA-2B59-A938-AC890ED69ADB}"/>
              </a:ext>
            </a:extLst>
          </p:cNvPr>
          <p:cNvSpPr txBox="1"/>
          <p:nvPr/>
        </p:nvSpPr>
        <p:spPr>
          <a:xfrm>
            <a:off x="0" y="1948849"/>
            <a:ext cx="43993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est déployé et actif sur les serveurs cibles pour lesquels le déploiement a réussi.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statut de déploiement (succès/échec) est enregistré pour chaque serveur.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L'opération est journalisée avec la liste des serveurs concernés et l'horodatage.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 et dispose des droits de déploiement.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profil à déployer a été créé et validé (syntaxe correcte).</a:t>
            </a:r>
          </a:p>
          <a:p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moins un serveur cible est enregistré et accessible</a:t>
            </a:r>
          </a:p>
        </p:txBody>
      </p:sp>
    </p:spTree>
    <p:extLst>
      <p:ext uri="{BB962C8B-B14F-4D97-AF65-F5344CB8AC3E}">
        <p14:creationId xmlns:p14="http://schemas.microsoft.com/office/powerpoint/2010/main" val="3321096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222222"/>
                </a:solidFill>
                <a:latin typeface="Times New Roman"/>
              </a:rPr>
              <a:t>Cas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d'utilisation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n°</a:t>
            </a:r>
            <a:r>
              <a:rPr lang="en-US" sz="1300" b="1" i="0" dirty="0">
                <a:solidFill>
                  <a:srgbClr val="222222"/>
                </a:solidFill>
                <a:latin typeface="Times New Roman"/>
              </a:rPr>
              <a:t>8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: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Déclencher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un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0000"/>
            <a:ext cx="425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2222"/>
                </a:solidFill>
                <a:latin typeface="Times New Roman"/>
              </a:rPr>
              <a:t>Scénario nominal (flux principal)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1. L'administrateur accède à la section « Audit » et choisit la période et le périmètre à auditer.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2. L'administrateur clique sur « Lancer l'audit ».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3. Le module Audit lit les journaux correspondant à la période sélectionnée.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4. Le module Audit compare l'état du système avant et après la mise en place des protections.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5. Le module Audit calcule des statistiques et un score de conformité.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6. Le système génère un rapport d'audit.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7. Le système affiche le rapport à l'administrateur et propose son téléchargement.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4000" y="91440"/>
            <a:ext cx="417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Préconditions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prérequis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L'administrateur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authentifié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et dispose des droits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d'audit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Des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journaux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existent pour la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période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à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auditer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 i="0" dirty="0">
                <a:solidFill>
                  <a:srgbClr val="222222"/>
                </a:solidFill>
                <a:latin typeface="Times New Roman"/>
              </a:rPr>
              <a:t>Postconditions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résultat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Un rapport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d'audit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horodaté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généré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et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archivé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L'opération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journalisée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4320" y="1475000"/>
            <a:ext cx="4170000" cy="2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Scénarios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alternatifs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(exceptions)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A1 — Volume de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journaux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important</a:t>
            </a:r>
          </a:p>
          <a:p>
            <a:pPr algn="l">
              <a:spcAft>
                <a:spcPts val="300"/>
              </a:spcAft>
            </a:pPr>
            <a:r>
              <a:rPr sz="1000" b="0" i="1" dirty="0">
                <a:solidFill>
                  <a:srgbClr val="222222"/>
                </a:solidFill>
                <a:latin typeface="Times New Roman"/>
              </a:rPr>
              <a:t>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système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bascule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en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traitement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asynchrone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et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notifie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l'administrateur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à la fin du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calcul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A2 —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Aucune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donnée sur la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période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sélectionnée</a:t>
            </a:r>
            <a:endParaRPr sz="1000" b="1" i="0" dirty="0">
              <a:solidFill>
                <a:srgbClr val="222222"/>
              </a:solidFill>
              <a:latin typeface="Times New Roman"/>
            </a:endParaRPr>
          </a:p>
          <a:p>
            <a:pPr algn="l">
              <a:spcAft>
                <a:spcPts val="300"/>
              </a:spcAft>
            </a:pPr>
            <a:r>
              <a:rPr sz="1000" b="0" i="1" dirty="0">
                <a:solidFill>
                  <a:srgbClr val="222222"/>
                </a:solidFill>
                <a:latin typeface="Times New Roman"/>
              </a:rPr>
              <a:t>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système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affiche un message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informatif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et propose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d'élargir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la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période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.</a:t>
            </a:r>
          </a:p>
        </p:txBody>
      </p:sp>
      <p:pic>
        <p:nvPicPr>
          <p:cNvPr id="8" name="Image 7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C2078EB1-53B6-7C6A-141D-CC23DB1EC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7" y="2953433"/>
            <a:ext cx="7531061" cy="19965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222222"/>
                </a:solidFill>
                <a:latin typeface="Times New Roman"/>
              </a:rPr>
              <a:t>Cas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d'utilisation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n°</a:t>
            </a:r>
            <a:r>
              <a:rPr lang="en-US" sz="1300" b="1" dirty="0">
                <a:solidFill>
                  <a:srgbClr val="222222"/>
                </a:solidFill>
                <a:latin typeface="Times New Roman"/>
              </a:rPr>
              <a:t>9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: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Déclencher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analyse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de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sécurité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(SOC)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0000"/>
            <a:ext cx="425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2222"/>
                </a:solidFill>
                <a:latin typeface="Times New Roman"/>
              </a:rPr>
              <a:t>Scénario nominal (flux principal)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1. L'administrateur accède à la section « Analyse de sécurité » et déclenche une analyse.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2. Le module Analyse SOC examine les journaux à la recherche de comportements suspects et de violations.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3. Le module classe les alertes détectées par catégorie et par gravité.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4. Le module calcule un niveau de risque global.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5. Si le risque dépasse un seuil critique, le système propose ou déclenche automatiquement une mitigation.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6. Le système affiche les alertes classées et le niveau de risque à l'administrateur.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2417" y="109119"/>
            <a:ext cx="417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Préconditions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prérequis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L'administrateur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authentifié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Des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événements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récents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existent dans les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journaux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 i="0" dirty="0">
                <a:solidFill>
                  <a:srgbClr val="222222"/>
                </a:solidFill>
                <a:latin typeface="Times New Roman"/>
              </a:rPr>
              <a:t>Postconditions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résultat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Un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niveau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de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risque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et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liste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d'alertes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classées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sont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produits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Une mitigation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peut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être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proposée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ou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déclenchée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automatiquement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L'analyse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journalisée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4320" y="1638802"/>
            <a:ext cx="4170000" cy="2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Scénarios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alternatifs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(exceptions)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A1 — Risque critique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détecté</a:t>
            </a:r>
            <a:endParaRPr sz="1000" b="1" i="0" dirty="0">
              <a:solidFill>
                <a:srgbClr val="222222"/>
              </a:solidFill>
              <a:latin typeface="Times New Roman"/>
            </a:endParaRPr>
          </a:p>
          <a:p>
            <a:pPr algn="l">
              <a:spcAft>
                <a:spcPts val="300"/>
              </a:spcAft>
            </a:pPr>
            <a:r>
              <a:rPr sz="1000" b="0" i="1" dirty="0">
                <a:solidFill>
                  <a:srgbClr val="222222"/>
                </a:solidFill>
                <a:latin typeface="Times New Roman"/>
              </a:rPr>
              <a:t>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système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déclenche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automatiquement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cas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d'utilisation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«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Déclencher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mitigation » (relation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d'extension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).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A2 —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Aucun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comportement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suspect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détecté</a:t>
            </a:r>
            <a:endParaRPr sz="1000" b="1" i="0" dirty="0">
              <a:solidFill>
                <a:srgbClr val="222222"/>
              </a:solidFill>
              <a:latin typeface="Times New Roman"/>
            </a:endParaRPr>
          </a:p>
          <a:p>
            <a:pPr algn="l">
              <a:spcAft>
                <a:spcPts val="300"/>
              </a:spcAft>
            </a:pPr>
            <a:r>
              <a:rPr sz="1000" b="0" i="1" dirty="0">
                <a:solidFill>
                  <a:srgbClr val="222222"/>
                </a:solidFill>
                <a:latin typeface="Times New Roman"/>
              </a:rPr>
              <a:t>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système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affiche un état «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Aucune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anomalie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» et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journalise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l'analyse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.</a:t>
            </a: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C0A75860-C0A8-F194-50E8-5A8E36E94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80" y="2953433"/>
            <a:ext cx="7531061" cy="19965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222222"/>
                </a:solidFill>
                <a:latin typeface="Times New Roman"/>
              </a:rPr>
              <a:t>Cas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d'utilisation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n°1</a:t>
            </a:r>
            <a:r>
              <a:rPr lang="en-US" sz="1300" b="1" dirty="0">
                <a:solidFill>
                  <a:srgbClr val="222222"/>
                </a:solidFill>
                <a:latin typeface="Times New Roman"/>
              </a:rPr>
              <a:t>0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: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Déclencher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0000"/>
            <a:ext cx="425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2222"/>
                </a:solidFill>
                <a:latin typeface="Times New Roman"/>
              </a:rPr>
              <a:t>Scénario nominal (flux principal)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1. L'administrateur valide, ou le système déclenche automatiquement, la mitigation proposée.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2. Le module Défense détermine la contre-mesure appropriée (blocage d'accès, blocage d'exécution, isolation).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3. Le système transmet la commande de contre-mesure au service AppArmor.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4. Le service AppArmor applique la contre-mesure sur le profil concerné.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5. Le système met à jour le profil AppArmor si nécessaire.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6. Le système journalise l'action et affiche une confirmation à l'administrateur.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99680" y="27727"/>
            <a:ext cx="417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Préconditions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prérequis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Une menace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ou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violation a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été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identifiée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, via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l'analyse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SOC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ou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un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signalement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manuel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de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l'administrateur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 i="0" dirty="0">
                <a:solidFill>
                  <a:srgbClr val="222222"/>
                </a:solidFill>
                <a:latin typeface="Times New Roman"/>
              </a:rPr>
              <a:t>Postconditions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résultat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La menace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contenue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; le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profil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et les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journaux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reflètent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la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contre-mesure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appliquée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L'action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journalisée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avec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l'identité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de son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déclencheur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(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automatique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ou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administrateur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8211" y="1645165"/>
            <a:ext cx="4170000" cy="2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Scénarios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alternatifs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(exceptions)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A1 — Contre-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mesure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automatique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refusée</a:t>
            </a:r>
            <a:endParaRPr sz="1000" b="1" i="0" dirty="0">
              <a:solidFill>
                <a:srgbClr val="222222"/>
              </a:solidFill>
              <a:latin typeface="Times New Roman"/>
            </a:endParaRPr>
          </a:p>
          <a:p>
            <a:pPr algn="l">
              <a:spcAft>
                <a:spcPts val="300"/>
              </a:spcAft>
            </a:pP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L'administrateur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bascule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l'opération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en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mode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manuel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et attend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action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explicite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A2 —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Échec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d'application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de la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contre-mesure</a:t>
            </a:r>
            <a:endParaRPr sz="1000" b="1" i="0" dirty="0">
              <a:solidFill>
                <a:srgbClr val="222222"/>
              </a:solidFill>
              <a:latin typeface="Times New Roman"/>
            </a:endParaRPr>
          </a:p>
          <a:p>
            <a:pPr algn="l">
              <a:spcAft>
                <a:spcPts val="300"/>
              </a:spcAft>
            </a:pPr>
            <a:r>
              <a:rPr sz="1000" b="0" i="1" dirty="0">
                <a:solidFill>
                  <a:srgbClr val="222222"/>
                </a:solidFill>
                <a:latin typeface="Times New Roman"/>
              </a:rPr>
              <a:t>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système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affiche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alerte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critique et propose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contre-mesure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alternative (isolation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complète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).</a:t>
            </a: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06272B0-9370-F33D-4924-8925578D4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7" y="3015774"/>
            <a:ext cx="7531061" cy="19342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222222"/>
                </a:solidFill>
                <a:latin typeface="Times New Roman"/>
              </a:rPr>
              <a:t>Cas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d'utilisation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n°1</a:t>
            </a:r>
            <a:r>
              <a:rPr lang="en-US" sz="1300" b="1" i="0" dirty="0">
                <a:solidFill>
                  <a:srgbClr val="222222"/>
                </a:solidFill>
                <a:latin typeface="Times New Roman"/>
              </a:rPr>
              <a:t>1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: Lancer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300" b="1" i="0" dirty="0">
                <a:solidFill>
                  <a:srgbClr val="222222"/>
                </a:solidFill>
                <a:latin typeface="Times New Roman"/>
              </a:rPr>
              <a:t> simulation </a:t>
            </a:r>
            <a:r>
              <a:rPr sz="1300" b="1" i="0" dirty="0" err="1">
                <a:solidFill>
                  <a:srgbClr val="222222"/>
                </a:solidFill>
                <a:latin typeface="Times New Roman"/>
              </a:rPr>
              <a:t>d'attaque</a:t>
            </a:r>
            <a:endParaRPr sz="1300" b="1" i="0" dirty="0">
              <a:solidFill>
                <a:srgbClr val="222222"/>
              </a:solidFill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500000"/>
            <a:ext cx="425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2222"/>
                </a:solidFill>
                <a:latin typeface="Times New Roman"/>
              </a:rPr>
              <a:t>Scénario nominal (flux principal)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1. L'administrateur accède à la section « Simulation d'attaque » et choisit un scénario (accès à /etc/shadow, exécution de /bin/bash, reverse shell, programme interdit).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2. L'administrateur lance la simulation sur l'application vulnérable désignée.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3. Le système exécute la tentative simulée sur l'application.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4. Le service AppArmor intercepte la tentative selon les règles du profil actif.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5. L'action, bloquée ou autorisée, est journalisée avec le détail de la tentative.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2222"/>
                </a:solidFill>
                <a:latin typeface="Times New Roman"/>
              </a:rPr>
              <a:t>6. Le système affiche le résultat de la simulation à l'administrateur.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4000" y="0"/>
            <a:ext cx="417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Préconditions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prérequis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Un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profil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AppArmor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actif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(mode Enforce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ou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Complain) sur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l'application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ciblée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L'administrateur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dispose des droits de simulation.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 i="0" dirty="0">
                <a:solidFill>
                  <a:srgbClr val="222222"/>
                </a:solidFill>
                <a:latin typeface="Times New Roman"/>
              </a:rPr>
              <a:t>Postconditions (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résultat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Un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événement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de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sécurité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réaliste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généré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, exploitable par «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Déclencher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un audit » et «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Déclencher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analyse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de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sécurité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».</a:t>
            </a:r>
          </a:p>
          <a:p>
            <a:pPr algn="l">
              <a:spcAft>
                <a:spcPts val="300"/>
              </a:spcAft>
            </a:pPr>
            <a:r>
              <a:rPr sz="1050" b="0" i="0" dirty="0">
                <a:solidFill>
                  <a:srgbClr val="222222"/>
                </a:solidFill>
                <a:latin typeface="Times New Roman"/>
              </a:rPr>
              <a:t>• La simulation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journalisée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et </a:t>
            </a:r>
            <a:r>
              <a:rPr sz="1050" b="0" i="0" dirty="0" err="1">
                <a:solidFill>
                  <a:srgbClr val="222222"/>
                </a:solidFill>
                <a:latin typeface="Times New Roman"/>
              </a:rPr>
              <a:t>n'affecte</a:t>
            </a:r>
            <a:r>
              <a:rPr sz="1050" b="0" i="0" dirty="0">
                <a:solidFill>
                  <a:srgbClr val="222222"/>
                </a:solidFill>
                <a:latin typeface="Times New Roman"/>
              </a:rPr>
              <a:t> pas les données de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052" y="1714659"/>
            <a:ext cx="4170000" cy="2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Scénarios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Times New Roman"/>
              </a:rPr>
              <a:t>alternatifs</a:t>
            </a:r>
            <a:r>
              <a:rPr sz="1200" b="1" i="0" dirty="0">
                <a:solidFill>
                  <a:srgbClr val="222222"/>
                </a:solidFill>
                <a:latin typeface="Times New Roman"/>
              </a:rPr>
              <a:t> (exceptions)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A1 —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Profil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en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mode Complain</a:t>
            </a:r>
          </a:p>
          <a:p>
            <a:pPr algn="l">
              <a:spcAft>
                <a:spcPts val="300"/>
              </a:spcAft>
            </a:pPr>
            <a:r>
              <a:rPr sz="1000" b="0" i="1" dirty="0">
                <a:solidFill>
                  <a:srgbClr val="222222"/>
                </a:solidFill>
                <a:latin typeface="Times New Roman"/>
              </a:rPr>
              <a:t>La tentative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est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autorisée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mais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journalisée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comme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violation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potentielle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, sans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blocage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réel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000" b="1" i="0" dirty="0">
                <a:solidFill>
                  <a:srgbClr val="222222"/>
                </a:solidFill>
                <a:latin typeface="Times New Roman"/>
              </a:rPr>
              <a:t>A2 — Application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cible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non protégée par un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profil</a:t>
            </a:r>
            <a:r>
              <a:rPr sz="1000" b="1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1" i="0" dirty="0" err="1">
                <a:solidFill>
                  <a:srgbClr val="222222"/>
                </a:solidFill>
                <a:latin typeface="Times New Roman"/>
              </a:rPr>
              <a:t>actif</a:t>
            </a:r>
            <a:endParaRPr sz="1000" b="1" i="0" dirty="0">
              <a:solidFill>
                <a:srgbClr val="222222"/>
              </a:solidFill>
              <a:latin typeface="Times New Roman"/>
            </a:endParaRPr>
          </a:p>
          <a:p>
            <a:pPr algn="l">
              <a:spcAft>
                <a:spcPts val="300"/>
              </a:spcAft>
            </a:pPr>
            <a:r>
              <a:rPr sz="1000" b="0" i="1" dirty="0">
                <a:solidFill>
                  <a:srgbClr val="222222"/>
                </a:solidFill>
                <a:latin typeface="Times New Roman"/>
              </a:rPr>
              <a:t>Le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système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avertit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l'administrateur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222222"/>
                </a:solidFill>
                <a:latin typeface="Times New Roman"/>
              </a:rPr>
              <a:t>avant</a:t>
            </a:r>
            <a:r>
              <a:rPr sz="1000" b="0" i="1" dirty="0">
                <a:solidFill>
                  <a:srgbClr val="222222"/>
                </a:solidFill>
                <a:latin typeface="Times New Roman"/>
              </a:rPr>
              <a:t> de lancer la simulation.</a:t>
            </a:r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A602D87-B84B-F08C-87D5-3587FD6B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7" y="2953433"/>
            <a:ext cx="7531061" cy="19965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DDD22CC-AD4A-2D18-B3D0-0B5BC97CBD57}"/>
              </a:ext>
            </a:extLst>
          </p:cNvPr>
          <p:cNvSpPr txBox="1"/>
          <p:nvPr/>
        </p:nvSpPr>
        <p:spPr>
          <a:xfrm>
            <a:off x="2446019" y="0"/>
            <a:ext cx="460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n°12 : Consulter les journaux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0D5EE20-1EF7-7434-1E4F-E42E363A3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000"/>
            <a:ext cx="4872251" cy="176334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A37FF28-2A1F-5D98-6AB4-70361DD5F85C}"/>
              </a:ext>
            </a:extLst>
          </p:cNvPr>
          <p:cNvSpPr txBox="1"/>
          <p:nvPr/>
        </p:nvSpPr>
        <p:spPr>
          <a:xfrm>
            <a:off x="4920018" y="277000"/>
            <a:ext cx="416256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accède à la section « Journaux ».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la liste des événements récents (violations, refus, alertes) avec les informations essentielles (date, profil, serveur, sévérité).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applique des filtres (période, profil, serveur, niveau de sévérité).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actualise l'affichage selon les filtres sélectionnés.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un événement pour en consulter le détail.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les informations détaillées de l'événement sélectionné.</a:t>
            </a:r>
          </a:p>
          <a:p>
            <a:pPr lvl="0"/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Aucun résultat pour les critères sélectionnés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ne trouve aucun événement correspondant aux filtres appliqués.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« Aucun résultat trouvé ».</a:t>
            </a: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Volume important de journaux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un grand nombre de résultats.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applique une pagination et affiche les résultats par lots.</a:t>
            </a:r>
          </a:p>
          <a:p>
            <a:r>
              <a:rPr lang="fr-CM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Source de journaux indisponible</a:t>
            </a:r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ne parvient pas à récupérer les journaux depuis un serveur cible.</a:t>
            </a:r>
          </a:p>
          <a:p>
            <a:pPr lvl="0"/>
            <a:r>
              <a:rPr lang="fr-CM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de connexion pour ce serveur, tout en affichant les journaux disponibles des autres sources.</a:t>
            </a:r>
          </a:p>
          <a:p>
            <a:endParaRPr lang="fr-CM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1343F5-4EFD-770C-69FE-8637E185B7CE}"/>
              </a:ext>
            </a:extLst>
          </p:cNvPr>
          <p:cNvSpPr txBox="1"/>
          <p:nvPr/>
        </p:nvSpPr>
        <p:spPr>
          <a:xfrm>
            <a:off x="100481" y="2374710"/>
            <a:ext cx="46470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journaux sont consultés sans qu'aucune donnée ne soit modifiée.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consultation peut être elle-même journalisée à des fins de traçabilité (audit trail).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journaux (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syslog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/audit) sont accessibles depuis l'application, localement ou via les serveurs cibles.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90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DC856D4F-10E3-2A07-72FC-8487BE36B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498"/>
            <a:ext cx="4872251" cy="176334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3968E84-557C-5419-E72F-9332B5100348}"/>
              </a:ext>
            </a:extLst>
          </p:cNvPr>
          <p:cNvSpPr txBox="1"/>
          <p:nvPr/>
        </p:nvSpPr>
        <p:spPr>
          <a:xfrm>
            <a:off x="1562669" y="-1"/>
            <a:ext cx="4960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n°13 : Consulter les statistiques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859B7E-3F84-35D3-2CC7-2E6EE5AF3963}"/>
              </a:ext>
            </a:extLst>
          </p:cNvPr>
          <p:cNvSpPr txBox="1"/>
          <p:nvPr/>
        </p:nvSpPr>
        <p:spPr>
          <a:xfrm>
            <a:off x="4872251" y="138499"/>
            <a:ext cx="42171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accède à la section « Statistiques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calcule et affiche les indicateurs clés (nombre de profils actifs, nombre de violations par période, répartition Enforce/</a:t>
            </a:r>
            <a:r>
              <a:rPr lang="fr-CM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</a:t>
            </a:r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applications les plus concernées).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une période ou applique des filtres additionnels.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régénère les graphiques et indicateurs selon les critères choisis.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consulte les résultats affichés sous forme de graphiques et de tableaux.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Données insuffisantes pour la période choisie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ne dispose pas de suffisamment de données pour la période sélectionnée.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informatif et propose d'élargir la période.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Service de calcul indisponible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rencontre une erreur lors du calcul des statistiques.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et invite à réessayer plus tard.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Période invalide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saisit une période incohérente (date de fin antérieure à la date de début).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de validation et empêche la génération des statistiques.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BB3B1D-F134-3755-37EA-BCBC6125F480}"/>
              </a:ext>
            </a:extLst>
          </p:cNvPr>
          <p:cNvSpPr txBox="1"/>
          <p:nvPr/>
        </p:nvSpPr>
        <p:spPr>
          <a:xfrm>
            <a:off x="0" y="2449773"/>
            <a:ext cx="48108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statistiques sont affichées à l'écran sans altération des données sources.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consultation est journalisée à des fins de traçabilité.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données suffisantes existent pour permettre le calcul des statistiques (profils, journaux, historique).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425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F06D1D89-5BB3-9ED9-490B-F1018E75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498"/>
            <a:ext cx="4872251" cy="176334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138655-BDF7-67CC-04AC-4795711CAE0E}"/>
              </a:ext>
            </a:extLst>
          </p:cNvPr>
          <p:cNvSpPr txBox="1"/>
          <p:nvPr/>
        </p:nvSpPr>
        <p:spPr>
          <a:xfrm>
            <a:off x="1044053" y="10868"/>
            <a:ext cx="4742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d'utilisation n°14 : Télécharger les rapports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D62F29-21D1-BDB8-FD5A-0C16227655E0}"/>
              </a:ext>
            </a:extLst>
          </p:cNvPr>
          <p:cNvSpPr txBox="1"/>
          <p:nvPr/>
        </p:nvSpPr>
        <p:spPr>
          <a:xfrm>
            <a:off x="4872251" y="0"/>
            <a:ext cx="42171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 nominal (flux principal)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accède à la section « Rapports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sélectionne le type de rapport souhaité (journaux, statistiques, état des profils) et le format d'export (PDF, CSV, Excel).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définit la période concernée par le rapport.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clique sur « Générer / Télécharger ».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compile les données et génère le fichier dans le format demandé.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propose le téléchargement du fichier généré.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enregistre le fichier sur son poste de travail.</a:t>
            </a:r>
          </a:p>
          <a:p>
            <a:pPr lvl="0"/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alternatifs (exceptions)</a:t>
            </a: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 — Échec de la génération (données manquantes)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l'absence de données suffisantes pour la période demandée.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et n'émet pas de fichier.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 — Format non supporté ou erreur technique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rencontre une erreur lors de la conversion dans le format demandé.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affiche un message d'erreur et propose un format alternatif.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 — Rapport volumineux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détecte que le rapport dépasse une taille ou une durée de génération importante.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CM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bascule en génération asynchrone et notifie l'administrateur lorsque le fichier est prêt.</a:t>
            </a:r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05B272-DC27-9023-B49D-A213AA19EAAC}"/>
              </a:ext>
            </a:extLst>
          </p:cNvPr>
          <p:cNvSpPr txBox="1"/>
          <p:nvPr/>
        </p:nvSpPr>
        <p:spPr>
          <a:xfrm>
            <a:off x="0" y="2444969"/>
            <a:ext cx="47016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 (résultat)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rapport est généré avec succès et téléchargé sur le poste de l'administrateur.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L'opération de génération/téléchargement est journalisée à des fins de traçabilité.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M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Préconditions (prérequis)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L'administrateur est authentifié et dispose des droits de génération de rapports.</a:t>
            </a:r>
          </a:p>
          <a:p>
            <a:pPr lvl="0"/>
            <a:r>
              <a:rPr lang="fr-CM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nécessaires à la génération du rapport sont disponibles.</a:t>
            </a:r>
          </a:p>
          <a:p>
            <a:endParaRPr lang="fr-CM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94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· Diagramme UML – Use Case Global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5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63A7BA3C-FF97-1664-7815-50426D84B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"/>
            <a:ext cx="9143999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3580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118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07· Conclusion &amp; Synthèse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5449" y="795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Synthèse des livrables attendus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01981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Cahier des charges</a:t>
            </a:r>
            <a:endParaRPr lang="en-US" sz="9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134139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Dossier </a:t>
            </a:r>
            <a:r>
              <a:rPr lang="en-US" sz="950" dirty="0" err="1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d'analyse</a:t>
            </a: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65225" y="9911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conception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46402" y="98390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réalisation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65225" y="1317147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déploiement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46402" y="1362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Rapport complet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755237"/>
            <a:ext cx="420624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384048" y="1709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Avantages du projet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1214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Centralisation de la gestion AppArmor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542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web accessible &amp; intuitive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9626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Réponse proactive aux incidents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3832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Comparaison avant/après attaque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80390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open source, coût nul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22452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extensible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0308" y="1755237"/>
            <a:ext cx="420624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4864608" y="1709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Risques identifiés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1214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Accès root requis pour AppArmor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2542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Dépendance à l'environnement Ubuntu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29626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Complexité d'intégration scripts/web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33832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Sécurisation de l'interface web elle-même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80390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0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F590937-55E1-81D1-5DDC-BFF26DB145A3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0D7E8A">
              <a:alpha val="20000"/>
            </a:srgbClr>
          </a:solidFill>
          <a:ln w="12700">
            <a:solidFill>
              <a:srgbClr val="0D7E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Merci pour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votre attention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D7E8A"/>
          </a:solidFill>
          <a:ln/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4624</Words>
  <Application>Microsoft Office PowerPoint</Application>
  <PresentationFormat>Affichage à l'écran (16:9)</PresentationFormat>
  <Paragraphs>545</Paragraphs>
  <Slides>25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d'Analyse - Gestionnaire Web AppArmor</dc:title>
  <dc:subject>PptxGenJS Presentation</dc:subject>
  <dc:creator>Groupe 6 - Institut Saint Jean</dc:creator>
  <cp:lastModifiedBy>yannick simo</cp:lastModifiedBy>
  <cp:revision>15</cp:revision>
  <dcterms:created xsi:type="dcterms:W3CDTF">2026-05-13T20:12:27Z</dcterms:created>
  <dcterms:modified xsi:type="dcterms:W3CDTF">2026-07-10T14:26:42Z</dcterms:modified>
</cp:coreProperties>
</file>