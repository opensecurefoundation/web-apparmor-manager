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9" r:id="rId4"/>
    <p:sldId id="261" r:id="rId5"/>
    <p:sldId id="262" r:id="rId6"/>
    <p:sldId id="284" r:id="rId7"/>
    <p:sldId id="282" r:id="rId8"/>
    <p:sldId id="283" r:id="rId9"/>
    <p:sldId id="266" r:id="rId10"/>
    <p:sldId id="269" r:id="rId11"/>
    <p:sldId id="271" r:id="rId12"/>
    <p:sldId id="273" r:id="rId13"/>
    <p:sldId id="275" r:id="rId14"/>
    <p:sldId id="277" r:id="rId15"/>
    <p:sldId id="280" r:id="rId16"/>
    <p:sldId id="28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5" autoAdjust="0"/>
    <p:restoredTop sz="94610"/>
  </p:normalViewPr>
  <p:slideViewPr>
    <p:cSldViewPr snapToGrid="0" snapToObjects="1">
      <p:cViewPr>
        <p:scale>
          <a:sx n="75" d="100"/>
          <a:sy n="75" d="100"/>
        </p:scale>
        <p:origin x="1194" y="5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006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M"/>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6" name="Shape 3"/>
          <p:cNvSpPr/>
          <p:nvPr/>
        </p:nvSpPr>
        <p:spPr>
          <a:xfrm>
            <a:off x="4509370" y="292577"/>
            <a:ext cx="4099769" cy="822960"/>
          </a:xfrm>
          <a:prstGeom prst="rect">
            <a:avLst/>
          </a:prstGeom>
          <a:solidFill>
            <a:schemeClr val="accent6">
              <a:lumMod val="75000"/>
            </a:schemeClr>
          </a:solidFill>
          <a:ln w="28575">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endParaRPr lang="fr-CM"/>
          </a:p>
        </p:txBody>
      </p:sp>
      <p:sp>
        <p:nvSpPr>
          <p:cNvPr id="7" name="Text 4"/>
          <p:cNvSpPr/>
          <p:nvPr/>
        </p:nvSpPr>
        <p:spPr>
          <a:xfrm>
            <a:off x="4556342" y="433244"/>
            <a:ext cx="4005824" cy="651495"/>
          </a:xfrm>
          <a:prstGeom prst="rect">
            <a:avLst/>
          </a:prstGeom>
          <a:noFill/>
          <a:ln/>
        </p:spPr>
        <p:txBody>
          <a:bodyPr wrap="square" lIns="0" tIns="0" rIns="0" bIns="0" rtlCol="0" anchor="ctr"/>
          <a:lstStyle/>
          <a:p>
            <a:pPr marL="0" indent="0" algn="ctr">
              <a:buNone/>
            </a:pPr>
            <a:r>
              <a:rPr lang="en-US" sz="1400" b="1" dirty="0">
                <a:solidFill>
                  <a:srgbClr val="1B2A4A"/>
                </a:solidFill>
                <a:latin typeface="Times New Roman" pitchFamily="34" charset="0"/>
                <a:ea typeface="Times New Roman" pitchFamily="34" charset="-122"/>
                <a:cs typeface="Times New Roman" pitchFamily="34" charset="-120"/>
              </a:rPr>
              <a:t>SÉCURITÉ DES SYSTÈMES D'EXPLOITATION</a:t>
            </a:r>
          </a:p>
          <a:p>
            <a:pPr algn="ctr"/>
            <a:r>
              <a:rPr lang="en-US" sz="1400" b="1" dirty="0">
                <a:latin typeface="Times New Roman" pitchFamily="34" charset="0"/>
                <a:ea typeface="Times New Roman" pitchFamily="34" charset="-122"/>
                <a:cs typeface="Times New Roman" pitchFamily="34" charset="-120"/>
              </a:rPr>
              <a:t>SYSTÈMES D'EXPLOITATION AVANCÉS</a:t>
            </a:r>
            <a:endParaRPr lang="en-US" sz="1400" b="1" dirty="0"/>
          </a:p>
          <a:p>
            <a:pPr marL="0" indent="0" algn="ctr">
              <a:buNone/>
            </a:pPr>
            <a:endParaRPr lang="en-US" sz="1200" dirty="0"/>
          </a:p>
        </p:txBody>
      </p:sp>
      <p:sp>
        <p:nvSpPr>
          <p:cNvPr id="8" name="Shape 5"/>
          <p:cNvSpPr/>
          <p:nvPr/>
        </p:nvSpPr>
        <p:spPr>
          <a:xfrm>
            <a:off x="2632971" y="1379649"/>
            <a:ext cx="2617939" cy="548640"/>
          </a:xfrm>
          <a:prstGeom prst="rect">
            <a:avLst/>
          </a:prstGeom>
          <a:solidFill>
            <a:srgbClr val="FF0000"/>
          </a:solidFill>
          <a:ln w="1905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endParaRPr lang="fr-CM"/>
          </a:p>
        </p:txBody>
      </p:sp>
      <p:sp>
        <p:nvSpPr>
          <p:cNvPr id="11" name="Text 8"/>
          <p:cNvSpPr/>
          <p:nvPr/>
        </p:nvSpPr>
        <p:spPr>
          <a:xfrm>
            <a:off x="497283" y="2048720"/>
            <a:ext cx="5669280" cy="822960"/>
          </a:xfrm>
          <a:prstGeom prst="rect">
            <a:avLst/>
          </a:prstGeom>
          <a:noFill/>
          <a:ln/>
        </p:spPr>
        <p:txBody>
          <a:bodyPr wrap="square" rtlCol="0" anchor="ctr"/>
          <a:lstStyle/>
          <a:p>
            <a:pPr marL="0" indent="0">
              <a:buNone/>
            </a:pPr>
            <a:r>
              <a:rPr lang="en-US" sz="1700" i="1" dirty="0">
                <a:latin typeface="Times New Roman" pitchFamily="34" charset="0"/>
                <a:ea typeface="Times New Roman" pitchFamily="34" charset="-122"/>
                <a:cs typeface="Times New Roman" pitchFamily="34" charset="-120"/>
              </a:rPr>
              <a:t>Gestionnaire Web Sécurisé</a:t>
            </a:r>
            <a:endParaRPr lang="en-US" sz="1700" dirty="0"/>
          </a:p>
          <a:p>
            <a:pPr marL="0" indent="0">
              <a:buNone/>
            </a:pPr>
            <a:r>
              <a:rPr lang="en-US" sz="1700" i="1" dirty="0">
                <a:latin typeface="Times New Roman" pitchFamily="34" charset="0"/>
                <a:ea typeface="Times New Roman" pitchFamily="34" charset="-122"/>
                <a:cs typeface="Times New Roman" pitchFamily="34" charset="-120"/>
              </a:rPr>
              <a:t>pour l'Administration et l’audit des Profils AppArmor</a:t>
            </a:r>
            <a:endParaRPr lang="en-US" sz="1700" dirty="0"/>
          </a:p>
        </p:txBody>
      </p:sp>
      <p:sp>
        <p:nvSpPr>
          <p:cNvPr id="12" name="Shape 9"/>
          <p:cNvSpPr/>
          <p:nvPr/>
        </p:nvSpPr>
        <p:spPr>
          <a:xfrm>
            <a:off x="497283" y="3364626"/>
            <a:ext cx="5029200" cy="73769"/>
          </a:xfrm>
          <a:prstGeom prst="rect">
            <a:avLst/>
          </a:prstGeom>
          <a:solidFill>
            <a:schemeClr val="accent5">
              <a:lumMod val="50000"/>
            </a:schemeClr>
          </a:solidFill>
          <a:ln w="28575">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endParaRPr lang="fr-CM"/>
          </a:p>
        </p:txBody>
      </p:sp>
      <p:sp>
        <p:nvSpPr>
          <p:cNvPr id="15" name="Text 12"/>
          <p:cNvSpPr/>
          <p:nvPr/>
        </p:nvSpPr>
        <p:spPr>
          <a:xfrm>
            <a:off x="472231" y="2746708"/>
            <a:ext cx="5669280" cy="320040"/>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Détection &amp; Mitigation des Comportements Malveillants</a:t>
            </a:r>
            <a:endParaRPr lang="en-US" sz="1100" dirty="0"/>
          </a:p>
        </p:txBody>
      </p:sp>
      <p:sp>
        <p:nvSpPr>
          <p:cNvPr id="16" name="Shape 13"/>
          <p:cNvSpPr/>
          <p:nvPr/>
        </p:nvSpPr>
        <p:spPr>
          <a:xfrm>
            <a:off x="0" y="4480560"/>
            <a:ext cx="9144000" cy="662940"/>
          </a:xfrm>
          <a:prstGeom prst="rect">
            <a:avLst/>
          </a:prstGeom>
          <a:solidFill>
            <a:schemeClr val="accent4">
              <a:lumMod val="75000"/>
            </a:schemeClr>
          </a:solidFill>
          <a:ln w="381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endParaRPr lang="fr-CM"/>
          </a:p>
        </p:txBody>
      </p:sp>
      <p:sp>
        <p:nvSpPr>
          <p:cNvPr id="17" name="Text 14"/>
          <p:cNvSpPr/>
          <p:nvPr/>
        </p:nvSpPr>
        <p:spPr>
          <a:xfrm>
            <a:off x="274320" y="4498848"/>
            <a:ext cx="8595360" cy="228600"/>
          </a:xfrm>
          <a:prstGeom prst="rect">
            <a:avLst/>
          </a:prstGeom>
          <a:noFill/>
          <a:ln/>
        </p:spPr>
        <p:txBody>
          <a:bodyPr wrap="square" rtlCol="0" anchor="ctr"/>
          <a:lstStyle/>
          <a:p>
            <a:pPr marL="0" indent="0" algn="ctr">
              <a:buNone/>
            </a:pPr>
            <a:r>
              <a:rPr lang="en-US" sz="950" dirty="0">
                <a:solidFill>
                  <a:schemeClr val="bg1"/>
                </a:solidFill>
                <a:latin typeface="Times New Roman" pitchFamily="34" charset="0"/>
                <a:ea typeface="Times New Roman" pitchFamily="34" charset="-122"/>
                <a:cs typeface="Times New Roman" pitchFamily="34" charset="-120"/>
              </a:rPr>
              <a:t>Groupe 6    Sécurité des Systèmes d'Information</a:t>
            </a:r>
            <a:endParaRPr lang="en-US" sz="950" dirty="0">
              <a:solidFill>
                <a:schemeClr val="bg1"/>
              </a:solidFill>
            </a:endParaRPr>
          </a:p>
        </p:txBody>
      </p:sp>
      <p:sp>
        <p:nvSpPr>
          <p:cNvPr id="18" name="Text 15"/>
          <p:cNvSpPr/>
          <p:nvPr/>
        </p:nvSpPr>
        <p:spPr>
          <a:xfrm>
            <a:off x="274320" y="4727448"/>
            <a:ext cx="8595360" cy="228600"/>
          </a:xfrm>
          <a:prstGeom prst="rect">
            <a:avLst/>
          </a:prstGeom>
          <a:noFill/>
          <a:ln/>
        </p:spPr>
        <p:txBody>
          <a:bodyPr wrap="square" rtlCol="0" anchor="ctr"/>
          <a:lstStyle/>
          <a:p>
            <a:pPr marL="0" indent="0" algn="ctr">
              <a:buNone/>
            </a:pPr>
            <a:r>
              <a:rPr lang="en-US" sz="850" dirty="0">
                <a:solidFill>
                  <a:schemeClr val="bg1"/>
                </a:solidFill>
                <a:latin typeface="Times New Roman" pitchFamily="34" charset="0"/>
                <a:ea typeface="Times New Roman" pitchFamily="34" charset="-122"/>
                <a:cs typeface="Times New Roman" pitchFamily="34" charset="-120"/>
              </a:rPr>
              <a:t>Année 2025 – 2026</a:t>
            </a:r>
            <a:endParaRPr lang="en-US" sz="850" dirty="0">
              <a:solidFill>
                <a:schemeClr val="bg1"/>
              </a:solidFill>
            </a:endParaRPr>
          </a:p>
        </p:txBody>
      </p:sp>
      <p:sp>
        <p:nvSpPr>
          <p:cNvPr id="21" name="ZoneTexte 20">
            <a:extLst>
              <a:ext uri="{FF2B5EF4-FFF2-40B4-BE49-F238E27FC236}">
                <a16:creationId xmlns:a16="http://schemas.microsoft.com/office/drawing/2014/main" id="{C1D29453-9737-72F9-92AE-33D91B57115E}"/>
              </a:ext>
            </a:extLst>
          </p:cNvPr>
          <p:cNvSpPr txBox="1"/>
          <p:nvPr/>
        </p:nvSpPr>
        <p:spPr>
          <a:xfrm>
            <a:off x="2706874" y="1500080"/>
            <a:ext cx="2565330" cy="307777"/>
          </a:xfrm>
          <a:prstGeom prst="rect">
            <a:avLst/>
          </a:prstGeom>
          <a:noFill/>
        </p:spPr>
        <p:txBody>
          <a:bodyPr wrap="square" rtlCol="0">
            <a:spAutoFit/>
          </a:bodyPr>
          <a:lstStyle/>
          <a:p>
            <a:r>
              <a:rPr lang="en-US" sz="1400" b="1" dirty="0">
                <a:solidFill>
                  <a:schemeClr val="bg1"/>
                </a:solidFill>
                <a:latin typeface="Times New Roman" pitchFamily="34" charset="0"/>
                <a:cs typeface="Times New Roman" pitchFamily="34" charset="-120"/>
              </a:rPr>
              <a:t>DOSSIER DE CONCEPTION </a:t>
            </a:r>
            <a:endParaRPr lang="fr-CM" sz="1400" dirty="0">
              <a:solidFill>
                <a:schemeClr val="bg1"/>
              </a:solidFill>
            </a:endParaRPr>
          </a:p>
        </p:txBody>
      </p:sp>
      <p:sp>
        <p:nvSpPr>
          <p:cNvPr id="22" name="ZoneTexte 21">
            <a:extLst>
              <a:ext uri="{FF2B5EF4-FFF2-40B4-BE49-F238E27FC236}">
                <a16:creationId xmlns:a16="http://schemas.microsoft.com/office/drawing/2014/main" id="{E2ED6FA0-EC7C-8684-F1D0-9360C5AF130B}"/>
              </a:ext>
            </a:extLst>
          </p:cNvPr>
          <p:cNvSpPr txBox="1"/>
          <p:nvPr/>
        </p:nvSpPr>
        <p:spPr>
          <a:xfrm>
            <a:off x="5859674" y="2791397"/>
            <a:ext cx="3010005" cy="1200329"/>
          </a:xfrm>
          <a:prstGeom prst="rect">
            <a:avLst/>
          </a:prstGeom>
          <a:noFill/>
        </p:spPr>
        <p:txBody>
          <a:bodyPr wrap="square" rtlCol="0">
            <a:spAutoFit/>
          </a:bodyPr>
          <a:lstStyle/>
          <a:p>
            <a:r>
              <a:rPr lang="en-US" sz="1200" dirty="0">
                <a:solidFill>
                  <a:srgbClr val="8899AA"/>
                </a:solidFill>
                <a:latin typeface="Times New Roman" pitchFamily="34" charset="0"/>
                <a:ea typeface="Times New Roman" pitchFamily="34" charset="-122"/>
                <a:cs typeface="Times New Roman" pitchFamily="34" charset="-120"/>
              </a:rPr>
              <a:t>.  </a:t>
            </a:r>
            <a:r>
              <a:rPr lang="en-US" sz="1200" dirty="0">
                <a:latin typeface="Times New Roman" pitchFamily="34" charset="0"/>
                <a:ea typeface="Times New Roman" pitchFamily="34" charset="-122"/>
                <a:cs typeface="Times New Roman" pitchFamily="34" charset="-120"/>
              </a:rPr>
              <a:t>NANA NDIEUPE Emilie  </a:t>
            </a:r>
          </a:p>
          <a:p>
            <a:r>
              <a:rPr lang="en-US" sz="1200" dirty="0">
                <a:latin typeface="Times New Roman" pitchFamily="34" charset="0"/>
                <a:ea typeface="Times New Roman" pitchFamily="34" charset="-122"/>
                <a:cs typeface="Times New Roman" pitchFamily="34" charset="-120"/>
              </a:rPr>
              <a:t>·  NSOE MARIE  </a:t>
            </a:r>
          </a:p>
          <a:p>
            <a:r>
              <a:rPr lang="en-US" sz="1200" dirty="0">
                <a:latin typeface="Times New Roman" pitchFamily="34" charset="0"/>
                <a:ea typeface="Times New Roman" pitchFamily="34" charset="-122"/>
                <a:cs typeface="Times New Roman" pitchFamily="34" charset="-120"/>
              </a:rPr>
              <a:t>·  SIMO YANNICK </a:t>
            </a:r>
          </a:p>
          <a:p>
            <a:endParaRPr lang="en-US" sz="1200" dirty="0">
              <a:latin typeface="Times New Roman" pitchFamily="34" charset="0"/>
              <a:ea typeface="Times New Roman" pitchFamily="34" charset="-122"/>
              <a:cs typeface="Times New Roman" pitchFamily="34" charset="-120"/>
            </a:endParaRPr>
          </a:p>
          <a:p>
            <a:endParaRPr lang="en-US" sz="1200" dirty="0">
              <a:latin typeface="Times New Roman" pitchFamily="34" charset="0"/>
              <a:ea typeface="Times New Roman" pitchFamily="34" charset="-122"/>
              <a:cs typeface="Times New Roman" pitchFamily="34" charset="-120"/>
            </a:endParaRPr>
          </a:p>
          <a:p>
            <a:r>
              <a:rPr lang="en-US" sz="1200" dirty="0">
                <a:latin typeface="Times New Roman" pitchFamily="34" charset="0"/>
                <a:ea typeface="Times New Roman" pitchFamily="34" charset="-122"/>
                <a:cs typeface="Times New Roman" pitchFamily="34" charset="-120"/>
              </a:rPr>
              <a:t>   </a:t>
            </a:r>
            <a:r>
              <a:rPr lang="en-US" sz="1200" dirty="0" err="1">
                <a:latin typeface="Times New Roman" pitchFamily="34" charset="0"/>
                <a:ea typeface="Times New Roman" pitchFamily="34" charset="-122"/>
                <a:cs typeface="Times New Roman" pitchFamily="34" charset="-120"/>
              </a:rPr>
              <a:t>Supervisé</a:t>
            </a:r>
            <a:r>
              <a:rPr lang="en-US" sz="1200" dirty="0">
                <a:latin typeface="Times New Roman" pitchFamily="34" charset="0"/>
                <a:ea typeface="Times New Roman" pitchFamily="34" charset="-122"/>
                <a:cs typeface="Times New Roman" pitchFamily="34" charset="-120"/>
              </a:rPr>
              <a:t> par M. NGUIMBUS Emmanuel  </a:t>
            </a:r>
            <a:r>
              <a:rPr lang="en-US" sz="1200" dirty="0">
                <a:solidFill>
                  <a:srgbClr val="8899AA"/>
                </a:solidFill>
                <a:latin typeface="Times New Roman" pitchFamily="34" charset="0"/>
                <a:ea typeface="Times New Roman" pitchFamily="34" charset="-122"/>
                <a:cs typeface="Times New Roman" pitchFamily="34" charset="-120"/>
              </a:rPr>
              <a:t>|</a:t>
            </a:r>
            <a:endParaRPr lang="fr-CM" sz="1200" dirty="0"/>
          </a:p>
        </p:txBody>
      </p:sp>
      <p:pic>
        <p:nvPicPr>
          <p:cNvPr id="24" name="Image 23" descr="Une image contenant croquis, oiseau, dessin, Dessin au trait&#10;&#10;Le contenu généré par l’IA peut être incorrect.">
            <a:extLst>
              <a:ext uri="{FF2B5EF4-FFF2-40B4-BE49-F238E27FC236}">
                <a16:creationId xmlns:a16="http://schemas.microsoft.com/office/drawing/2014/main" id="{D2D55882-E682-FABF-B1C8-D6E05B69327C}"/>
              </a:ext>
            </a:extLst>
          </p:cNvPr>
          <p:cNvPicPr>
            <a:picLocks noChangeAspect="1"/>
          </p:cNvPicPr>
          <p:nvPr/>
        </p:nvPicPr>
        <p:blipFill>
          <a:blip r:embed="rId3"/>
          <a:stretch>
            <a:fillRect/>
          </a:stretch>
        </p:blipFill>
        <p:spPr>
          <a:xfrm>
            <a:off x="703480" y="254272"/>
            <a:ext cx="1350788" cy="11805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000" b="1" dirty="0">
                <a:latin typeface="Times New Roman" pitchFamily="34" charset="0"/>
                <a:ea typeface="Times New Roman" pitchFamily="34" charset="-122"/>
                <a:cs typeface="Times New Roman" pitchFamily="34" charset="-120"/>
              </a:rPr>
              <a:t>SOMMAIRE</a:t>
            </a:r>
            <a:endParaRPr lang="en-US" sz="3000" dirty="0"/>
          </a:p>
        </p:txBody>
      </p:sp>
      <p:sp>
        <p:nvSpPr>
          <p:cNvPr id="6" name="Shape 4"/>
          <p:cNvSpPr/>
          <p:nvPr/>
        </p:nvSpPr>
        <p:spPr>
          <a:xfrm>
            <a:off x="365760" y="1261872"/>
            <a:ext cx="502920" cy="411480"/>
          </a:xfrm>
          <a:prstGeom prst="rect">
            <a:avLst/>
          </a:prstGeom>
          <a:solidFill>
            <a:schemeClr val="accent6">
              <a:lumMod val="75000"/>
            </a:schemeClr>
          </a:solidFill>
          <a:ln w="12700">
            <a:solidFill>
              <a:schemeClr val="accent6">
                <a:lumMod val="75000"/>
              </a:schemeClr>
            </a:solidFill>
            <a:prstDash val="solid"/>
          </a:ln>
        </p:spPr>
        <p:txBody>
          <a:bodyPr/>
          <a:lstStyle/>
          <a:p>
            <a:endParaRPr lang="fr-CM"/>
          </a:p>
        </p:txBody>
      </p:sp>
      <p:sp>
        <p:nvSpPr>
          <p:cNvPr id="7" name="Text 5"/>
          <p:cNvSpPr/>
          <p:nvPr/>
        </p:nvSpPr>
        <p:spPr>
          <a:xfrm>
            <a:off x="365760" y="1261872"/>
            <a:ext cx="50292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Times New Roman" pitchFamily="34" charset="0"/>
                <a:ea typeface="Times New Roman" pitchFamily="34" charset="-122"/>
                <a:cs typeface="Times New Roman" pitchFamily="34" charset="-120"/>
              </a:rPr>
              <a:t>01</a:t>
            </a:r>
            <a:endParaRPr lang="en-US" sz="1300" dirty="0"/>
          </a:p>
        </p:txBody>
      </p:sp>
      <p:sp>
        <p:nvSpPr>
          <p:cNvPr id="8" name="Text 6"/>
          <p:cNvSpPr/>
          <p:nvPr/>
        </p:nvSpPr>
        <p:spPr>
          <a:xfrm>
            <a:off x="960120" y="1280160"/>
            <a:ext cx="338328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Contexte &amp; Objectif du Projet</a:t>
            </a:r>
            <a:endParaRPr lang="en-US" sz="1100" dirty="0"/>
          </a:p>
        </p:txBody>
      </p:sp>
      <p:sp>
        <p:nvSpPr>
          <p:cNvPr id="9" name="Shape 7"/>
          <p:cNvSpPr/>
          <p:nvPr/>
        </p:nvSpPr>
        <p:spPr>
          <a:xfrm>
            <a:off x="365760" y="1929384"/>
            <a:ext cx="502920" cy="411480"/>
          </a:xfrm>
          <a:prstGeom prst="rect">
            <a:avLst/>
          </a:prstGeom>
          <a:solidFill>
            <a:schemeClr val="accent6">
              <a:lumMod val="75000"/>
            </a:schemeClr>
          </a:solidFill>
          <a:ln w="12700">
            <a:solidFill>
              <a:schemeClr val="accent6">
                <a:lumMod val="75000"/>
              </a:schemeClr>
            </a:solidFill>
            <a:prstDash val="solid"/>
          </a:ln>
        </p:spPr>
        <p:txBody>
          <a:bodyPr/>
          <a:lstStyle/>
          <a:p>
            <a:endParaRPr lang="fr-CM"/>
          </a:p>
        </p:txBody>
      </p:sp>
      <p:sp>
        <p:nvSpPr>
          <p:cNvPr id="10" name="Text 8"/>
          <p:cNvSpPr/>
          <p:nvPr/>
        </p:nvSpPr>
        <p:spPr>
          <a:xfrm>
            <a:off x="365760" y="1929384"/>
            <a:ext cx="50292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Times New Roman" pitchFamily="34" charset="0"/>
                <a:ea typeface="Times New Roman" pitchFamily="34" charset="-122"/>
                <a:cs typeface="Times New Roman" pitchFamily="34" charset="-120"/>
              </a:rPr>
              <a:t>02</a:t>
            </a:r>
            <a:endParaRPr lang="en-US" sz="1300" dirty="0"/>
          </a:p>
        </p:txBody>
      </p:sp>
      <p:sp>
        <p:nvSpPr>
          <p:cNvPr id="11" name="Text 9"/>
          <p:cNvSpPr/>
          <p:nvPr/>
        </p:nvSpPr>
        <p:spPr>
          <a:xfrm>
            <a:off x="960120" y="1947672"/>
            <a:ext cx="338328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Démarche de Conception &amp; Architecture Globale</a:t>
            </a:r>
            <a:endParaRPr lang="en-US" sz="1100" dirty="0"/>
          </a:p>
        </p:txBody>
      </p:sp>
      <p:sp>
        <p:nvSpPr>
          <p:cNvPr id="12" name="Shape 10"/>
          <p:cNvSpPr/>
          <p:nvPr/>
        </p:nvSpPr>
        <p:spPr>
          <a:xfrm>
            <a:off x="365760" y="2596896"/>
            <a:ext cx="502920" cy="411480"/>
          </a:xfrm>
          <a:prstGeom prst="rect">
            <a:avLst/>
          </a:prstGeom>
          <a:solidFill>
            <a:srgbClr val="FF0000"/>
          </a:solidFill>
          <a:ln w="12700">
            <a:solidFill>
              <a:srgbClr val="FF0000"/>
            </a:solidFill>
            <a:prstDash val="solid"/>
          </a:ln>
        </p:spPr>
        <p:txBody>
          <a:bodyPr/>
          <a:lstStyle/>
          <a:p>
            <a:endParaRPr lang="fr-CM"/>
          </a:p>
        </p:txBody>
      </p:sp>
      <p:sp>
        <p:nvSpPr>
          <p:cNvPr id="13" name="Text 11"/>
          <p:cNvSpPr/>
          <p:nvPr/>
        </p:nvSpPr>
        <p:spPr>
          <a:xfrm>
            <a:off x="365760" y="2596896"/>
            <a:ext cx="50292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Times New Roman" pitchFamily="34" charset="0"/>
                <a:ea typeface="Times New Roman" pitchFamily="34" charset="-122"/>
                <a:cs typeface="Times New Roman" pitchFamily="34" charset="-120"/>
              </a:rPr>
              <a:t>03</a:t>
            </a:r>
            <a:endParaRPr lang="en-US" sz="1300" dirty="0"/>
          </a:p>
        </p:txBody>
      </p:sp>
      <p:sp>
        <p:nvSpPr>
          <p:cNvPr id="14" name="Text 12"/>
          <p:cNvSpPr/>
          <p:nvPr/>
        </p:nvSpPr>
        <p:spPr>
          <a:xfrm>
            <a:off x="960120" y="2615184"/>
            <a:ext cx="338328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Diagramme de Classes UML</a:t>
            </a:r>
            <a:endParaRPr lang="en-US" sz="1100" dirty="0"/>
          </a:p>
        </p:txBody>
      </p:sp>
      <p:sp>
        <p:nvSpPr>
          <p:cNvPr id="15" name="Shape 13"/>
          <p:cNvSpPr/>
          <p:nvPr/>
        </p:nvSpPr>
        <p:spPr>
          <a:xfrm>
            <a:off x="365760" y="3264408"/>
            <a:ext cx="502920" cy="411480"/>
          </a:xfrm>
          <a:prstGeom prst="rect">
            <a:avLst/>
          </a:prstGeom>
          <a:solidFill>
            <a:srgbClr val="C9A84C"/>
          </a:solidFill>
          <a:ln w="12700">
            <a:solidFill>
              <a:srgbClr val="C9A84C"/>
            </a:solidFill>
            <a:prstDash val="solid"/>
          </a:ln>
        </p:spPr>
        <p:txBody>
          <a:bodyPr/>
          <a:lstStyle/>
          <a:p>
            <a:endParaRPr lang="fr-CM"/>
          </a:p>
        </p:txBody>
      </p:sp>
      <p:sp>
        <p:nvSpPr>
          <p:cNvPr id="16" name="Text 14"/>
          <p:cNvSpPr/>
          <p:nvPr/>
        </p:nvSpPr>
        <p:spPr>
          <a:xfrm>
            <a:off x="365760" y="3264408"/>
            <a:ext cx="50292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Times New Roman" pitchFamily="34" charset="0"/>
                <a:ea typeface="Times New Roman" pitchFamily="34" charset="-122"/>
                <a:cs typeface="Times New Roman" pitchFamily="34" charset="-120"/>
              </a:rPr>
              <a:t>04</a:t>
            </a:r>
            <a:endParaRPr lang="en-US" sz="1300" dirty="0"/>
          </a:p>
        </p:txBody>
      </p:sp>
      <p:sp>
        <p:nvSpPr>
          <p:cNvPr id="17" name="Text 15"/>
          <p:cNvSpPr/>
          <p:nvPr/>
        </p:nvSpPr>
        <p:spPr>
          <a:xfrm>
            <a:off x="960120" y="3282696"/>
            <a:ext cx="338328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Description des Classes &amp; Relations</a:t>
            </a:r>
            <a:endParaRPr lang="en-US" sz="1100" dirty="0"/>
          </a:p>
        </p:txBody>
      </p:sp>
      <p:sp>
        <p:nvSpPr>
          <p:cNvPr id="18" name="Shape 16"/>
          <p:cNvSpPr/>
          <p:nvPr/>
        </p:nvSpPr>
        <p:spPr>
          <a:xfrm>
            <a:off x="365760" y="3931920"/>
            <a:ext cx="502920" cy="411480"/>
          </a:xfrm>
          <a:prstGeom prst="rect">
            <a:avLst/>
          </a:prstGeom>
          <a:solidFill>
            <a:srgbClr val="C9A84C"/>
          </a:solidFill>
          <a:ln w="12700">
            <a:solidFill>
              <a:srgbClr val="C9A84C"/>
            </a:solidFill>
            <a:prstDash val="solid"/>
          </a:ln>
        </p:spPr>
        <p:txBody>
          <a:bodyPr/>
          <a:lstStyle/>
          <a:p>
            <a:endParaRPr lang="fr-CM"/>
          </a:p>
        </p:txBody>
      </p:sp>
      <p:sp>
        <p:nvSpPr>
          <p:cNvPr id="19" name="Text 17"/>
          <p:cNvSpPr/>
          <p:nvPr/>
        </p:nvSpPr>
        <p:spPr>
          <a:xfrm>
            <a:off x="365760" y="3931920"/>
            <a:ext cx="502920" cy="411480"/>
          </a:xfrm>
          <a:prstGeom prst="rect">
            <a:avLst/>
          </a:prstGeom>
          <a:noFill/>
          <a:ln/>
        </p:spPr>
        <p:txBody>
          <a:bodyPr wrap="square" lIns="0" tIns="0" rIns="0" bIns="0" rtlCol="0" anchor="ctr"/>
          <a:lstStyle/>
          <a:p>
            <a:pPr marL="0" indent="0" algn="ctr">
              <a:buNone/>
            </a:pPr>
            <a:r>
              <a:rPr lang="en-US" sz="1300" b="1" dirty="0">
                <a:solidFill>
                  <a:srgbClr val="1B2A4A"/>
                </a:solidFill>
                <a:latin typeface="Times New Roman" pitchFamily="34" charset="0"/>
                <a:ea typeface="Times New Roman" pitchFamily="34" charset="-122"/>
                <a:cs typeface="Times New Roman" pitchFamily="34" charset="-120"/>
              </a:rPr>
              <a:t>05</a:t>
            </a:r>
            <a:endParaRPr lang="en-US" sz="1300" dirty="0"/>
          </a:p>
        </p:txBody>
      </p:sp>
      <p:sp>
        <p:nvSpPr>
          <p:cNvPr id="20" name="Text 18"/>
          <p:cNvSpPr/>
          <p:nvPr/>
        </p:nvSpPr>
        <p:spPr>
          <a:xfrm>
            <a:off x="960120" y="3950208"/>
            <a:ext cx="338328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Diagramme de Séquence UML – Scénarios</a:t>
            </a:r>
            <a:endParaRPr lang="en-US" sz="1100" dirty="0"/>
          </a:p>
        </p:txBody>
      </p:sp>
      <p:sp>
        <p:nvSpPr>
          <p:cNvPr id="21" name="Shape 19"/>
          <p:cNvSpPr/>
          <p:nvPr/>
        </p:nvSpPr>
        <p:spPr>
          <a:xfrm>
            <a:off x="4754880" y="1261872"/>
            <a:ext cx="502920" cy="411480"/>
          </a:xfrm>
          <a:prstGeom prst="rect">
            <a:avLst/>
          </a:prstGeom>
          <a:solidFill>
            <a:schemeClr val="accent6">
              <a:lumMod val="75000"/>
            </a:schemeClr>
          </a:solidFill>
          <a:ln w="12700">
            <a:solidFill>
              <a:schemeClr val="accent6">
                <a:lumMod val="75000"/>
              </a:schemeClr>
            </a:solidFill>
            <a:prstDash val="solid"/>
          </a:ln>
        </p:spPr>
        <p:txBody>
          <a:bodyPr/>
          <a:lstStyle/>
          <a:p>
            <a:endParaRPr lang="fr-CM"/>
          </a:p>
        </p:txBody>
      </p:sp>
      <p:sp>
        <p:nvSpPr>
          <p:cNvPr id="22" name="Text 20"/>
          <p:cNvSpPr/>
          <p:nvPr/>
        </p:nvSpPr>
        <p:spPr>
          <a:xfrm>
            <a:off x="4754880" y="1261872"/>
            <a:ext cx="502920" cy="411480"/>
          </a:xfrm>
          <a:prstGeom prst="rect">
            <a:avLst/>
          </a:prstGeom>
          <a:noFill/>
          <a:ln/>
        </p:spPr>
        <p:txBody>
          <a:bodyPr wrap="square" lIns="0" tIns="0" rIns="0" bIns="0" rtlCol="0" anchor="ctr"/>
          <a:lstStyle/>
          <a:p>
            <a:pPr marL="0" indent="0" algn="ctr">
              <a:buNone/>
            </a:pPr>
            <a:r>
              <a:rPr lang="en-US" sz="1300" b="1" dirty="0">
                <a:solidFill>
                  <a:srgbClr val="C9A84C"/>
                </a:solidFill>
                <a:latin typeface="Times New Roman" pitchFamily="34" charset="0"/>
                <a:ea typeface="Times New Roman" pitchFamily="34" charset="-122"/>
                <a:cs typeface="Times New Roman" pitchFamily="34" charset="-120"/>
              </a:rPr>
              <a:t>06</a:t>
            </a:r>
            <a:endParaRPr lang="en-US" sz="1300" dirty="0"/>
          </a:p>
        </p:txBody>
      </p:sp>
      <p:sp>
        <p:nvSpPr>
          <p:cNvPr id="23" name="Text 21"/>
          <p:cNvSpPr/>
          <p:nvPr/>
        </p:nvSpPr>
        <p:spPr>
          <a:xfrm>
            <a:off x="5349240" y="1280160"/>
            <a:ext cx="356616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Contraintes &amp; Solutions AppArmor</a:t>
            </a:r>
            <a:endParaRPr lang="en-US" sz="1100" dirty="0"/>
          </a:p>
        </p:txBody>
      </p:sp>
      <p:sp>
        <p:nvSpPr>
          <p:cNvPr id="24" name="Shape 22"/>
          <p:cNvSpPr/>
          <p:nvPr/>
        </p:nvSpPr>
        <p:spPr>
          <a:xfrm>
            <a:off x="4754880" y="1929384"/>
            <a:ext cx="502920" cy="411480"/>
          </a:xfrm>
          <a:prstGeom prst="rect">
            <a:avLst/>
          </a:prstGeom>
          <a:solidFill>
            <a:schemeClr val="accent6">
              <a:lumMod val="75000"/>
            </a:schemeClr>
          </a:solidFill>
          <a:ln w="12700">
            <a:solidFill>
              <a:schemeClr val="accent6">
                <a:lumMod val="75000"/>
              </a:schemeClr>
            </a:solidFill>
            <a:prstDash val="solid"/>
          </a:ln>
        </p:spPr>
        <p:txBody>
          <a:bodyPr/>
          <a:lstStyle/>
          <a:p>
            <a:endParaRPr lang="fr-CM"/>
          </a:p>
        </p:txBody>
      </p:sp>
      <p:sp>
        <p:nvSpPr>
          <p:cNvPr id="25" name="Text 23"/>
          <p:cNvSpPr/>
          <p:nvPr/>
        </p:nvSpPr>
        <p:spPr>
          <a:xfrm>
            <a:off x="4754880" y="1929384"/>
            <a:ext cx="502920" cy="411480"/>
          </a:xfrm>
          <a:prstGeom prst="rect">
            <a:avLst/>
          </a:prstGeom>
          <a:noFill/>
          <a:ln/>
        </p:spPr>
        <p:txBody>
          <a:bodyPr wrap="square" lIns="0" tIns="0" rIns="0" bIns="0" rtlCol="0" anchor="ctr"/>
          <a:lstStyle/>
          <a:p>
            <a:pPr marL="0" indent="0" algn="ctr">
              <a:buNone/>
            </a:pPr>
            <a:r>
              <a:rPr lang="en-US" sz="1300" b="1" dirty="0">
                <a:solidFill>
                  <a:srgbClr val="C9A84C"/>
                </a:solidFill>
                <a:latin typeface="Times New Roman" pitchFamily="34" charset="0"/>
                <a:ea typeface="Times New Roman" pitchFamily="34" charset="-122"/>
                <a:cs typeface="Times New Roman" pitchFamily="34" charset="-120"/>
              </a:rPr>
              <a:t>07</a:t>
            </a:r>
            <a:endParaRPr lang="en-US" sz="1300" dirty="0"/>
          </a:p>
        </p:txBody>
      </p:sp>
      <p:sp>
        <p:nvSpPr>
          <p:cNvPr id="26" name="Text 24"/>
          <p:cNvSpPr/>
          <p:nvPr/>
        </p:nvSpPr>
        <p:spPr>
          <a:xfrm>
            <a:off x="5349240" y="1947672"/>
            <a:ext cx="356616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Modes de Sécurité Intégrés</a:t>
            </a:r>
            <a:endParaRPr lang="en-US" sz="1100" dirty="0"/>
          </a:p>
        </p:txBody>
      </p:sp>
      <p:sp>
        <p:nvSpPr>
          <p:cNvPr id="27" name="Shape 25"/>
          <p:cNvSpPr/>
          <p:nvPr/>
        </p:nvSpPr>
        <p:spPr>
          <a:xfrm>
            <a:off x="4754880" y="2596896"/>
            <a:ext cx="502920" cy="411480"/>
          </a:xfrm>
          <a:prstGeom prst="rect">
            <a:avLst/>
          </a:prstGeom>
          <a:solidFill>
            <a:srgbClr val="FF0000"/>
          </a:solidFill>
          <a:ln w="12700">
            <a:solidFill>
              <a:srgbClr val="FF0000"/>
            </a:solidFill>
            <a:prstDash val="solid"/>
          </a:ln>
        </p:spPr>
        <p:txBody>
          <a:bodyPr/>
          <a:lstStyle/>
          <a:p>
            <a:endParaRPr lang="fr-CM"/>
          </a:p>
        </p:txBody>
      </p:sp>
      <p:sp>
        <p:nvSpPr>
          <p:cNvPr id="28" name="Text 26"/>
          <p:cNvSpPr/>
          <p:nvPr/>
        </p:nvSpPr>
        <p:spPr>
          <a:xfrm>
            <a:off x="4754880" y="2596896"/>
            <a:ext cx="502920" cy="411480"/>
          </a:xfrm>
          <a:prstGeom prst="rect">
            <a:avLst/>
          </a:prstGeom>
          <a:noFill/>
          <a:ln/>
        </p:spPr>
        <p:txBody>
          <a:bodyPr wrap="square" lIns="0" tIns="0" rIns="0" bIns="0" rtlCol="0" anchor="ctr"/>
          <a:lstStyle/>
          <a:p>
            <a:pPr marL="0" indent="0" algn="ctr">
              <a:buNone/>
            </a:pPr>
            <a:r>
              <a:rPr lang="en-US" sz="1300" b="1" dirty="0">
                <a:solidFill>
                  <a:srgbClr val="C9A84C"/>
                </a:solidFill>
                <a:latin typeface="Times New Roman" pitchFamily="34" charset="0"/>
                <a:ea typeface="Times New Roman" pitchFamily="34" charset="-122"/>
                <a:cs typeface="Times New Roman" pitchFamily="34" charset="-120"/>
              </a:rPr>
              <a:t>08</a:t>
            </a:r>
            <a:endParaRPr lang="en-US" sz="1300" dirty="0"/>
          </a:p>
        </p:txBody>
      </p:sp>
      <p:sp>
        <p:nvSpPr>
          <p:cNvPr id="29" name="Text 27"/>
          <p:cNvSpPr/>
          <p:nvPr/>
        </p:nvSpPr>
        <p:spPr>
          <a:xfrm>
            <a:off x="5349240" y="2615184"/>
            <a:ext cx="356616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Synthèse de la Conception</a:t>
            </a:r>
            <a:endParaRPr lang="en-US" sz="1100" dirty="0"/>
          </a:p>
        </p:txBody>
      </p:sp>
      <p:sp>
        <p:nvSpPr>
          <p:cNvPr id="30" name="Shape 28"/>
          <p:cNvSpPr/>
          <p:nvPr/>
        </p:nvSpPr>
        <p:spPr>
          <a:xfrm>
            <a:off x="4754880" y="3264408"/>
            <a:ext cx="502920" cy="411480"/>
          </a:xfrm>
          <a:prstGeom prst="rect">
            <a:avLst/>
          </a:prstGeom>
          <a:solidFill>
            <a:schemeClr val="accent4">
              <a:lumMod val="75000"/>
            </a:schemeClr>
          </a:solidFill>
          <a:ln w="12700">
            <a:solidFill>
              <a:srgbClr val="C9A84C"/>
            </a:solidFill>
            <a:prstDash val="solid"/>
          </a:ln>
        </p:spPr>
        <p:txBody>
          <a:bodyPr/>
          <a:lstStyle/>
          <a:p>
            <a:endParaRPr lang="fr-CM"/>
          </a:p>
        </p:txBody>
      </p:sp>
      <p:sp>
        <p:nvSpPr>
          <p:cNvPr id="31" name="Text 29"/>
          <p:cNvSpPr/>
          <p:nvPr/>
        </p:nvSpPr>
        <p:spPr>
          <a:xfrm>
            <a:off x="4754880" y="3264408"/>
            <a:ext cx="502920" cy="411480"/>
          </a:xfrm>
          <a:prstGeom prst="rect">
            <a:avLst/>
          </a:prstGeom>
          <a:noFill/>
          <a:ln/>
        </p:spPr>
        <p:txBody>
          <a:bodyPr wrap="square" lIns="0" tIns="0" rIns="0" bIns="0" rtlCol="0" anchor="ctr"/>
          <a:lstStyle/>
          <a:p>
            <a:pPr marL="0" indent="0" algn="ctr">
              <a:buNone/>
            </a:pPr>
            <a:r>
              <a:rPr lang="en-US" sz="1300" b="1" dirty="0">
                <a:solidFill>
                  <a:srgbClr val="C9A84C"/>
                </a:solidFill>
                <a:latin typeface="Times New Roman" pitchFamily="34" charset="0"/>
                <a:ea typeface="Times New Roman" pitchFamily="34" charset="-122"/>
                <a:cs typeface="Times New Roman" pitchFamily="34" charset="-120"/>
              </a:rPr>
              <a:t>09</a:t>
            </a:r>
            <a:endParaRPr lang="en-US" sz="1300" dirty="0"/>
          </a:p>
        </p:txBody>
      </p:sp>
      <p:sp>
        <p:nvSpPr>
          <p:cNvPr id="32" name="Text 30"/>
          <p:cNvSpPr/>
          <p:nvPr/>
        </p:nvSpPr>
        <p:spPr>
          <a:xfrm>
            <a:off x="5349240" y="3264408"/>
            <a:ext cx="356616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Transition vers la Réalisation</a:t>
            </a:r>
            <a:endParaRPr lang="en-US" sz="1100" dirty="0"/>
          </a:p>
        </p:txBody>
      </p:sp>
      <p:sp>
        <p:nvSpPr>
          <p:cNvPr id="33" name="Shape 31"/>
          <p:cNvSpPr/>
          <p:nvPr/>
        </p:nvSpPr>
        <p:spPr>
          <a:xfrm>
            <a:off x="4754880" y="3931920"/>
            <a:ext cx="502920" cy="411480"/>
          </a:xfrm>
          <a:prstGeom prst="rect">
            <a:avLst/>
          </a:prstGeom>
          <a:solidFill>
            <a:schemeClr val="accent4">
              <a:lumMod val="75000"/>
            </a:schemeClr>
          </a:solidFill>
          <a:ln w="12700">
            <a:solidFill>
              <a:srgbClr val="C9A84C"/>
            </a:solidFill>
            <a:prstDash val="solid"/>
          </a:ln>
        </p:spPr>
        <p:txBody>
          <a:bodyPr/>
          <a:lstStyle/>
          <a:p>
            <a:endParaRPr lang="fr-CM"/>
          </a:p>
        </p:txBody>
      </p:sp>
      <p:sp>
        <p:nvSpPr>
          <p:cNvPr id="34" name="Text 32"/>
          <p:cNvSpPr/>
          <p:nvPr/>
        </p:nvSpPr>
        <p:spPr>
          <a:xfrm>
            <a:off x="4754880" y="3931920"/>
            <a:ext cx="502920" cy="411480"/>
          </a:xfrm>
          <a:prstGeom prst="rect">
            <a:avLst/>
          </a:prstGeom>
          <a:noFill/>
          <a:ln/>
        </p:spPr>
        <p:txBody>
          <a:bodyPr wrap="square" lIns="0" tIns="0" rIns="0" bIns="0" rtlCol="0" anchor="ctr"/>
          <a:lstStyle/>
          <a:p>
            <a:pPr marL="0" indent="0" algn="ctr">
              <a:buNone/>
            </a:pPr>
            <a:r>
              <a:rPr lang="en-US" sz="1300" b="1" dirty="0">
                <a:solidFill>
                  <a:srgbClr val="C9A84C"/>
                </a:solidFill>
                <a:latin typeface="Times New Roman" pitchFamily="34" charset="0"/>
                <a:ea typeface="Times New Roman" pitchFamily="34" charset="-122"/>
                <a:cs typeface="Times New Roman" pitchFamily="34" charset="-120"/>
              </a:rPr>
              <a:t>10</a:t>
            </a:r>
            <a:endParaRPr lang="en-US" sz="1300" dirty="0"/>
          </a:p>
        </p:txBody>
      </p:sp>
      <p:sp>
        <p:nvSpPr>
          <p:cNvPr id="35" name="Text 33"/>
          <p:cNvSpPr/>
          <p:nvPr/>
        </p:nvSpPr>
        <p:spPr>
          <a:xfrm>
            <a:off x="5349240" y="3950208"/>
            <a:ext cx="3566160" cy="38404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Conclusions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3" name="Shape 1"/>
          <p:cNvSpPr/>
          <p:nvPr/>
        </p:nvSpPr>
        <p:spPr>
          <a:xfrm>
            <a:off x="109728" y="0"/>
            <a:ext cx="9034272" cy="914400"/>
          </a:xfrm>
          <a:prstGeom prst="rect">
            <a:avLst/>
          </a:prstGeom>
          <a:solidFill>
            <a:schemeClr val="accent1">
              <a:lumMod val="60000"/>
              <a:lumOff val="40000"/>
            </a:schemeClr>
          </a:solidFill>
          <a:ln w="12700">
            <a:solidFill>
              <a:srgbClr val="243558"/>
            </a:solidFill>
            <a:prstDash val="solid"/>
          </a:ln>
        </p:spPr>
        <p:txBody>
          <a:bodyPr/>
          <a:lstStyle/>
          <a:p>
            <a:endParaRPr lang="fr-CM"/>
          </a:p>
        </p:txBody>
      </p:sp>
      <p:sp>
        <p:nvSpPr>
          <p:cNvPr id="5" name="Text 3"/>
          <p:cNvSpPr/>
          <p:nvPr/>
        </p:nvSpPr>
        <p:spPr>
          <a:xfrm>
            <a:off x="914400" y="91440"/>
            <a:ext cx="7315200" cy="713232"/>
          </a:xfrm>
          <a:prstGeom prst="rect">
            <a:avLst/>
          </a:prstGeom>
          <a:noFill/>
          <a:ln/>
        </p:spPr>
        <p:txBody>
          <a:bodyPr wrap="square" rtlCol="0" anchor="ctr"/>
          <a:lstStyle/>
          <a:p>
            <a:pPr marL="0" indent="0">
              <a:buNone/>
            </a:pPr>
            <a:r>
              <a:rPr lang="en-US" sz="2200" b="1" dirty="0">
                <a:latin typeface="Times New Roman" pitchFamily="34" charset="0"/>
                <a:ea typeface="Times New Roman" pitchFamily="34" charset="-122"/>
                <a:cs typeface="Times New Roman" pitchFamily="34" charset="-120"/>
              </a:rPr>
              <a:t>01 · Contexte &amp; Objectif du Projet</a:t>
            </a:r>
            <a:endParaRPr lang="en-US" sz="2200" dirty="0"/>
          </a:p>
        </p:txBody>
      </p:sp>
      <p:sp>
        <p:nvSpPr>
          <p:cNvPr id="9" name="Text 5"/>
          <p:cNvSpPr/>
          <p:nvPr/>
        </p:nvSpPr>
        <p:spPr>
          <a:xfrm>
            <a:off x="1005840" y="1143000"/>
            <a:ext cx="3017520" cy="457200"/>
          </a:xfrm>
          <a:prstGeom prst="rect">
            <a:avLst/>
          </a:prstGeom>
          <a:noFill/>
          <a:ln/>
        </p:spPr>
        <p:txBody>
          <a:bodyPr wrap="square" rtlCol="0" anchor="ctr"/>
          <a:lstStyle/>
          <a:p>
            <a:pPr marL="0" indent="0">
              <a:buNone/>
            </a:pPr>
            <a:r>
              <a:rPr lang="en-US" sz="1600" b="1" dirty="0">
                <a:latin typeface="Times New Roman" pitchFamily="34" charset="0"/>
                <a:ea typeface="Times New Roman" pitchFamily="34" charset="-122"/>
                <a:cs typeface="Times New Roman" pitchFamily="34" charset="-120"/>
              </a:rPr>
              <a:t>Contexte</a:t>
            </a:r>
            <a:endParaRPr lang="en-US" sz="1600" dirty="0"/>
          </a:p>
        </p:txBody>
      </p:sp>
      <p:sp>
        <p:nvSpPr>
          <p:cNvPr id="10" name="Text 6"/>
          <p:cNvSpPr/>
          <p:nvPr/>
        </p:nvSpPr>
        <p:spPr>
          <a:xfrm>
            <a:off x="365760" y="1554480"/>
            <a:ext cx="3840480" cy="2446020"/>
          </a:xfrm>
          <a:prstGeom prst="rect">
            <a:avLst/>
          </a:prstGeom>
          <a:noFill/>
          <a:ln/>
        </p:spPr>
        <p:txBody>
          <a:bodyPr wrap="square" rtlCol="0" anchor="t"/>
          <a:lstStyle/>
          <a:p>
            <a:pPr marL="0" indent="0">
              <a:buNone/>
            </a:pPr>
            <a:r>
              <a:rPr lang="fr-FR" sz="1100" dirty="0">
                <a:latin typeface="Times New Roman" panose="02020603050405020304" pitchFamily="18" charset="0"/>
                <a:cs typeface="Times New Roman" panose="02020603050405020304" pitchFamily="18" charset="0"/>
              </a:rPr>
              <a:t>Aujourd'hui, la sécurité des systèmes Linux repose en grande partie sur des mécanismes de contrôle d'accès obligatoires comme </a:t>
            </a:r>
            <a:r>
              <a:rPr lang="fr-FR" sz="1100" b="1" dirty="0" err="1">
                <a:latin typeface="Times New Roman" panose="02020603050405020304" pitchFamily="18" charset="0"/>
                <a:cs typeface="Times New Roman" panose="02020603050405020304" pitchFamily="18" charset="0"/>
              </a:rPr>
              <a:t>AppArmor</a:t>
            </a:r>
            <a:r>
              <a:rPr lang="fr-FR" sz="1100" dirty="0">
                <a:latin typeface="Times New Roman" panose="02020603050405020304" pitchFamily="18" charset="0"/>
                <a:cs typeface="Times New Roman" panose="02020603050405020304" pitchFamily="18" charset="0"/>
              </a:rPr>
              <a:t>, qui permettent de confiner les applications et de limiter leurs privilèges. Cependant, la configuration et le suivi de ces profils de sécurité se font traditionnellement en ligne de commande, ce qui s'avère complexe, fastidieux et source d'erreurs pour les administrateurs système. De plus, face à des cyberattaques de plus en plus sophistiquées, la simple restriction des droits ne suffit plus : il devient crucial de surveiller l'activité du système en continu. Actuellement, l'analyse des journaux d'audit (logs) générés par </a:t>
            </a:r>
            <a:r>
              <a:rPr lang="fr-FR" sz="1100" dirty="0" err="1">
                <a:latin typeface="Times New Roman" panose="02020603050405020304" pitchFamily="18" charset="0"/>
                <a:cs typeface="Times New Roman" panose="02020603050405020304" pitchFamily="18" charset="0"/>
              </a:rPr>
              <a:t>AppArmor</a:t>
            </a:r>
            <a:r>
              <a:rPr lang="fr-FR" sz="1100" dirty="0">
                <a:latin typeface="Times New Roman" panose="02020603050405020304" pitchFamily="18" charset="0"/>
                <a:cs typeface="Times New Roman" panose="02020603050405020304" pitchFamily="18" charset="0"/>
              </a:rPr>
              <a:t> est souvent manuelle et déconnectée de la gestion des profils, empêchant une réaction rapide en cas d'intrusion</a:t>
            </a:r>
            <a:endParaRPr lang="en-US" sz="1100" dirty="0"/>
          </a:p>
        </p:txBody>
      </p:sp>
      <p:sp>
        <p:nvSpPr>
          <p:cNvPr id="13" name="Text 8"/>
          <p:cNvSpPr/>
          <p:nvPr/>
        </p:nvSpPr>
        <p:spPr>
          <a:xfrm>
            <a:off x="5394960" y="1143000"/>
            <a:ext cx="3200400" cy="457200"/>
          </a:xfrm>
          <a:prstGeom prst="rect">
            <a:avLst/>
          </a:prstGeom>
          <a:noFill/>
          <a:ln/>
        </p:spPr>
        <p:txBody>
          <a:bodyPr wrap="square" rtlCol="0" anchor="ctr"/>
          <a:lstStyle/>
          <a:p>
            <a:pPr marL="0" indent="0">
              <a:buNone/>
            </a:pPr>
            <a:r>
              <a:rPr lang="en-US" sz="1600" b="1" dirty="0">
                <a:latin typeface="Times New Roman" pitchFamily="34" charset="0"/>
                <a:ea typeface="Times New Roman" pitchFamily="34" charset="-122"/>
                <a:cs typeface="Times New Roman" pitchFamily="34" charset="-120"/>
              </a:rPr>
              <a:t>Objectifs</a:t>
            </a:r>
            <a:endParaRPr lang="en-US" sz="1600" dirty="0"/>
          </a:p>
        </p:txBody>
      </p:sp>
      <p:sp>
        <p:nvSpPr>
          <p:cNvPr id="14" name="Shape 9"/>
          <p:cNvSpPr/>
          <p:nvPr/>
        </p:nvSpPr>
        <p:spPr>
          <a:xfrm>
            <a:off x="4754880" y="1691640"/>
            <a:ext cx="4023360" cy="502920"/>
          </a:xfrm>
          <a:prstGeom prst="rect">
            <a:avLst/>
          </a:prstGeom>
          <a:noFill/>
          <a:ln w="12700">
            <a:solidFill>
              <a:schemeClr val="accent6">
                <a:lumMod val="75000"/>
              </a:schemeClr>
            </a:solidFill>
            <a:prstDash val="solid"/>
          </a:ln>
        </p:spPr>
        <p:txBody>
          <a:bodyPr/>
          <a:lstStyle/>
          <a:p>
            <a:endParaRPr lang="fr-CM"/>
          </a:p>
        </p:txBody>
      </p:sp>
      <p:sp>
        <p:nvSpPr>
          <p:cNvPr id="15" name="Text 10"/>
          <p:cNvSpPr/>
          <p:nvPr/>
        </p:nvSpPr>
        <p:spPr>
          <a:xfrm>
            <a:off x="4800600" y="1728216"/>
            <a:ext cx="3931920" cy="429768"/>
          </a:xfrm>
          <a:prstGeom prst="rect">
            <a:avLst/>
          </a:prstGeom>
          <a:noFill/>
          <a:ln/>
        </p:spPr>
        <p:txBody>
          <a:bodyPr wrap="square" rtlCol="0" anchor="ctr"/>
          <a:lstStyle/>
          <a:p>
            <a:pPr marL="0" indent="0">
              <a:buNone/>
            </a:pPr>
            <a:endParaRPr lang="en-US" sz="1050" dirty="0"/>
          </a:p>
        </p:txBody>
      </p:sp>
      <p:sp>
        <p:nvSpPr>
          <p:cNvPr id="16" name="Shape 11"/>
          <p:cNvSpPr/>
          <p:nvPr/>
        </p:nvSpPr>
        <p:spPr>
          <a:xfrm>
            <a:off x="4754880" y="2313432"/>
            <a:ext cx="4023360" cy="502920"/>
          </a:xfrm>
          <a:prstGeom prst="rect">
            <a:avLst/>
          </a:prstGeom>
          <a:noFill/>
          <a:ln w="12700">
            <a:solidFill>
              <a:schemeClr val="accent6">
                <a:lumMod val="75000"/>
              </a:schemeClr>
            </a:solidFill>
            <a:prstDash val="solid"/>
          </a:ln>
        </p:spPr>
        <p:txBody>
          <a:bodyPr/>
          <a:lstStyle/>
          <a:p>
            <a:endParaRPr lang="fr-CM"/>
          </a:p>
        </p:txBody>
      </p:sp>
      <p:sp>
        <p:nvSpPr>
          <p:cNvPr id="17" name="Text 12"/>
          <p:cNvSpPr/>
          <p:nvPr/>
        </p:nvSpPr>
        <p:spPr>
          <a:xfrm>
            <a:off x="4800600" y="2350008"/>
            <a:ext cx="3931920" cy="429768"/>
          </a:xfrm>
          <a:prstGeom prst="rect">
            <a:avLst/>
          </a:prstGeom>
          <a:noFill/>
          <a:ln/>
        </p:spPr>
        <p:txBody>
          <a:bodyPr wrap="square" rtlCol="0" anchor="ctr"/>
          <a:lstStyle/>
          <a:p>
            <a:pPr marL="0" indent="0">
              <a:buNone/>
            </a:pPr>
            <a:r>
              <a:rPr lang="en-US" sz="1050" dirty="0">
                <a:latin typeface="Times New Roman" pitchFamily="34" charset="0"/>
                <a:ea typeface="Times New Roman" pitchFamily="34" charset="-122"/>
                <a:cs typeface="Times New Roman" pitchFamily="34" charset="-120"/>
              </a:rPr>
              <a:t>  Détecter &amp; analyser les comportements malveillants</a:t>
            </a:r>
            <a:endParaRPr lang="en-US" sz="1050" dirty="0"/>
          </a:p>
        </p:txBody>
      </p:sp>
      <p:sp>
        <p:nvSpPr>
          <p:cNvPr id="18" name="Shape 13"/>
          <p:cNvSpPr/>
          <p:nvPr/>
        </p:nvSpPr>
        <p:spPr>
          <a:xfrm>
            <a:off x="4754880" y="2918189"/>
            <a:ext cx="4023360" cy="502920"/>
          </a:xfrm>
          <a:prstGeom prst="rect">
            <a:avLst/>
          </a:prstGeom>
          <a:noFill/>
          <a:ln w="12700">
            <a:solidFill>
              <a:srgbClr val="FF0000"/>
            </a:solidFill>
            <a:prstDash val="solid"/>
          </a:ln>
        </p:spPr>
        <p:txBody>
          <a:bodyPr/>
          <a:lstStyle/>
          <a:p>
            <a:endParaRPr lang="fr-CM"/>
          </a:p>
        </p:txBody>
      </p:sp>
      <p:sp>
        <p:nvSpPr>
          <p:cNvPr id="19" name="Text 14"/>
          <p:cNvSpPr/>
          <p:nvPr/>
        </p:nvSpPr>
        <p:spPr>
          <a:xfrm>
            <a:off x="4800600" y="2971800"/>
            <a:ext cx="3931920" cy="429768"/>
          </a:xfrm>
          <a:prstGeom prst="rect">
            <a:avLst/>
          </a:prstGeom>
          <a:noFill/>
          <a:ln/>
        </p:spPr>
        <p:txBody>
          <a:bodyPr wrap="square" rtlCol="0" anchor="ctr"/>
          <a:lstStyle/>
          <a:p>
            <a:pPr marL="0" indent="0">
              <a:buNone/>
            </a:pPr>
            <a:r>
              <a:rPr lang="en-US" sz="1050" dirty="0">
                <a:latin typeface="Times New Roman" pitchFamily="34" charset="0"/>
                <a:ea typeface="Times New Roman" pitchFamily="34" charset="-122"/>
                <a:cs typeface="Times New Roman" pitchFamily="34" charset="-120"/>
              </a:rPr>
              <a:t>Visualiser les logs et métriques en temps réel</a:t>
            </a:r>
            <a:endParaRPr lang="en-US" sz="1050" dirty="0"/>
          </a:p>
        </p:txBody>
      </p:sp>
      <p:sp>
        <p:nvSpPr>
          <p:cNvPr id="20" name="Shape 15"/>
          <p:cNvSpPr/>
          <p:nvPr/>
        </p:nvSpPr>
        <p:spPr>
          <a:xfrm>
            <a:off x="4754880" y="3557016"/>
            <a:ext cx="4023360" cy="502920"/>
          </a:xfrm>
          <a:prstGeom prst="rect">
            <a:avLst/>
          </a:prstGeom>
          <a:noFill/>
          <a:ln w="12700">
            <a:solidFill>
              <a:schemeClr val="accent4">
                <a:lumMod val="75000"/>
              </a:schemeClr>
            </a:solidFill>
            <a:prstDash val="solid"/>
          </a:ln>
        </p:spPr>
        <p:txBody>
          <a:bodyPr/>
          <a:lstStyle/>
          <a:p>
            <a:endParaRPr lang="fr-CM"/>
          </a:p>
        </p:txBody>
      </p:sp>
      <p:sp>
        <p:nvSpPr>
          <p:cNvPr id="21" name="Text 16"/>
          <p:cNvSpPr/>
          <p:nvPr/>
        </p:nvSpPr>
        <p:spPr>
          <a:xfrm>
            <a:off x="4800600" y="3593592"/>
            <a:ext cx="3931920" cy="429768"/>
          </a:xfrm>
          <a:prstGeom prst="rect">
            <a:avLst/>
          </a:prstGeom>
          <a:noFill/>
          <a:ln/>
        </p:spPr>
        <p:txBody>
          <a:bodyPr wrap="square" rtlCol="0" anchor="ctr"/>
          <a:lstStyle/>
          <a:p>
            <a:pPr marL="0" indent="0">
              <a:buNone/>
            </a:pPr>
            <a:r>
              <a:rPr lang="en-US" sz="1050" dirty="0">
                <a:latin typeface="Times New Roman" pitchFamily="34" charset="0"/>
                <a:ea typeface="Times New Roman" pitchFamily="34" charset="-122"/>
                <a:cs typeface="Times New Roman" pitchFamily="34" charset="-120"/>
              </a:rPr>
              <a:t>  Simuler des attaques et démontrer la défense</a:t>
            </a:r>
            <a:endParaRPr lang="en-US" sz="1050" dirty="0"/>
          </a:p>
        </p:txBody>
      </p:sp>
      <p:sp>
        <p:nvSpPr>
          <p:cNvPr id="22" name="Shape 17"/>
          <p:cNvSpPr/>
          <p:nvPr/>
        </p:nvSpPr>
        <p:spPr>
          <a:xfrm>
            <a:off x="4754880" y="4178808"/>
            <a:ext cx="4023360" cy="502920"/>
          </a:xfrm>
          <a:prstGeom prst="rect">
            <a:avLst/>
          </a:prstGeom>
          <a:noFill/>
          <a:ln w="12700">
            <a:solidFill>
              <a:schemeClr val="accent4">
                <a:lumMod val="75000"/>
              </a:schemeClr>
            </a:solidFill>
            <a:prstDash val="solid"/>
          </a:ln>
        </p:spPr>
        <p:txBody>
          <a:bodyPr/>
          <a:lstStyle/>
          <a:p>
            <a:endParaRPr lang="fr-CM"/>
          </a:p>
        </p:txBody>
      </p:sp>
      <p:sp>
        <p:nvSpPr>
          <p:cNvPr id="23" name="Text 18"/>
          <p:cNvSpPr/>
          <p:nvPr/>
        </p:nvSpPr>
        <p:spPr>
          <a:xfrm>
            <a:off x="4800600" y="4215384"/>
            <a:ext cx="3931920" cy="429768"/>
          </a:xfrm>
          <a:prstGeom prst="rect">
            <a:avLst/>
          </a:prstGeom>
          <a:noFill/>
          <a:ln/>
        </p:spPr>
        <p:txBody>
          <a:bodyPr wrap="square" rtlCol="0" anchor="ctr"/>
          <a:lstStyle/>
          <a:p>
            <a:pPr marL="0" indent="0">
              <a:buNone/>
            </a:pPr>
            <a:r>
              <a:rPr lang="en-US" sz="1050" dirty="0">
                <a:latin typeface="Times New Roman" pitchFamily="34" charset="0"/>
                <a:ea typeface="Times New Roman" pitchFamily="34" charset="-122"/>
                <a:cs typeface="Times New Roman" pitchFamily="34" charset="-120"/>
              </a:rPr>
              <a:t>  Garantir la sécurité de l'interface (HTTPS, auth)</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109728" y="0"/>
            <a:ext cx="9034272" cy="914400"/>
          </a:xfrm>
          <a:prstGeom prst="rect">
            <a:avLst/>
          </a:prstGeom>
          <a:solidFill>
            <a:schemeClr val="accent1">
              <a:lumMod val="60000"/>
              <a:lumOff val="40000"/>
            </a:schemeClr>
          </a:solidFill>
          <a:ln w="12700">
            <a:solidFill>
              <a:srgbClr val="243558"/>
            </a:solidFill>
            <a:prstDash val="solid"/>
          </a:ln>
        </p:spPr>
        <p:txBody>
          <a:bodyPr/>
          <a:lstStyle/>
          <a:p>
            <a:endParaRPr lang="fr-CM"/>
          </a:p>
        </p:txBody>
      </p:sp>
      <p:sp>
        <p:nvSpPr>
          <p:cNvPr id="5" name="Text 3"/>
          <p:cNvSpPr/>
          <p:nvPr/>
        </p:nvSpPr>
        <p:spPr>
          <a:xfrm>
            <a:off x="914400" y="91440"/>
            <a:ext cx="7315200" cy="713232"/>
          </a:xfrm>
          <a:prstGeom prst="rect">
            <a:avLst/>
          </a:prstGeom>
          <a:noFill/>
          <a:ln/>
        </p:spPr>
        <p:txBody>
          <a:bodyPr wrap="square" rtlCol="0" anchor="ctr"/>
          <a:lstStyle/>
          <a:p>
            <a:pPr marL="0" indent="0">
              <a:buNone/>
            </a:pPr>
            <a:r>
              <a:rPr lang="en-US" sz="2200" b="1" dirty="0">
                <a:latin typeface="Times New Roman" pitchFamily="34" charset="0"/>
                <a:ea typeface="Times New Roman" pitchFamily="34" charset="-122"/>
                <a:cs typeface="Times New Roman" pitchFamily="34" charset="-120"/>
              </a:rPr>
              <a:t>02 · Démarche de Conception Adoptée</a:t>
            </a:r>
            <a:endParaRPr lang="en-US" sz="2200" dirty="0"/>
          </a:p>
        </p:txBody>
      </p:sp>
      <p:sp>
        <p:nvSpPr>
          <p:cNvPr id="9" name="Text 6"/>
          <p:cNvSpPr/>
          <p:nvPr/>
        </p:nvSpPr>
        <p:spPr>
          <a:xfrm>
            <a:off x="274320" y="1417320"/>
            <a:ext cx="1005840" cy="1005840"/>
          </a:xfrm>
          <a:prstGeom prst="rect">
            <a:avLst/>
          </a:prstGeom>
          <a:noFill/>
          <a:ln/>
        </p:spPr>
        <p:txBody>
          <a:bodyPr wrap="square" lIns="0" tIns="0" rIns="0" bIns="0" rtlCol="0" anchor="ctr"/>
          <a:lstStyle/>
          <a:p>
            <a:pPr marL="0" indent="0" algn="ctr">
              <a:buNone/>
            </a:pPr>
            <a:r>
              <a:rPr lang="en-US" sz="2400" b="1" dirty="0">
                <a:solidFill>
                  <a:srgbClr val="1B2A4A"/>
                </a:solidFill>
                <a:latin typeface="Times New Roman" pitchFamily="34" charset="0"/>
                <a:cs typeface="Times New Roman" pitchFamily="34" charset="-120"/>
              </a:rPr>
              <a:t>2</a:t>
            </a:r>
            <a:endParaRPr lang="en-US" sz="2400" dirty="0"/>
          </a:p>
        </p:txBody>
      </p:sp>
      <p:sp>
        <p:nvSpPr>
          <p:cNvPr id="10" name="Text 7"/>
          <p:cNvSpPr/>
          <p:nvPr/>
        </p:nvSpPr>
        <p:spPr>
          <a:xfrm>
            <a:off x="91440" y="2514600"/>
            <a:ext cx="1371600" cy="320040"/>
          </a:xfrm>
          <a:prstGeom prst="rect">
            <a:avLst/>
          </a:prstGeom>
          <a:noFill/>
          <a:ln/>
        </p:spPr>
        <p:txBody>
          <a:bodyPr wrap="square" rtlCol="0" anchor="ctr"/>
          <a:lstStyle/>
          <a:p>
            <a:pPr marL="0" indent="0" algn="ctr">
              <a:buNone/>
            </a:pPr>
            <a:r>
              <a:rPr lang="en-US" sz="1100" b="1" dirty="0">
                <a:solidFill>
                  <a:srgbClr val="1B2A4A"/>
                </a:solidFill>
                <a:latin typeface="Times New Roman" pitchFamily="34" charset="0"/>
                <a:ea typeface="Times New Roman" pitchFamily="34" charset="-122"/>
                <a:cs typeface="Times New Roman" pitchFamily="34" charset="-120"/>
              </a:rPr>
              <a:t>Analyse</a:t>
            </a:r>
            <a:endParaRPr lang="en-US" sz="1100" dirty="0"/>
          </a:p>
        </p:txBody>
      </p:sp>
      <p:sp>
        <p:nvSpPr>
          <p:cNvPr id="11" name="Text 8"/>
          <p:cNvSpPr/>
          <p:nvPr/>
        </p:nvSpPr>
        <p:spPr>
          <a:xfrm>
            <a:off x="45720" y="2834640"/>
            <a:ext cx="1463040" cy="502920"/>
          </a:xfrm>
          <a:prstGeom prst="rect">
            <a:avLst/>
          </a:prstGeom>
          <a:noFill/>
          <a:ln/>
        </p:spPr>
        <p:txBody>
          <a:bodyPr wrap="square" rtlCol="0" anchor="ctr"/>
          <a:lstStyle/>
          <a:p>
            <a:pPr marL="0" indent="0" algn="ctr">
              <a:buNone/>
            </a:pPr>
            <a:r>
              <a:rPr lang="en-US" sz="900" dirty="0">
                <a:solidFill>
                  <a:srgbClr val="334455"/>
                </a:solidFill>
                <a:latin typeface="Times New Roman" pitchFamily="34" charset="0"/>
                <a:ea typeface="Times New Roman" pitchFamily="34" charset="-122"/>
                <a:cs typeface="Times New Roman" pitchFamily="34" charset="-120"/>
              </a:rPr>
              <a:t>Exigences fonctionnelles &amp; non-fonctionnelles</a:t>
            </a:r>
            <a:endParaRPr lang="en-US" sz="900" dirty="0"/>
          </a:p>
        </p:txBody>
      </p:sp>
      <p:sp>
        <p:nvSpPr>
          <p:cNvPr id="12" name="Shape 9"/>
          <p:cNvSpPr/>
          <p:nvPr/>
        </p:nvSpPr>
        <p:spPr>
          <a:xfrm>
            <a:off x="1280160" y="1920240"/>
            <a:ext cx="731520" cy="0"/>
          </a:xfrm>
          <a:prstGeom prst="line">
            <a:avLst/>
          </a:prstGeom>
          <a:noFill/>
          <a:ln w="25400">
            <a:solidFill>
              <a:srgbClr val="1B2A4A"/>
            </a:solidFill>
            <a:prstDash val="solid"/>
          </a:ln>
        </p:spPr>
        <p:txBody>
          <a:bodyPr/>
          <a:lstStyle/>
          <a:p>
            <a:endParaRPr lang="fr-CM"/>
          </a:p>
        </p:txBody>
      </p:sp>
      <p:sp>
        <p:nvSpPr>
          <p:cNvPr id="14" name="Text 11"/>
          <p:cNvSpPr/>
          <p:nvPr/>
        </p:nvSpPr>
        <p:spPr>
          <a:xfrm>
            <a:off x="2011680" y="1417320"/>
            <a:ext cx="1005840" cy="1005840"/>
          </a:xfrm>
          <a:prstGeom prst="rect">
            <a:avLst/>
          </a:prstGeom>
          <a:noFill/>
          <a:ln/>
        </p:spPr>
        <p:txBody>
          <a:bodyPr wrap="square" lIns="0" tIns="0" rIns="0" bIns="0" rtlCol="0" anchor="ctr"/>
          <a:lstStyle/>
          <a:p>
            <a:pPr marL="0" indent="0" algn="ctr">
              <a:buNone/>
            </a:pPr>
            <a:r>
              <a:rPr lang="en-US" sz="2400" b="1" dirty="0">
                <a:solidFill>
                  <a:srgbClr val="1B2A4A"/>
                </a:solidFill>
                <a:latin typeface="Times New Roman" pitchFamily="34" charset="0"/>
                <a:cs typeface="Times New Roman" pitchFamily="34" charset="-120"/>
              </a:rPr>
              <a:t>3</a:t>
            </a:r>
            <a:endParaRPr lang="en-US" sz="2400" dirty="0"/>
          </a:p>
        </p:txBody>
      </p:sp>
      <p:sp>
        <p:nvSpPr>
          <p:cNvPr id="15" name="Text 12"/>
          <p:cNvSpPr/>
          <p:nvPr/>
        </p:nvSpPr>
        <p:spPr>
          <a:xfrm>
            <a:off x="1828800" y="2514600"/>
            <a:ext cx="1371600" cy="320040"/>
          </a:xfrm>
          <a:prstGeom prst="rect">
            <a:avLst/>
          </a:prstGeom>
          <a:noFill/>
          <a:ln/>
        </p:spPr>
        <p:txBody>
          <a:bodyPr wrap="square" rtlCol="0" anchor="ctr"/>
          <a:lstStyle/>
          <a:p>
            <a:pPr marL="0" indent="0" algn="ctr">
              <a:buNone/>
            </a:pPr>
            <a:r>
              <a:rPr lang="en-US" sz="1100" b="1" dirty="0">
                <a:solidFill>
                  <a:srgbClr val="1B2A4A"/>
                </a:solidFill>
                <a:latin typeface="Times New Roman" pitchFamily="34" charset="0"/>
                <a:ea typeface="Times New Roman" pitchFamily="34" charset="-122"/>
                <a:cs typeface="Times New Roman" pitchFamily="34" charset="-120"/>
              </a:rPr>
              <a:t>Conception</a:t>
            </a:r>
            <a:endParaRPr lang="en-US" sz="1100" dirty="0"/>
          </a:p>
        </p:txBody>
      </p:sp>
      <p:sp>
        <p:nvSpPr>
          <p:cNvPr id="16" name="Text 13"/>
          <p:cNvSpPr/>
          <p:nvPr/>
        </p:nvSpPr>
        <p:spPr>
          <a:xfrm>
            <a:off x="1783080" y="2834640"/>
            <a:ext cx="1463040" cy="502920"/>
          </a:xfrm>
          <a:prstGeom prst="rect">
            <a:avLst/>
          </a:prstGeom>
          <a:noFill/>
          <a:ln/>
        </p:spPr>
        <p:txBody>
          <a:bodyPr wrap="square" rtlCol="0" anchor="ctr"/>
          <a:lstStyle/>
          <a:p>
            <a:pPr marL="0" indent="0" algn="ctr">
              <a:buNone/>
            </a:pPr>
            <a:r>
              <a:rPr lang="en-US" sz="900" dirty="0">
                <a:solidFill>
                  <a:srgbClr val="334455"/>
                </a:solidFill>
                <a:latin typeface="Times New Roman" pitchFamily="34" charset="0"/>
                <a:ea typeface="Times New Roman" pitchFamily="34" charset="-122"/>
                <a:cs typeface="Times New Roman" pitchFamily="34" charset="-120"/>
              </a:rPr>
              <a:t>Modélisation UML : classes, séquences</a:t>
            </a:r>
            <a:endParaRPr lang="en-US" sz="900" dirty="0"/>
          </a:p>
        </p:txBody>
      </p:sp>
      <p:sp>
        <p:nvSpPr>
          <p:cNvPr id="17" name="Shape 14"/>
          <p:cNvSpPr/>
          <p:nvPr/>
        </p:nvSpPr>
        <p:spPr>
          <a:xfrm>
            <a:off x="3017520" y="1920240"/>
            <a:ext cx="731520" cy="0"/>
          </a:xfrm>
          <a:prstGeom prst="line">
            <a:avLst/>
          </a:prstGeom>
          <a:noFill/>
          <a:ln w="25400">
            <a:solidFill>
              <a:srgbClr val="1B2A4A"/>
            </a:solidFill>
            <a:prstDash val="solid"/>
          </a:ln>
        </p:spPr>
        <p:txBody>
          <a:bodyPr/>
          <a:lstStyle/>
          <a:p>
            <a:endParaRPr lang="fr-CM"/>
          </a:p>
        </p:txBody>
      </p:sp>
      <p:sp>
        <p:nvSpPr>
          <p:cNvPr id="19" name="Text 16"/>
          <p:cNvSpPr/>
          <p:nvPr/>
        </p:nvSpPr>
        <p:spPr>
          <a:xfrm>
            <a:off x="3749040" y="1417320"/>
            <a:ext cx="1005840" cy="1005840"/>
          </a:xfrm>
          <a:prstGeom prst="rect">
            <a:avLst/>
          </a:prstGeom>
          <a:noFill/>
          <a:ln/>
        </p:spPr>
        <p:txBody>
          <a:bodyPr wrap="square" lIns="0" tIns="0" rIns="0" bIns="0" rtlCol="0" anchor="ctr"/>
          <a:lstStyle/>
          <a:p>
            <a:pPr marL="0" indent="0" algn="ctr">
              <a:buNone/>
            </a:pPr>
            <a:r>
              <a:rPr lang="en-US" sz="2400" b="1" dirty="0">
                <a:solidFill>
                  <a:srgbClr val="1B2A4A"/>
                </a:solidFill>
                <a:latin typeface="Times New Roman" pitchFamily="34" charset="0"/>
                <a:cs typeface="Times New Roman" pitchFamily="34" charset="-120"/>
              </a:rPr>
              <a:t>4</a:t>
            </a:r>
            <a:endParaRPr lang="en-US" sz="2400" dirty="0"/>
          </a:p>
        </p:txBody>
      </p:sp>
      <p:sp>
        <p:nvSpPr>
          <p:cNvPr id="20" name="Text 17"/>
          <p:cNvSpPr/>
          <p:nvPr/>
        </p:nvSpPr>
        <p:spPr>
          <a:xfrm>
            <a:off x="3566160" y="2514600"/>
            <a:ext cx="1371600" cy="320040"/>
          </a:xfrm>
          <a:prstGeom prst="rect">
            <a:avLst/>
          </a:prstGeom>
          <a:noFill/>
          <a:ln/>
        </p:spPr>
        <p:txBody>
          <a:bodyPr wrap="square" rtlCol="0" anchor="ctr"/>
          <a:lstStyle/>
          <a:p>
            <a:pPr marL="0" indent="0" algn="ctr">
              <a:buNone/>
            </a:pPr>
            <a:r>
              <a:rPr lang="en-US" sz="1100" b="1" dirty="0">
                <a:solidFill>
                  <a:srgbClr val="1B2A4A"/>
                </a:solidFill>
                <a:latin typeface="Times New Roman" pitchFamily="34" charset="0"/>
                <a:ea typeface="Times New Roman" pitchFamily="34" charset="-122"/>
                <a:cs typeface="Times New Roman" pitchFamily="34" charset="-120"/>
              </a:rPr>
              <a:t>Réalisation</a:t>
            </a:r>
            <a:endParaRPr lang="en-US" sz="1100" dirty="0"/>
          </a:p>
        </p:txBody>
      </p:sp>
      <p:sp>
        <p:nvSpPr>
          <p:cNvPr id="21" name="Text 18"/>
          <p:cNvSpPr/>
          <p:nvPr/>
        </p:nvSpPr>
        <p:spPr>
          <a:xfrm>
            <a:off x="3520440" y="2834640"/>
            <a:ext cx="1463040" cy="502920"/>
          </a:xfrm>
          <a:prstGeom prst="rect">
            <a:avLst/>
          </a:prstGeom>
          <a:noFill/>
          <a:ln/>
        </p:spPr>
        <p:txBody>
          <a:bodyPr wrap="square" rtlCol="0" anchor="ctr"/>
          <a:lstStyle/>
          <a:p>
            <a:pPr marL="0" indent="0" algn="ctr">
              <a:buNone/>
            </a:pPr>
            <a:r>
              <a:rPr lang="en-US" sz="900" dirty="0">
                <a:solidFill>
                  <a:srgbClr val="334455"/>
                </a:solidFill>
                <a:latin typeface="Times New Roman" pitchFamily="34" charset="0"/>
                <a:ea typeface="Times New Roman" pitchFamily="34" charset="-122"/>
                <a:cs typeface="Times New Roman" pitchFamily="34" charset="-120"/>
              </a:rPr>
              <a:t>Développement &amp; intégration</a:t>
            </a:r>
            <a:endParaRPr lang="en-US" sz="900" dirty="0"/>
          </a:p>
        </p:txBody>
      </p:sp>
      <p:sp>
        <p:nvSpPr>
          <p:cNvPr id="22" name="Shape 19"/>
          <p:cNvSpPr/>
          <p:nvPr/>
        </p:nvSpPr>
        <p:spPr>
          <a:xfrm>
            <a:off x="4754880" y="1920240"/>
            <a:ext cx="731520" cy="0"/>
          </a:xfrm>
          <a:prstGeom prst="line">
            <a:avLst/>
          </a:prstGeom>
          <a:noFill/>
          <a:ln w="25400">
            <a:solidFill>
              <a:srgbClr val="1B2A4A"/>
            </a:solidFill>
            <a:prstDash val="solid"/>
          </a:ln>
        </p:spPr>
        <p:txBody>
          <a:bodyPr/>
          <a:lstStyle/>
          <a:p>
            <a:endParaRPr lang="fr-CM"/>
          </a:p>
        </p:txBody>
      </p:sp>
      <p:sp>
        <p:nvSpPr>
          <p:cNvPr id="24" name="Text 21"/>
          <p:cNvSpPr/>
          <p:nvPr/>
        </p:nvSpPr>
        <p:spPr>
          <a:xfrm>
            <a:off x="5486400" y="1417320"/>
            <a:ext cx="1005840" cy="1005840"/>
          </a:xfrm>
          <a:prstGeom prst="rect">
            <a:avLst/>
          </a:prstGeom>
          <a:noFill/>
          <a:ln/>
        </p:spPr>
        <p:txBody>
          <a:bodyPr wrap="square" lIns="0" tIns="0" rIns="0" bIns="0" rtlCol="0" anchor="ctr"/>
          <a:lstStyle/>
          <a:p>
            <a:pPr marL="0" indent="0" algn="ctr">
              <a:buNone/>
            </a:pPr>
            <a:r>
              <a:rPr lang="en-US" sz="2400" b="1" dirty="0">
                <a:solidFill>
                  <a:srgbClr val="1B2A4A"/>
                </a:solidFill>
                <a:latin typeface="Times New Roman" pitchFamily="34" charset="0"/>
                <a:cs typeface="Times New Roman" pitchFamily="34" charset="-120"/>
              </a:rPr>
              <a:t>5</a:t>
            </a:r>
            <a:endParaRPr lang="en-US" sz="2400" dirty="0"/>
          </a:p>
        </p:txBody>
      </p:sp>
      <p:sp>
        <p:nvSpPr>
          <p:cNvPr id="25" name="Text 22"/>
          <p:cNvSpPr/>
          <p:nvPr/>
        </p:nvSpPr>
        <p:spPr>
          <a:xfrm>
            <a:off x="5303520" y="2514600"/>
            <a:ext cx="1371600" cy="320040"/>
          </a:xfrm>
          <a:prstGeom prst="rect">
            <a:avLst/>
          </a:prstGeom>
          <a:noFill/>
          <a:ln/>
        </p:spPr>
        <p:txBody>
          <a:bodyPr wrap="square" rtlCol="0" anchor="ctr"/>
          <a:lstStyle/>
          <a:p>
            <a:pPr marL="0" indent="0" algn="ctr">
              <a:buNone/>
            </a:pPr>
            <a:r>
              <a:rPr lang="en-US" sz="1100" b="1" dirty="0">
                <a:solidFill>
                  <a:srgbClr val="1B2A4A"/>
                </a:solidFill>
                <a:latin typeface="Times New Roman" pitchFamily="34" charset="0"/>
                <a:ea typeface="Times New Roman" pitchFamily="34" charset="-122"/>
                <a:cs typeface="Times New Roman" pitchFamily="34" charset="-120"/>
              </a:rPr>
              <a:t>Tests</a:t>
            </a:r>
            <a:endParaRPr lang="en-US" sz="1100" dirty="0"/>
          </a:p>
        </p:txBody>
      </p:sp>
      <p:sp>
        <p:nvSpPr>
          <p:cNvPr id="26" name="Text 23"/>
          <p:cNvSpPr/>
          <p:nvPr/>
        </p:nvSpPr>
        <p:spPr>
          <a:xfrm>
            <a:off x="5257800" y="2834640"/>
            <a:ext cx="1463040" cy="502920"/>
          </a:xfrm>
          <a:prstGeom prst="rect">
            <a:avLst/>
          </a:prstGeom>
          <a:noFill/>
          <a:ln/>
        </p:spPr>
        <p:txBody>
          <a:bodyPr wrap="square" rtlCol="0" anchor="ctr"/>
          <a:lstStyle/>
          <a:p>
            <a:pPr marL="0" indent="0" algn="ctr">
              <a:buNone/>
            </a:pPr>
            <a:r>
              <a:rPr lang="en-US" sz="900" dirty="0">
                <a:solidFill>
                  <a:srgbClr val="334455"/>
                </a:solidFill>
                <a:latin typeface="Times New Roman" pitchFamily="34" charset="0"/>
                <a:ea typeface="Times New Roman" pitchFamily="34" charset="-122"/>
                <a:cs typeface="Times New Roman" pitchFamily="34" charset="-120"/>
              </a:rPr>
              <a:t>Validation fonctionnelle &amp; sécurité</a:t>
            </a:r>
            <a:endParaRPr lang="en-US" sz="900" dirty="0"/>
          </a:p>
        </p:txBody>
      </p:sp>
      <p:sp>
        <p:nvSpPr>
          <p:cNvPr id="27" name="Shape 24"/>
          <p:cNvSpPr/>
          <p:nvPr/>
        </p:nvSpPr>
        <p:spPr>
          <a:xfrm>
            <a:off x="6492240" y="1920240"/>
            <a:ext cx="731520" cy="0"/>
          </a:xfrm>
          <a:prstGeom prst="line">
            <a:avLst/>
          </a:prstGeom>
          <a:noFill/>
          <a:ln w="25400">
            <a:solidFill>
              <a:srgbClr val="1B2A4A"/>
            </a:solidFill>
            <a:prstDash val="solid"/>
          </a:ln>
        </p:spPr>
        <p:txBody>
          <a:bodyPr/>
          <a:lstStyle/>
          <a:p>
            <a:endParaRPr lang="fr-CM"/>
          </a:p>
        </p:txBody>
      </p:sp>
      <p:sp>
        <p:nvSpPr>
          <p:cNvPr id="29" name="Text 26"/>
          <p:cNvSpPr/>
          <p:nvPr/>
        </p:nvSpPr>
        <p:spPr>
          <a:xfrm>
            <a:off x="7223760" y="1417320"/>
            <a:ext cx="1005840" cy="1005840"/>
          </a:xfrm>
          <a:prstGeom prst="rect">
            <a:avLst/>
          </a:prstGeom>
          <a:noFill/>
          <a:ln/>
        </p:spPr>
        <p:txBody>
          <a:bodyPr wrap="square" lIns="0" tIns="0" rIns="0" bIns="0" rtlCol="0" anchor="ctr"/>
          <a:lstStyle/>
          <a:p>
            <a:pPr marL="0" indent="0" algn="ctr">
              <a:buNone/>
            </a:pPr>
            <a:r>
              <a:rPr lang="en-US" sz="2400" b="1" dirty="0">
                <a:solidFill>
                  <a:srgbClr val="1B2A4A"/>
                </a:solidFill>
                <a:latin typeface="Times New Roman" pitchFamily="34" charset="0"/>
                <a:cs typeface="Times New Roman" pitchFamily="34" charset="-120"/>
              </a:rPr>
              <a:t>6</a:t>
            </a:r>
            <a:endParaRPr lang="en-US" sz="2400" dirty="0"/>
          </a:p>
        </p:txBody>
      </p:sp>
      <p:sp>
        <p:nvSpPr>
          <p:cNvPr id="30" name="Text 27"/>
          <p:cNvSpPr/>
          <p:nvPr/>
        </p:nvSpPr>
        <p:spPr>
          <a:xfrm>
            <a:off x="7040880" y="2514600"/>
            <a:ext cx="1371600" cy="320040"/>
          </a:xfrm>
          <a:prstGeom prst="rect">
            <a:avLst/>
          </a:prstGeom>
          <a:noFill/>
          <a:ln/>
        </p:spPr>
        <p:txBody>
          <a:bodyPr wrap="square" rtlCol="0" anchor="ctr"/>
          <a:lstStyle/>
          <a:p>
            <a:pPr marL="0" indent="0" algn="ctr">
              <a:buNone/>
            </a:pPr>
            <a:r>
              <a:rPr lang="en-US" sz="1100" b="1" dirty="0">
                <a:solidFill>
                  <a:srgbClr val="1B2A4A"/>
                </a:solidFill>
                <a:latin typeface="Times New Roman" pitchFamily="34" charset="0"/>
                <a:ea typeface="Times New Roman" pitchFamily="34" charset="-122"/>
                <a:cs typeface="Times New Roman" pitchFamily="34" charset="-120"/>
              </a:rPr>
              <a:t>Déploiement</a:t>
            </a:r>
            <a:endParaRPr lang="en-US" sz="1100" dirty="0"/>
          </a:p>
        </p:txBody>
      </p:sp>
      <p:sp>
        <p:nvSpPr>
          <p:cNvPr id="31" name="Text 28"/>
          <p:cNvSpPr/>
          <p:nvPr/>
        </p:nvSpPr>
        <p:spPr>
          <a:xfrm>
            <a:off x="6995160" y="2834640"/>
            <a:ext cx="1463040" cy="502920"/>
          </a:xfrm>
          <a:prstGeom prst="rect">
            <a:avLst/>
          </a:prstGeom>
          <a:noFill/>
          <a:ln/>
        </p:spPr>
        <p:txBody>
          <a:bodyPr wrap="square" rtlCol="0" anchor="ctr"/>
          <a:lstStyle/>
          <a:p>
            <a:pPr marL="0" indent="0" algn="ctr">
              <a:buNone/>
            </a:pPr>
            <a:r>
              <a:rPr lang="en-US" sz="900" dirty="0">
                <a:solidFill>
                  <a:srgbClr val="334455"/>
                </a:solidFill>
                <a:latin typeface="Times New Roman" pitchFamily="34" charset="0"/>
                <a:ea typeface="Times New Roman" pitchFamily="34" charset="-122"/>
                <a:cs typeface="Times New Roman" pitchFamily="34" charset="-120"/>
              </a:rPr>
              <a:t>Mise en production &amp; audit</a:t>
            </a:r>
            <a:endParaRPr lang="en-US" sz="900" dirty="0"/>
          </a:p>
        </p:txBody>
      </p:sp>
      <p:sp>
        <p:nvSpPr>
          <p:cNvPr id="33" name="Text 30"/>
          <p:cNvSpPr/>
          <p:nvPr/>
        </p:nvSpPr>
        <p:spPr>
          <a:xfrm>
            <a:off x="1783080" y="1143000"/>
            <a:ext cx="1371600" cy="274320"/>
          </a:xfrm>
          <a:prstGeom prst="rect">
            <a:avLst/>
          </a:prstGeom>
          <a:noFill/>
          <a:ln/>
        </p:spPr>
        <p:txBody>
          <a:bodyPr wrap="square" rtlCol="0" anchor="ctr"/>
          <a:lstStyle/>
          <a:p>
            <a:pPr marL="0" indent="0" algn="ctr">
              <a:buNone/>
            </a:pPr>
            <a:r>
              <a:rPr lang="en-US" sz="750" b="1" dirty="0">
                <a:solidFill>
                  <a:schemeClr val="accent6">
                    <a:lumMod val="75000"/>
                  </a:schemeClr>
                </a:solidFill>
                <a:latin typeface="Times New Roman" pitchFamily="34" charset="0"/>
                <a:ea typeface="Times New Roman" pitchFamily="34" charset="-122"/>
                <a:cs typeface="Times New Roman" pitchFamily="34" charset="-120"/>
              </a:rPr>
              <a:t>PHASE ACTUELLE</a:t>
            </a:r>
            <a:endParaRPr lang="en-US" sz="750" dirty="0">
              <a:solidFill>
                <a:schemeClr val="accent6">
                  <a:lumMod val="75000"/>
                </a:schemeClr>
              </a:solidFill>
            </a:endParaRPr>
          </a:p>
        </p:txBody>
      </p:sp>
      <p:sp>
        <p:nvSpPr>
          <p:cNvPr id="34" name="Shape 31"/>
          <p:cNvSpPr/>
          <p:nvPr/>
        </p:nvSpPr>
        <p:spPr>
          <a:xfrm>
            <a:off x="274320" y="3474720"/>
            <a:ext cx="8595360" cy="1463040"/>
          </a:xfrm>
          <a:prstGeom prst="rect">
            <a:avLst/>
          </a:prstGeom>
          <a:solidFill>
            <a:schemeClr val="accent4">
              <a:lumMod val="20000"/>
              <a:lumOff val="80000"/>
            </a:schemeClr>
          </a:solidFill>
          <a:ln w="12700">
            <a:solidFill>
              <a:srgbClr val="FF0000"/>
            </a:solidFill>
            <a:prstDash val="solid"/>
          </a:ln>
        </p:spPr>
        <p:txBody>
          <a:bodyPr/>
          <a:lstStyle/>
          <a:p>
            <a:endParaRPr lang="fr-CM" dirty="0"/>
          </a:p>
        </p:txBody>
      </p:sp>
      <p:sp>
        <p:nvSpPr>
          <p:cNvPr id="35" name="Text 32"/>
          <p:cNvSpPr/>
          <p:nvPr/>
        </p:nvSpPr>
        <p:spPr>
          <a:xfrm>
            <a:off x="457200" y="3547872"/>
            <a:ext cx="8229600" cy="320040"/>
          </a:xfrm>
          <a:prstGeom prst="rect">
            <a:avLst/>
          </a:prstGeom>
          <a:noFill/>
          <a:ln/>
        </p:spPr>
        <p:txBody>
          <a:bodyPr wrap="square" rtlCol="0" anchor="ctr"/>
          <a:lstStyle/>
          <a:p>
            <a:pPr marL="0" indent="0">
              <a:buNone/>
            </a:pPr>
            <a:r>
              <a:rPr lang="en-US" sz="1300" b="1" dirty="0">
                <a:solidFill>
                  <a:schemeClr val="accent6">
                    <a:lumMod val="75000"/>
                  </a:schemeClr>
                </a:solidFill>
                <a:latin typeface="Times New Roman" pitchFamily="34" charset="0"/>
                <a:ea typeface="Times New Roman" pitchFamily="34" charset="-122"/>
                <a:cs typeface="Times New Roman" pitchFamily="34" charset="-120"/>
              </a:rPr>
              <a:t>Outils &amp; Méthodes de Modélisation</a:t>
            </a:r>
            <a:endParaRPr lang="en-US" sz="1300" dirty="0">
              <a:solidFill>
                <a:schemeClr val="accent6">
                  <a:lumMod val="75000"/>
                </a:schemeClr>
              </a:solidFill>
            </a:endParaRPr>
          </a:p>
        </p:txBody>
      </p:sp>
      <p:sp>
        <p:nvSpPr>
          <p:cNvPr id="36" name="Text 33"/>
          <p:cNvSpPr/>
          <p:nvPr/>
        </p:nvSpPr>
        <p:spPr>
          <a:xfrm>
            <a:off x="457200" y="3913632"/>
            <a:ext cx="4114800" cy="274320"/>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UML 2.x (diagrammes de classes &amp; séquences)</a:t>
            </a:r>
            <a:endParaRPr lang="en-US" sz="1000" dirty="0"/>
          </a:p>
        </p:txBody>
      </p:sp>
      <p:sp>
        <p:nvSpPr>
          <p:cNvPr id="37" name="Text 34"/>
          <p:cNvSpPr/>
          <p:nvPr/>
        </p:nvSpPr>
        <p:spPr>
          <a:xfrm>
            <a:off x="457200" y="4224528"/>
            <a:ext cx="4114800" cy="274320"/>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PowerAMC / Draw.io / StarUML pour la modélisation</a:t>
            </a:r>
            <a:endParaRPr lang="en-US" sz="1000" dirty="0"/>
          </a:p>
        </p:txBody>
      </p:sp>
      <p:sp>
        <p:nvSpPr>
          <p:cNvPr id="38" name="Text 35"/>
          <p:cNvSpPr/>
          <p:nvPr/>
        </p:nvSpPr>
        <p:spPr>
          <a:xfrm>
            <a:off x="457200" y="4535424"/>
            <a:ext cx="4114800" cy="274320"/>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Architecture MVC (Model-View-Controller)</a:t>
            </a:r>
            <a:endParaRPr lang="en-US" sz="1000" dirty="0"/>
          </a:p>
        </p:txBody>
      </p:sp>
      <p:sp>
        <p:nvSpPr>
          <p:cNvPr id="39" name="Text 36"/>
          <p:cNvSpPr/>
          <p:nvPr/>
        </p:nvSpPr>
        <p:spPr>
          <a:xfrm>
            <a:off x="4754880" y="3913632"/>
            <a:ext cx="4114800" cy="274320"/>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Pattern Repository pour la couche données</a:t>
            </a:r>
            <a:endParaRPr lang="en-US" sz="1000" dirty="0"/>
          </a:p>
        </p:txBody>
      </p:sp>
      <p:sp>
        <p:nvSpPr>
          <p:cNvPr id="40" name="Text 37"/>
          <p:cNvSpPr/>
          <p:nvPr/>
        </p:nvSpPr>
        <p:spPr>
          <a:xfrm>
            <a:off x="4754880" y="4224528"/>
            <a:ext cx="4114800" cy="274320"/>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Principe SOLID appliqué aux classes métiers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109728" y="0"/>
            <a:ext cx="9034272" cy="914400"/>
          </a:xfrm>
          <a:prstGeom prst="rect">
            <a:avLst/>
          </a:prstGeom>
          <a:solidFill>
            <a:schemeClr val="accent1">
              <a:lumMod val="60000"/>
              <a:lumOff val="40000"/>
            </a:schemeClr>
          </a:solidFill>
          <a:ln w="12700">
            <a:solidFill>
              <a:srgbClr val="243558"/>
            </a:solidFill>
            <a:prstDash val="solid"/>
          </a:ln>
        </p:spPr>
        <p:txBody>
          <a:bodyPr/>
          <a:lstStyle/>
          <a:p>
            <a:endParaRPr lang="fr-CM"/>
          </a:p>
        </p:txBody>
      </p:sp>
      <p:sp>
        <p:nvSpPr>
          <p:cNvPr id="5" name="Text 3"/>
          <p:cNvSpPr/>
          <p:nvPr/>
        </p:nvSpPr>
        <p:spPr>
          <a:xfrm>
            <a:off x="914400" y="91440"/>
            <a:ext cx="7315200" cy="713232"/>
          </a:xfrm>
          <a:prstGeom prst="rect">
            <a:avLst/>
          </a:prstGeom>
          <a:noFill/>
          <a:ln/>
        </p:spPr>
        <p:txBody>
          <a:bodyPr wrap="square" rtlCol="0" anchor="ctr"/>
          <a:lstStyle/>
          <a:p>
            <a:pPr marL="0" indent="0">
              <a:buNone/>
            </a:pPr>
            <a:r>
              <a:rPr lang="en-US" sz="2200" b="1" dirty="0">
                <a:latin typeface="Times New Roman" pitchFamily="34" charset="0"/>
                <a:ea typeface="Times New Roman" pitchFamily="34" charset="-122"/>
                <a:cs typeface="Times New Roman" pitchFamily="34" charset="-120"/>
              </a:rPr>
              <a:t>02 · Architecture Globale – MVC 3-Tiers</a:t>
            </a:r>
            <a:endParaRPr lang="en-US" sz="2200" dirty="0"/>
          </a:p>
        </p:txBody>
      </p:sp>
      <p:sp>
        <p:nvSpPr>
          <p:cNvPr id="7" name="Shape 4"/>
          <p:cNvSpPr/>
          <p:nvPr/>
        </p:nvSpPr>
        <p:spPr>
          <a:xfrm>
            <a:off x="228600" y="1005840"/>
            <a:ext cx="2743200" cy="3886200"/>
          </a:xfrm>
          <a:prstGeom prst="rect">
            <a:avLst/>
          </a:prstGeom>
          <a:noFill/>
          <a:ln w="25400">
            <a:solidFill>
              <a:schemeClr val="accent6">
                <a:lumMod val="75000"/>
              </a:schemeClr>
            </a:solidFill>
            <a:prstDash val="solid"/>
          </a:ln>
          <a:effectLst>
            <a:outerShdw blurRad="101600" dist="38100" dir="8100000" algn="bl" rotWithShape="0">
              <a:srgbClr val="000000">
                <a:alpha val="18000"/>
              </a:srgbClr>
            </a:outerShdw>
          </a:effectLst>
        </p:spPr>
        <p:txBody>
          <a:bodyPr/>
          <a:lstStyle/>
          <a:p>
            <a:endParaRPr lang="fr-CM"/>
          </a:p>
        </p:txBody>
      </p:sp>
      <p:sp>
        <p:nvSpPr>
          <p:cNvPr id="8" name="Shape 5"/>
          <p:cNvSpPr/>
          <p:nvPr/>
        </p:nvSpPr>
        <p:spPr>
          <a:xfrm>
            <a:off x="228600" y="1005840"/>
            <a:ext cx="2743200" cy="640080"/>
          </a:xfrm>
          <a:prstGeom prst="rect">
            <a:avLst/>
          </a:prstGeom>
          <a:solidFill>
            <a:schemeClr val="accent6">
              <a:lumMod val="75000"/>
            </a:schemeClr>
          </a:solidFill>
          <a:ln w="12700">
            <a:solidFill>
              <a:schemeClr val="accent6">
                <a:lumMod val="75000"/>
              </a:schemeClr>
            </a:solidFill>
            <a:prstDash val="solid"/>
          </a:ln>
        </p:spPr>
        <p:txBody>
          <a:bodyPr/>
          <a:lstStyle/>
          <a:p>
            <a:endParaRPr lang="fr-CM"/>
          </a:p>
        </p:txBody>
      </p:sp>
      <p:sp>
        <p:nvSpPr>
          <p:cNvPr id="10" name="Text 6"/>
          <p:cNvSpPr/>
          <p:nvPr/>
        </p:nvSpPr>
        <p:spPr>
          <a:xfrm>
            <a:off x="777240" y="1005840"/>
            <a:ext cx="2148840" cy="347472"/>
          </a:xfrm>
          <a:prstGeom prst="rect">
            <a:avLst/>
          </a:prstGeom>
          <a:noFill/>
          <a:ln/>
        </p:spPr>
        <p:txBody>
          <a:bodyPr wrap="square" lIns="0" tIns="0" rIns="0" bIns="0" rtlCol="0" anchor="ctr"/>
          <a:lstStyle/>
          <a:p>
            <a:pPr marL="0" indent="0">
              <a:buNone/>
            </a:pPr>
            <a:r>
              <a:rPr lang="en-US" sz="800" b="1" dirty="0">
                <a:solidFill>
                  <a:srgbClr val="1B2A4A"/>
                </a:solidFill>
                <a:latin typeface="Times New Roman" pitchFamily="34" charset="0"/>
                <a:ea typeface="Times New Roman" pitchFamily="34" charset="-122"/>
                <a:cs typeface="Times New Roman" pitchFamily="34" charset="-120"/>
              </a:rPr>
              <a:t>COUCHE PRÉSENTATION</a:t>
            </a:r>
            <a:endParaRPr lang="en-US" sz="800" dirty="0"/>
          </a:p>
        </p:txBody>
      </p:sp>
      <p:sp>
        <p:nvSpPr>
          <p:cNvPr id="11" name="Text 7"/>
          <p:cNvSpPr/>
          <p:nvPr/>
        </p:nvSpPr>
        <p:spPr>
          <a:xfrm>
            <a:off x="777240" y="1353312"/>
            <a:ext cx="2148840" cy="274320"/>
          </a:xfrm>
          <a:prstGeom prst="rect">
            <a:avLst/>
          </a:prstGeom>
          <a:noFill/>
          <a:ln/>
        </p:spPr>
        <p:txBody>
          <a:bodyPr wrap="square" lIns="0" tIns="0" rIns="0" bIns="0" rtlCol="0" anchor="ctr"/>
          <a:lstStyle/>
          <a:p>
            <a:pPr marL="0" indent="0">
              <a:buNone/>
            </a:pPr>
            <a:r>
              <a:rPr lang="en-US" sz="900" dirty="0">
                <a:solidFill>
                  <a:srgbClr val="1B2A4A"/>
                </a:solidFill>
                <a:latin typeface="Times New Roman" pitchFamily="34" charset="0"/>
                <a:ea typeface="Times New Roman" pitchFamily="34" charset="-122"/>
                <a:cs typeface="Times New Roman" pitchFamily="34" charset="-120"/>
              </a:rPr>
              <a:t>Frontend Web</a:t>
            </a:r>
            <a:endParaRPr lang="en-US" sz="900" dirty="0"/>
          </a:p>
        </p:txBody>
      </p:sp>
      <p:sp>
        <p:nvSpPr>
          <p:cNvPr id="13" name="Text 9"/>
          <p:cNvSpPr/>
          <p:nvPr/>
        </p:nvSpPr>
        <p:spPr>
          <a:xfrm>
            <a:off x="411480" y="1801368"/>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Interface HTML/CSS/JS</a:t>
            </a:r>
            <a:endParaRPr lang="en-US" sz="1000" dirty="0"/>
          </a:p>
        </p:txBody>
      </p:sp>
      <p:sp>
        <p:nvSpPr>
          <p:cNvPr id="15" name="Text 11"/>
          <p:cNvSpPr/>
          <p:nvPr/>
        </p:nvSpPr>
        <p:spPr>
          <a:xfrm>
            <a:off x="411480" y="2459736"/>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Dashboard temps réel</a:t>
            </a:r>
            <a:endParaRPr lang="en-US" sz="1000" dirty="0"/>
          </a:p>
        </p:txBody>
      </p:sp>
      <p:sp>
        <p:nvSpPr>
          <p:cNvPr id="17" name="Text 13"/>
          <p:cNvSpPr/>
          <p:nvPr/>
        </p:nvSpPr>
        <p:spPr>
          <a:xfrm>
            <a:off x="411480" y="3118104"/>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Formulaires sécurisés</a:t>
            </a:r>
            <a:endParaRPr lang="en-US" sz="1000" dirty="0"/>
          </a:p>
        </p:txBody>
      </p:sp>
      <p:sp>
        <p:nvSpPr>
          <p:cNvPr id="19" name="Text 15"/>
          <p:cNvSpPr/>
          <p:nvPr/>
        </p:nvSpPr>
        <p:spPr>
          <a:xfrm>
            <a:off x="411480" y="3776472"/>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Alertes visuelles</a:t>
            </a:r>
            <a:endParaRPr lang="en-US" sz="1000" dirty="0"/>
          </a:p>
        </p:txBody>
      </p:sp>
      <p:sp>
        <p:nvSpPr>
          <p:cNvPr id="21" name="Text 17"/>
          <p:cNvSpPr/>
          <p:nvPr/>
        </p:nvSpPr>
        <p:spPr>
          <a:xfrm>
            <a:off x="2961842" y="2779525"/>
            <a:ext cx="228600" cy="274320"/>
          </a:xfrm>
          <a:prstGeom prst="rect">
            <a:avLst/>
          </a:prstGeom>
          <a:noFill/>
          <a:ln/>
        </p:spPr>
        <p:txBody>
          <a:bodyPr wrap="square" rtlCol="0" anchor="ctr"/>
          <a:lstStyle/>
          <a:p>
            <a:pPr marL="0" indent="0" algn="ctr">
              <a:buNone/>
            </a:pPr>
            <a:r>
              <a:rPr lang="en-US" sz="1400" dirty="0">
                <a:solidFill>
                  <a:srgbClr val="C9A84C"/>
                </a:solidFill>
                <a:latin typeface="Times New Roman" pitchFamily="34" charset="0"/>
                <a:ea typeface="Times New Roman" pitchFamily="34" charset="-122"/>
                <a:cs typeface="Times New Roman" pitchFamily="34" charset="-120"/>
              </a:rPr>
              <a:t>⇄</a:t>
            </a:r>
            <a:endParaRPr lang="en-US" sz="1400" dirty="0"/>
          </a:p>
        </p:txBody>
      </p:sp>
      <p:sp>
        <p:nvSpPr>
          <p:cNvPr id="22" name="Shape 18"/>
          <p:cNvSpPr/>
          <p:nvPr/>
        </p:nvSpPr>
        <p:spPr>
          <a:xfrm>
            <a:off x="3200400" y="1005840"/>
            <a:ext cx="2743200" cy="3886200"/>
          </a:xfrm>
          <a:prstGeom prst="rect">
            <a:avLst/>
          </a:prstGeom>
          <a:noFill/>
          <a:ln w="25400">
            <a:solidFill>
              <a:srgbClr val="FF0000"/>
            </a:solidFill>
            <a:prstDash val="solid"/>
          </a:ln>
          <a:effectLst>
            <a:outerShdw blurRad="101600" dist="38100" dir="8100000" algn="bl" rotWithShape="0">
              <a:srgbClr val="000000">
                <a:alpha val="18000"/>
              </a:srgbClr>
            </a:outerShdw>
          </a:effectLst>
        </p:spPr>
        <p:txBody>
          <a:bodyPr/>
          <a:lstStyle/>
          <a:p>
            <a:endParaRPr lang="fr-CM"/>
          </a:p>
        </p:txBody>
      </p:sp>
      <p:sp>
        <p:nvSpPr>
          <p:cNvPr id="23" name="Shape 19"/>
          <p:cNvSpPr/>
          <p:nvPr/>
        </p:nvSpPr>
        <p:spPr>
          <a:xfrm>
            <a:off x="3200400" y="1005840"/>
            <a:ext cx="2743200" cy="640080"/>
          </a:xfrm>
          <a:prstGeom prst="rect">
            <a:avLst/>
          </a:prstGeom>
          <a:solidFill>
            <a:srgbClr val="FF0000"/>
          </a:solidFill>
          <a:ln w="12700">
            <a:solidFill>
              <a:srgbClr val="FF0000"/>
            </a:solidFill>
            <a:prstDash val="solid"/>
          </a:ln>
        </p:spPr>
        <p:txBody>
          <a:bodyPr/>
          <a:lstStyle/>
          <a:p>
            <a:endParaRPr lang="fr-CM"/>
          </a:p>
        </p:txBody>
      </p:sp>
      <p:sp>
        <p:nvSpPr>
          <p:cNvPr id="25" name="Text 20"/>
          <p:cNvSpPr/>
          <p:nvPr/>
        </p:nvSpPr>
        <p:spPr>
          <a:xfrm>
            <a:off x="3749040" y="1005840"/>
            <a:ext cx="2148840" cy="347472"/>
          </a:xfrm>
          <a:prstGeom prst="rect">
            <a:avLst/>
          </a:prstGeom>
          <a:noFill/>
          <a:ln/>
        </p:spPr>
        <p:txBody>
          <a:bodyPr wrap="square" lIns="0" tIns="0" rIns="0" bIns="0" rtlCol="0" anchor="ctr"/>
          <a:lstStyle/>
          <a:p>
            <a:pPr marL="0" indent="0">
              <a:buNone/>
            </a:pPr>
            <a:r>
              <a:rPr lang="en-US" sz="800" b="1" dirty="0">
                <a:solidFill>
                  <a:srgbClr val="1B2A4A"/>
                </a:solidFill>
                <a:latin typeface="Times New Roman" pitchFamily="34" charset="0"/>
                <a:ea typeface="Times New Roman" pitchFamily="34" charset="-122"/>
                <a:cs typeface="Times New Roman" pitchFamily="34" charset="-120"/>
              </a:rPr>
              <a:t>COUCHE LOGIQUE MÉTIER</a:t>
            </a:r>
            <a:endParaRPr lang="en-US" sz="800" dirty="0"/>
          </a:p>
        </p:txBody>
      </p:sp>
      <p:sp>
        <p:nvSpPr>
          <p:cNvPr id="26" name="Text 21"/>
          <p:cNvSpPr/>
          <p:nvPr/>
        </p:nvSpPr>
        <p:spPr>
          <a:xfrm>
            <a:off x="3749040" y="1353312"/>
            <a:ext cx="2148840" cy="274320"/>
          </a:xfrm>
          <a:prstGeom prst="rect">
            <a:avLst/>
          </a:prstGeom>
          <a:noFill/>
          <a:ln/>
        </p:spPr>
        <p:txBody>
          <a:bodyPr wrap="square" lIns="0" tIns="0" rIns="0" bIns="0" rtlCol="0" anchor="ctr"/>
          <a:lstStyle/>
          <a:p>
            <a:pPr marL="0" indent="0">
              <a:buNone/>
            </a:pPr>
            <a:r>
              <a:rPr lang="en-US" sz="900" dirty="0">
                <a:solidFill>
                  <a:srgbClr val="1B2A4A"/>
                </a:solidFill>
                <a:latin typeface="Times New Roman" pitchFamily="34" charset="0"/>
                <a:ea typeface="Times New Roman" pitchFamily="34" charset="-122"/>
                <a:cs typeface="Times New Roman" pitchFamily="34" charset="-120"/>
              </a:rPr>
              <a:t>Backend (Python/Flask)</a:t>
            </a:r>
            <a:endParaRPr lang="en-US" sz="900" dirty="0"/>
          </a:p>
        </p:txBody>
      </p:sp>
      <p:sp>
        <p:nvSpPr>
          <p:cNvPr id="28" name="Text 23"/>
          <p:cNvSpPr/>
          <p:nvPr/>
        </p:nvSpPr>
        <p:spPr>
          <a:xfrm>
            <a:off x="3383280" y="1801368"/>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Contrôleurs REST API</a:t>
            </a:r>
            <a:endParaRPr lang="en-US" sz="1000" dirty="0"/>
          </a:p>
        </p:txBody>
      </p:sp>
      <p:sp>
        <p:nvSpPr>
          <p:cNvPr id="30" name="Text 25"/>
          <p:cNvSpPr/>
          <p:nvPr/>
        </p:nvSpPr>
        <p:spPr>
          <a:xfrm>
            <a:off x="3383280" y="2459736"/>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Service AppArmor Manager</a:t>
            </a:r>
            <a:endParaRPr lang="en-US" sz="1000" dirty="0"/>
          </a:p>
        </p:txBody>
      </p:sp>
      <p:sp>
        <p:nvSpPr>
          <p:cNvPr id="32" name="Text 27"/>
          <p:cNvSpPr/>
          <p:nvPr/>
        </p:nvSpPr>
        <p:spPr>
          <a:xfrm>
            <a:off x="3383280" y="3118104"/>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Service de détection</a:t>
            </a:r>
            <a:endParaRPr lang="en-US" sz="1000" dirty="0"/>
          </a:p>
        </p:txBody>
      </p:sp>
      <p:sp>
        <p:nvSpPr>
          <p:cNvPr id="34" name="Text 29"/>
          <p:cNvSpPr/>
          <p:nvPr/>
        </p:nvSpPr>
        <p:spPr>
          <a:xfrm>
            <a:off x="3383280" y="3776472"/>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Moteur de mitigation</a:t>
            </a:r>
            <a:endParaRPr lang="en-US" sz="1000" dirty="0"/>
          </a:p>
        </p:txBody>
      </p:sp>
      <p:sp>
        <p:nvSpPr>
          <p:cNvPr id="36" name="Text 31"/>
          <p:cNvSpPr/>
          <p:nvPr/>
        </p:nvSpPr>
        <p:spPr>
          <a:xfrm>
            <a:off x="5939028" y="2779525"/>
            <a:ext cx="228600" cy="274320"/>
          </a:xfrm>
          <a:prstGeom prst="rect">
            <a:avLst/>
          </a:prstGeom>
          <a:noFill/>
          <a:ln/>
        </p:spPr>
        <p:txBody>
          <a:bodyPr wrap="square" rtlCol="0" anchor="ctr"/>
          <a:lstStyle/>
          <a:p>
            <a:pPr marL="0" indent="0" algn="ctr">
              <a:buNone/>
            </a:pPr>
            <a:r>
              <a:rPr lang="en-US" sz="1400" dirty="0">
                <a:solidFill>
                  <a:srgbClr val="C9A84C"/>
                </a:solidFill>
                <a:latin typeface="Times New Roman" pitchFamily="34" charset="0"/>
                <a:ea typeface="Times New Roman" pitchFamily="34" charset="-122"/>
                <a:cs typeface="Times New Roman" pitchFamily="34" charset="-120"/>
              </a:rPr>
              <a:t>⇄</a:t>
            </a:r>
            <a:endParaRPr lang="en-US" sz="1400" dirty="0"/>
          </a:p>
        </p:txBody>
      </p:sp>
      <p:sp>
        <p:nvSpPr>
          <p:cNvPr id="37" name="Shape 32"/>
          <p:cNvSpPr/>
          <p:nvPr/>
        </p:nvSpPr>
        <p:spPr>
          <a:xfrm>
            <a:off x="6172200" y="1005840"/>
            <a:ext cx="2743200" cy="3886200"/>
          </a:xfrm>
          <a:prstGeom prst="rect">
            <a:avLst/>
          </a:prstGeom>
          <a:noFill/>
          <a:ln w="25400">
            <a:solidFill>
              <a:schemeClr val="accent4">
                <a:lumMod val="75000"/>
              </a:schemeClr>
            </a:solidFill>
            <a:prstDash val="solid"/>
          </a:ln>
          <a:effectLst>
            <a:outerShdw blurRad="101600" dist="38100" dir="8100000" algn="bl" rotWithShape="0">
              <a:srgbClr val="000000">
                <a:alpha val="18000"/>
              </a:srgbClr>
            </a:outerShdw>
          </a:effectLst>
        </p:spPr>
        <p:txBody>
          <a:bodyPr/>
          <a:lstStyle/>
          <a:p>
            <a:endParaRPr lang="fr-CM"/>
          </a:p>
        </p:txBody>
      </p:sp>
      <p:sp>
        <p:nvSpPr>
          <p:cNvPr id="38" name="Shape 33"/>
          <p:cNvSpPr/>
          <p:nvPr/>
        </p:nvSpPr>
        <p:spPr>
          <a:xfrm>
            <a:off x="6172200" y="1005840"/>
            <a:ext cx="2743200" cy="640080"/>
          </a:xfrm>
          <a:prstGeom prst="rect">
            <a:avLst/>
          </a:prstGeom>
          <a:solidFill>
            <a:schemeClr val="accent4">
              <a:lumMod val="75000"/>
            </a:schemeClr>
          </a:solidFill>
          <a:ln w="12700">
            <a:solidFill>
              <a:schemeClr val="accent4">
                <a:lumMod val="75000"/>
              </a:schemeClr>
            </a:solidFill>
            <a:prstDash val="solid"/>
          </a:ln>
        </p:spPr>
        <p:txBody>
          <a:bodyPr/>
          <a:lstStyle/>
          <a:p>
            <a:endParaRPr lang="fr-CM"/>
          </a:p>
        </p:txBody>
      </p:sp>
      <p:sp>
        <p:nvSpPr>
          <p:cNvPr id="40" name="Text 34"/>
          <p:cNvSpPr/>
          <p:nvPr/>
        </p:nvSpPr>
        <p:spPr>
          <a:xfrm>
            <a:off x="6720840" y="1005840"/>
            <a:ext cx="2148840" cy="347472"/>
          </a:xfrm>
          <a:prstGeom prst="rect">
            <a:avLst/>
          </a:prstGeom>
          <a:noFill/>
          <a:ln/>
        </p:spPr>
        <p:txBody>
          <a:bodyPr wrap="square" lIns="0" tIns="0" rIns="0" bIns="0" rtlCol="0" anchor="ctr"/>
          <a:lstStyle/>
          <a:p>
            <a:pPr marL="0" indent="0">
              <a:buNone/>
            </a:pPr>
            <a:r>
              <a:rPr lang="en-US" sz="800" b="1" dirty="0">
                <a:solidFill>
                  <a:srgbClr val="1B2A4A"/>
                </a:solidFill>
                <a:latin typeface="Times New Roman" pitchFamily="34" charset="0"/>
                <a:ea typeface="Times New Roman" pitchFamily="34" charset="-122"/>
                <a:cs typeface="Times New Roman" pitchFamily="34" charset="-120"/>
              </a:rPr>
              <a:t>COUCHE DONNÉES</a:t>
            </a:r>
            <a:endParaRPr lang="en-US" sz="800" dirty="0"/>
          </a:p>
        </p:txBody>
      </p:sp>
      <p:sp>
        <p:nvSpPr>
          <p:cNvPr id="41" name="Text 35"/>
          <p:cNvSpPr/>
          <p:nvPr/>
        </p:nvSpPr>
        <p:spPr>
          <a:xfrm>
            <a:off x="6720840" y="1353312"/>
            <a:ext cx="2148840" cy="274320"/>
          </a:xfrm>
          <a:prstGeom prst="rect">
            <a:avLst/>
          </a:prstGeom>
          <a:noFill/>
          <a:ln/>
        </p:spPr>
        <p:txBody>
          <a:bodyPr wrap="square" lIns="0" tIns="0" rIns="0" bIns="0" rtlCol="0" anchor="ctr"/>
          <a:lstStyle/>
          <a:p>
            <a:pPr marL="0" indent="0">
              <a:buNone/>
            </a:pPr>
            <a:r>
              <a:rPr lang="en-US" sz="900" dirty="0">
                <a:solidFill>
                  <a:srgbClr val="1B2A4A"/>
                </a:solidFill>
                <a:latin typeface="Times New Roman" pitchFamily="34" charset="0"/>
                <a:ea typeface="Times New Roman" pitchFamily="34" charset="-122"/>
                <a:cs typeface="Times New Roman" pitchFamily="34" charset="-120"/>
              </a:rPr>
              <a:t>Persistance &amp; Système</a:t>
            </a:r>
            <a:endParaRPr lang="en-US" sz="900" dirty="0"/>
          </a:p>
        </p:txBody>
      </p:sp>
      <p:sp>
        <p:nvSpPr>
          <p:cNvPr id="43" name="Text 37"/>
          <p:cNvSpPr/>
          <p:nvPr/>
        </p:nvSpPr>
        <p:spPr>
          <a:xfrm>
            <a:off x="6355080" y="1801368"/>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Base SQLite / MariaDB</a:t>
            </a:r>
            <a:endParaRPr lang="en-US" sz="1000" dirty="0"/>
          </a:p>
        </p:txBody>
      </p:sp>
      <p:sp>
        <p:nvSpPr>
          <p:cNvPr id="45" name="Text 39"/>
          <p:cNvSpPr/>
          <p:nvPr/>
        </p:nvSpPr>
        <p:spPr>
          <a:xfrm>
            <a:off x="6355080" y="2459736"/>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Logs AppArmor (syslog)</a:t>
            </a:r>
            <a:endParaRPr lang="en-US" sz="1000" dirty="0"/>
          </a:p>
        </p:txBody>
      </p:sp>
      <p:sp>
        <p:nvSpPr>
          <p:cNvPr id="47" name="Text 41"/>
          <p:cNvSpPr/>
          <p:nvPr/>
        </p:nvSpPr>
        <p:spPr>
          <a:xfrm>
            <a:off x="6355080" y="3118104"/>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Profils .conf AppArmor</a:t>
            </a:r>
            <a:endParaRPr lang="en-US" sz="1000" dirty="0"/>
          </a:p>
        </p:txBody>
      </p:sp>
      <p:sp>
        <p:nvSpPr>
          <p:cNvPr id="49" name="Text 43"/>
          <p:cNvSpPr/>
          <p:nvPr/>
        </p:nvSpPr>
        <p:spPr>
          <a:xfrm>
            <a:off x="6355080" y="3776472"/>
            <a:ext cx="2377440" cy="493776"/>
          </a:xfrm>
          <a:prstGeom prst="rect">
            <a:avLst/>
          </a:prstGeom>
          <a:noFill/>
          <a:ln/>
        </p:spPr>
        <p:txBody>
          <a:bodyPr wrap="square" rtlCol="0" anchor="ctr"/>
          <a:lstStyle/>
          <a:p>
            <a:pPr marL="0" indent="0">
              <a:buNone/>
            </a:pPr>
            <a:r>
              <a:rPr lang="en-US" sz="1000" dirty="0">
                <a:latin typeface="Times New Roman" pitchFamily="34" charset="0"/>
                <a:ea typeface="Times New Roman" pitchFamily="34" charset="-122"/>
                <a:cs typeface="Times New Roman" pitchFamily="34" charset="-120"/>
              </a:rPr>
              <a:t>• Système fichiers Ubuntu</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D22837A-CCE7-329D-5560-EAEA2A60287C}"/>
              </a:ext>
            </a:extLst>
          </p:cNvPr>
          <p:cNvPicPr>
            <a:picLocks noChangeAspect="1"/>
          </p:cNvPicPr>
          <p:nvPr/>
        </p:nvPicPr>
        <p:blipFill>
          <a:blip r:embed="rId2"/>
          <a:stretch>
            <a:fillRect/>
          </a:stretch>
        </p:blipFill>
        <p:spPr>
          <a:xfrm>
            <a:off x="1" y="0"/>
            <a:ext cx="9143999" cy="5143500"/>
          </a:xfrm>
          <a:prstGeom prst="rect">
            <a:avLst/>
          </a:prstGeom>
        </p:spPr>
      </p:pic>
    </p:spTree>
    <p:extLst>
      <p:ext uri="{BB962C8B-B14F-4D97-AF65-F5344CB8AC3E}">
        <p14:creationId xmlns:p14="http://schemas.microsoft.com/office/powerpoint/2010/main" val="3123486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3737A89C-EF4F-DE09-D06D-4F3185A030C5}"/>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781243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57D4A6F-0C1D-1964-864D-FFED79DE07B4}"/>
              </a:ext>
            </a:extLst>
          </p:cNvPr>
          <p:cNvPicPr>
            <a:picLocks noChangeAspect="1"/>
          </p:cNvPicPr>
          <p:nvPr/>
        </p:nvPicPr>
        <p:blipFill>
          <a:blip r:embed="rId2"/>
          <a:stretch>
            <a:fillRect/>
          </a:stretch>
        </p:blipFill>
        <p:spPr>
          <a:xfrm>
            <a:off x="0" y="0"/>
            <a:ext cx="9143999" cy="5143500"/>
          </a:xfrm>
          <a:prstGeom prst="rect">
            <a:avLst/>
          </a:prstGeom>
        </p:spPr>
      </p:pic>
    </p:spTree>
    <p:extLst>
      <p:ext uri="{BB962C8B-B14F-4D97-AF65-F5344CB8AC3E}">
        <p14:creationId xmlns:p14="http://schemas.microsoft.com/office/powerpoint/2010/main" val="1198194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109728" y="0"/>
            <a:ext cx="9034272" cy="914400"/>
          </a:xfrm>
          <a:prstGeom prst="rect">
            <a:avLst/>
          </a:prstGeom>
          <a:solidFill>
            <a:schemeClr val="accent6">
              <a:lumMod val="75000"/>
            </a:schemeClr>
          </a:solidFill>
          <a:ln w="12700">
            <a:solidFill>
              <a:schemeClr val="accent6">
                <a:lumMod val="75000"/>
              </a:schemeClr>
            </a:solidFill>
            <a:prstDash val="solid"/>
          </a:ln>
        </p:spPr>
        <p:txBody>
          <a:bodyPr/>
          <a:lstStyle/>
          <a:p>
            <a:endParaRPr lang="fr-CM"/>
          </a:p>
        </p:txBody>
      </p:sp>
      <p:sp>
        <p:nvSpPr>
          <p:cNvPr id="5" name="Text 3"/>
          <p:cNvSpPr/>
          <p:nvPr/>
        </p:nvSpPr>
        <p:spPr>
          <a:xfrm>
            <a:off x="914400" y="91440"/>
            <a:ext cx="7315200" cy="713232"/>
          </a:xfrm>
          <a:prstGeom prst="rect">
            <a:avLst/>
          </a:prstGeom>
          <a:noFill/>
          <a:ln/>
        </p:spPr>
        <p:txBody>
          <a:bodyPr wrap="square" rtlCol="0" anchor="ctr"/>
          <a:lstStyle/>
          <a:p>
            <a:pPr marL="0" indent="0">
              <a:buNone/>
            </a:pPr>
            <a:r>
              <a:rPr lang="en-US" sz="2200" b="1" dirty="0">
                <a:latin typeface="Times New Roman" pitchFamily="34" charset="0"/>
                <a:ea typeface="Times New Roman" pitchFamily="34" charset="-122"/>
                <a:cs typeface="Times New Roman" pitchFamily="34" charset="-120"/>
              </a:rPr>
              <a:t>04 · Description des Classes Métiers</a:t>
            </a:r>
            <a:endParaRPr lang="en-US" sz="2200" dirty="0"/>
          </a:p>
        </p:txBody>
      </p:sp>
      <p:sp>
        <p:nvSpPr>
          <p:cNvPr id="7" name="Shape 4"/>
          <p:cNvSpPr/>
          <p:nvPr/>
        </p:nvSpPr>
        <p:spPr>
          <a:xfrm>
            <a:off x="182880" y="1024128"/>
            <a:ext cx="4251960" cy="1828800"/>
          </a:xfrm>
          <a:prstGeom prst="rect">
            <a:avLst/>
          </a:prstGeom>
          <a:solidFill>
            <a:schemeClr val="bg1"/>
          </a:solidFill>
          <a:ln w="19050">
            <a:noFill/>
            <a:prstDash val="solid"/>
          </a:ln>
          <a:effectLst>
            <a:outerShdw blurRad="63500" dist="25400" dir="8100000" algn="bl" rotWithShape="0">
              <a:srgbClr val="000000">
                <a:alpha val="15000"/>
              </a:srgbClr>
            </a:outerShdw>
          </a:effectLst>
        </p:spPr>
        <p:txBody>
          <a:bodyPr/>
          <a:lstStyle/>
          <a:p>
            <a:endParaRPr lang="fr-CM"/>
          </a:p>
        </p:txBody>
      </p:sp>
      <p:sp>
        <p:nvSpPr>
          <p:cNvPr id="8" name="Shape 5"/>
          <p:cNvSpPr/>
          <p:nvPr/>
        </p:nvSpPr>
        <p:spPr>
          <a:xfrm>
            <a:off x="182880" y="1024128"/>
            <a:ext cx="4251960" cy="347472"/>
          </a:xfrm>
          <a:prstGeom prst="rect">
            <a:avLst/>
          </a:prstGeom>
          <a:solidFill>
            <a:srgbClr val="FF0000"/>
          </a:solidFill>
          <a:ln w="12700">
            <a:solidFill>
              <a:srgbClr val="FF0000"/>
            </a:solidFill>
            <a:prstDash val="solid"/>
          </a:ln>
        </p:spPr>
        <p:txBody>
          <a:bodyPr/>
          <a:lstStyle/>
          <a:p>
            <a:endParaRPr lang="fr-CM"/>
          </a:p>
        </p:txBody>
      </p:sp>
      <p:sp>
        <p:nvSpPr>
          <p:cNvPr id="9" name="Text 6"/>
          <p:cNvSpPr/>
          <p:nvPr/>
        </p:nvSpPr>
        <p:spPr>
          <a:xfrm>
            <a:off x="274320" y="1060704"/>
            <a:ext cx="4069080" cy="292608"/>
          </a:xfrm>
          <a:prstGeom prst="rect">
            <a:avLst/>
          </a:prstGeom>
          <a:noFill/>
          <a:ln/>
        </p:spPr>
        <p:txBody>
          <a:bodyPr wrap="square" lIns="0" tIns="0" rIns="0" bIns="0" rtlCol="0" anchor="ctr"/>
          <a:lstStyle/>
          <a:p>
            <a:pPr marL="0" indent="0">
              <a:buNone/>
            </a:pPr>
            <a:r>
              <a:rPr lang="en-US" sz="1200" b="1" dirty="0">
                <a:solidFill>
                  <a:srgbClr val="1B2A4A"/>
                </a:solidFill>
                <a:latin typeface="Times New Roman" pitchFamily="34" charset="0"/>
                <a:cs typeface="Times New Roman" pitchFamily="34" charset="-120"/>
              </a:rPr>
              <a:t>Admin</a:t>
            </a:r>
            <a:endParaRPr lang="en-US" sz="1200" dirty="0"/>
          </a:p>
        </p:txBody>
      </p:sp>
      <p:sp>
        <p:nvSpPr>
          <p:cNvPr id="10" name="Text 7"/>
          <p:cNvSpPr/>
          <p:nvPr/>
        </p:nvSpPr>
        <p:spPr>
          <a:xfrm>
            <a:off x="274320" y="1426464"/>
            <a:ext cx="4069080" cy="38404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Représente un compte admin ou auditeur. Gère l'authentification et les droits d'accès.</a:t>
            </a:r>
            <a:endParaRPr lang="en-US" sz="900" dirty="0"/>
          </a:p>
        </p:txBody>
      </p:sp>
      <p:sp>
        <p:nvSpPr>
          <p:cNvPr id="11" name="Text 8"/>
          <p:cNvSpPr/>
          <p:nvPr/>
        </p:nvSpPr>
        <p:spPr>
          <a:xfrm>
            <a:off x="274320" y="1828800"/>
            <a:ext cx="4069080" cy="30175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Attributs : id, login, motDePasse (bcrypt), role (ADMIN|AUDITEUR)</a:t>
            </a:r>
            <a:endParaRPr lang="en-US" sz="850" dirty="0"/>
          </a:p>
        </p:txBody>
      </p:sp>
      <p:sp>
        <p:nvSpPr>
          <p:cNvPr id="12" name="Text 9"/>
          <p:cNvSpPr/>
          <p:nvPr/>
        </p:nvSpPr>
        <p:spPr>
          <a:xfrm>
            <a:off x="274320" y="2148840"/>
            <a:ext cx="4069080" cy="30175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Méthodes : seConnecter(), getRole(), journaliser()</a:t>
            </a:r>
            <a:endParaRPr lang="en-US" sz="850" dirty="0"/>
          </a:p>
        </p:txBody>
      </p:sp>
      <p:sp>
        <p:nvSpPr>
          <p:cNvPr id="13" name="Text 10"/>
          <p:cNvSpPr/>
          <p:nvPr/>
        </p:nvSpPr>
        <p:spPr>
          <a:xfrm>
            <a:off x="274320" y="2468880"/>
            <a:ext cx="4069080" cy="274320"/>
          </a:xfrm>
          <a:prstGeom prst="rect">
            <a:avLst/>
          </a:prstGeom>
          <a:noFill/>
          <a:ln/>
        </p:spPr>
        <p:txBody>
          <a:bodyPr wrap="square" rtlCol="0" anchor="ctr"/>
          <a:lstStyle/>
          <a:p>
            <a:pPr marL="0" indent="0">
              <a:buNone/>
            </a:pPr>
            <a:r>
              <a:rPr lang="en-US" sz="850" b="1" dirty="0">
                <a:latin typeface="Times New Roman" pitchFamily="34" charset="0"/>
                <a:ea typeface="Times New Roman" pitchFamily="34" charset="-122"/>
                <a:cs typeface="Times New Roman" pitchFamily="34" charset="-120"/>
              </a:rPr>
              <a:t>Relations : un Utilisateur pour une Session</a:t>
            </a:r>
            <a:endParaRPr lang="en-US" sz="850" dirty="0"/>
          </a:p>
        </p:txBody>
      </p:sp>
      <p:sp>
        <p:nvSpPr>
          <p:cNvPr id="14" name="Shape 11"/>
          <p:cNvSpPr/>
          <p:nvPr/>
        </p:nvSpPr>
        <p:spPr>
          <a:xfrm>
            <a:off x="4617720" y="1024128"/>
            <a:ext cx="4251960" cy="1828800"/>
          </a:xfrm>
          <a:prstGeom prst="rect">
            <a:avLst/>
          </a:prstGeom>
          <a:solidFill>
            <a:schemeClr val="bg1"/>
          </a:solidFill>
          <a:ln w="19050">
            <a:noFill/>
            <a:prstDash val="solid"/>
          </a:ln>
          <a:effectLst>
            <a:outerShdw blurRad="63500" dist="25400" dir="8100000" algn="bl" rotWithShape="0">
              <a:srgbClr val="000000">
                <a:alpha val="15000"/>
              </a:srgbClr>
            </a:outerShdw>
          </a:effectLst>
        </p:spPr>
        <p:txBody>
          <a:bodyPr/>
          <a:lstStyle/>
          <a:p>
            <a:endParaRPr lang="fr-CM"/>
          </a:p>
        </p:txBody>
      </p:sp>
      <p:sp>
        <p:nvSpPr>
          <p:cNvPr id="15" name="Shape 12"/>
          <p:cNvSpPr/>
          <p:nvPr/>
        </p:nvSpPr>
        <p:spPr>
          <a:xfrm>
            <a:off x="4617720" y="1024128"/>
            <a:ext cx="4251960" cy="347472"/>
          </a:xfrm>
          <a:prstGeom prst="rect">
            <a:avLst/>
          </a:prstGeom>
          <a:solidFill>
            <a:srgbClr val="FF0000"/>
          </a:solidFill>
          <a:ln w="12700">
            <a:solidFill>
              <a:srgbClr val="FF0000"/>
            </a:solidFill>
            <a:prstDash val="solid"/>
          </a:ln>
        </p:spPr>
        <p:txBody>
          <a:bodyPr/>
          <a:lstStyle/>
          <a:p>
            <a:endParaRPr lang="fr-CM"/>
          </a:p>
        </p:txBody>
      </p:sp>
      <p:sp>
        <p:nvSpPr>
          <p:cNvPr id="16" name="Text 13"/>
          <p:cNvSpPr/>
          <p:nvPr/>
        </p:nvSpPr>
        <p:spPr>
          <a:xfrm>
            <a:off x="4709160" y="1060704"/>
            <a:ext cx="4069080" cy="292608"/>
          </a:xfrm>
          <a:prstGeom prst="rect">
            <a:avLst/>
          </a:prstGeom>
          <a:noFill/>
          <a:ln/>
        </p:spPr>
        <p:txBody>
          <a:bodyPr wrap="square" lIns="0" tIns="0" rIns="0" bIns="0" rtlCol="0" anchor="ctr"/>
          <a:lstStyle/>
          <a:p>
            <a:pPr marL="0" indent="0">
              <a:buNone/>
            </a:pPr>
            <a:r>
              <a:rPr lang="en-US" sz="1200" b="1" dirty="0">
                <a:solidFill>
                  <a:srgbClr val="1B2A4A"/>
                </a:solidFill>
                <a:latin typeface="Times New Roman" pitchFamily="34" charset="0"/>
                <a:ea typeface="Times New Roman" pitchFamily="34" charset="-122"/>
                <a:cs typeface="Times New Roman" pitchFamily="34" charset="-120"/>
              </a:rPr>
              <a:t>ProfilAppArmor</a:t>
            </a:r>
            <a:endParaRPr lang="en-US" sz="1200" dirty="0"/>
          </a:p>
        </p:txBody>
      </p:sp>
      <p:sp>
        <p:nvSpPr>
          <p:cNvPr id="17" name="Text 14"/>
          <p:cNvSpPr/>
          <p:nvPr/>
        </p:nvSpPr>
        <p:spPr>
          <a:xfrm>
            <a:off x="4709160" y="1426464"/>
            <a:ext cx="4069080" cy="38404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 </a:t>
            </a:r>
            <a:r>
              <a:rPr lang="en-US" sz="900" dirty="0" err="1">
                <a:latin typeface="Times New Roman" pitchFamily="34" charset="0"/>
                <a:ea typeface="Times New Roman" pitchFamily="34" charset="-122"/>
                <a:cs typeface="Times New Roman" pitchFamily="34" charset="-120"/>
              </a:rPr>
              <a:t>Cœur</a:t>
            </a:r>
            <a:r>
              <a:rPr lang="en-US" sz="900" dirty="0">
                <a:latin typeface="Times New Roman" pitchFamily="34" charset="0"/>
                <a:ea typeface="Times New Roman" pitchFamily="34" charset="-122"/>
                <a:cs typeface="Times New Roman" pitchFamily="34" charset="-120"/>
              </a:rPr>
              <a:t> du système. Encapsule un profil de sécurité AppArmor avec ses règles et son mode.</a:t>
            </a:r>
            <a:endParaRPr lang="en-US" sz="900" dirty="0"/>
          </a:p>
        </p:txBody>
      </p:sp>
      <p:sp>
        <p:nvSpPr>
          <p:cNvPr id="18" name="Text 15"/>
          <p:cNvSpPr/>
          <p:nvPr/>
        </p:nvSpPr>
        <p:spPr>
          <a:xfrm>
            <a:off x="4709160" y="1828800"/>
            <a:ext cx="4069080" cy="30175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Attributs : id, nom, mode (ENFORCE|COMPLAIN), contenu (texte du profil)</a:t>
            </a:r>
            <a:endParaRPr lang="en-US" sz="850" dirty="0"/>
          </a:p>
        </p:txBody>
      </p:sp>
      <p:sp>
        <p:nvSpPr>
          <p:cNvPr id="19" name="Text 16"/>
          <p:cNvSpPr/>
          <p:nvPr/>
        </p:nvSpPr>
        <p:spPr>
          <a:xfrm>
            <a:off x="4709160" y="2148840"/>
            <a:ext cx="4069080" cy="30175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Méthodes : activer(), desactiver(), basculerMode(), valider()</a:t>
            </a:r>
            <a:endParaRPr lang="en-US" sz="850" dirty="0"/>
          </a:p>
        </p:txBody>
      </p:sp>
      <p:sp>
        <p:nvSpPr>
          <p:cNvPr id="20" name="Text 17"/>
          <p:cNvSpPr/>
          <p:nvPr/>
        </p:nvSpPr>
        <p:spPr>
          <a:xfrm>
            <a:off x="4709160" y="2468880"/>
            <a:ext cx="4069080" cy="274320"/>
          </a:xfrm>
          <a:prstGeom prst="rect">
            <a:avLst/>
          </a:prstGeom>
          <a:noFill/>
          <a:ln/>
        </p:spPr>
        <p:txBody>
          <a:bodyPr wrap="square" rtlCol="0" anchor="ctr"/>
          <a:lstStyle/>
          <a:p>
            <a:pPr marL="0" indent="0">
              <a:buNone/>
            </a:pPr>
            <a:r>
              <a:rPr lang="en-US" sz="850" b="1" dirty="0">
                <a:latin typeface="Times New Roman" pitchFamily="34" charset="0"/>
                <a:ea typeface="Times New Roman" pitchFamily="34" charset="-122"/>
                <a:cs typeface="Times New Roman" pitchFamily="34" charset="-120"/>
              </a:rPr>
              <a:t>Relations : 1 ProfilAppArmor pour N Règles</a:t>
            </a:r>
            <a:endParaRPr lang="en-US" sz="850" dirty="0"/>
          </a:p>
        </p:txBody>
      </p:sp>
      <p:sp>
        <p:nvSpPr>
          <p:cNvPr id="21" name="Shape 18"/>
          <p:cNvSpPr/>
          <p:nvPr/>
        </p:nvSpPr>
        <p:spPr>
          <a:xfrm>
            <a:off x="182880" y="3017520"/>
            <a:ext cx="4251960" cy="1828800"/>
          </a:xfrm>
          <a:prstGeom prst="rect">
            <a:avLst/>
          </a:prstGeom>
          <a:solidFill>
            <a:schemeClr val="bg1"/>
          </a:solidFill>
          <a:ln w="19050">
            <a:noFill/>
            <a:prstDash val="solid"/>
          </a:ln>
          <a:effectLst>
            <a:outerShdw blurRad="63500" dist="25400" dir="8100000" algn="bl" rotWithShape="0">
              <a:srgbClr val="000000">
                <a:alpha val="15000"/>
              </a:srgbClr>
            </a:outerShdw>
          </a:effectLst>
        </p:spPr>
        <p:txBody>
          <a:bodyPr/>
          <a:lstStyle/>
          <a:p>
            <a:endParaRPr lang="fr-CM"/>
          </a:p>
        </p:txBody>
      </p:sp>
      <p:sp>
        <p:nvSpPr>
          <p:cNvPr id="22" name="Shape 19"/>
          <p:cNvSpPr/>
          <p:nvPr/>
        </p:nvSpPr>
        <p:spPr>
          <a:xfrm>
            <a:off x="182880" y="3017520"/>
            <a:ext cx="4251960" cy="347472"/>
          </a:xfrm>
          <a:prstGeom prst="rect">
            <a:avLst/>
          </a:prstGeom>
          <a:solidFill>
            <a:schemeClr val="accent4">
              <a:lumMod val="75000"/>
            </a:schemeClr>
          </a:solidFill>
          <a:ln w="12700">
            <a:solidFill>
              <a:schemeClr val="accent4">
                <a:lumMod val="75000"/>
              </a:schemeClr>
            </a:solidFill>
            <a:prstDash val="solid"/>
          </a:ln>
        </p:spPr>
        <p:txBody>
          <a:bodyPr/>
          <a:lstStyle/>
          <a:p>
            <a:endParaRPr lang="fr-CM"/>
          </a:p>
        </p:txBody>
      </p:sp>
      <p:sp>
        <p:nvSpPr>
          <p:cNvPr id="23" name="Text 20"/>
          <p:cNvSpPr/>
          <p:nvPr/>
        </p:nvSpPr>
        <p:spPr>
          <a:xfrm>
            <a:off x="274320" y="3054096"/>
            <a:ext cx="4069080" cy="292608"/>
          </a:xfrm>
          <a:prstGeom prst="rect">
            <a:avLst/>
          </a:prstGeom>
          <a:noFill/>
          <a:ln/>
        </p:spPr>
        <p:txBody>
          <a:bodyPr wrap="square" lIns="0" tIns="0" rIns="0" bIns="0" rtlCol="0" anchor="ctr"/>
          <a:lstStyle/>
          <a:p>
            <a:pPr marL="0" indent="0">
              <a:buNone/>
            </a:pPr>
            <a:r>
              <a:rPr lang="en-US" sz="1200" b="1" dirty="0">
                <a:solidFill>
                  <a:srgbClr val="1B2A4A"/>
                </a:solidFill>
                <a:latin typeface="Times New Roman" pitchFamily="34" charset="0"/>
                <a:ea typeface="Times New Roman" pitchFamily="34" charset="-122"/>
                <a:cs typeface="Times New Roman" pitchFamily="34" charset="-120"/>
              </a:rPr>
              <a:t>LogEvenement</a:t>
            </a:r>
            <a:endParaRPr lang="en-US" sz="1200" dirty="0"/>
          </a:p>
        </p:txBody>
      </p:sp>
      <p:sp>
        <p:nvSpPr>
          <p:cNvPr id="24" name="Text 21"/>
          <p:cNvSpPr/>
          <p:nvPr/>
        </p:nvSpPr>
        <p:spPr>
          <a:xfrm>
            <a:off x="274320" y="3419856"/>
            <a:ext cx="4069080" cy="38404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Rôle : Trace chaque action système ou violation détectée par AppArmor.</a:t>
            </a:r>
            <a:endParaRPr lang="en-US" sz="900" dirty="0"/>
          </a:p>
        </p:txBody>
      </p:sp>
      <p:sp>
        <p:nvSpPr>
          <p:cNvPr id="25" name="Text 22"/>
          <p:cNvSpPr/>
          <p:nvPr/>
        </p:nvSpPr>
        <p:spPr>
          <a:xfrm>
            <a:off x="274320" y="3822192"/>
            <a:ext cx="4069080" cy="30175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Attributs : id, timestamp, type (VIOLATION|INFO|ALERTE), detail, profil_id</a:t>
            </a:r>
            <a:endParaRPr lang="en-US" sz="850" dirty="0"/>
          </a:p>
        </p:txBody>
      </p:sp>
      <p:sp>
        <p:nvSpPr>
          <p:cNvPr id="26" name="Text 23"/>
          <p:cNvSpPr/>
          <p:nvPr/>
        </p:nvSpPr>
        <p:spPr>
          <a:xfrm>
            <a:off x="274320" y="4142232"/>
            <a:ext cx="4069080" cy="30175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Méthodes : filtrer(), exporter(), analyser()</a:t>
            </a:r>
            <a:endParaRPr lang="en-US" sz="850" dirty="0"/>
          </a:p>
        </p:txBody>
      </p:sp>
      <p:sp>
        <p:nvSpPr>
          <p:cNvPr id="27" name="Text 24"/>
          <p:cNvSpPr/>
          <p:nvPr/>
        </p:nvSpPr>
        <p:spPr>
          <a:xfrm>
            <a:off x="274320" y="4462272"/>
            <a:ext cx="4069080" cy="274320"/>
          </a:xfrm>
          <a:prstGeom prst="rect">
            <a:avLst/>
          </a:prstGeom>
          <a:noFill/>
          <a:ln/>
        </p:spPr>
        <p:txBody>
          <a:bodyPr wrap="square" rtlCol="0" anchor="ctr"/>
          <a:lstStyle/>
          <a:p>
            <a:pPr marL="0" indent="0">
              <a:buNone/>
            </a:pPr>
            <a:r>
              <a:rPr lang="en-US" sz="850" b="1" dirty="0">
                <a:latin typeface="Times New Roman" pitchFamily="34" charset="0"/>
                <a:ea typeface="Times New Roman" pitchFamily="34" charset="-122"/>
                <a:cs typeface="Times New Roman" pitchFamily="34" charset="-120"/>
              </a:rPr>
              <a:t>Relations : 1 Log peut générer 1 Alerte</a:t>
            </a:r>
            <a:endParaRPr lang="en-US" sz="850" dirty="0"/>
          </a:p>
        </p:txBody>
      </p:sp>
      <p:sp>
        <p:nvSpPr>
          <p:cNvPr id="28" name="Shape 25"/>
          <p:cNvSpPr/>
          <p:nvPr/>
        </p:nvSpPr>
        <p:spPr>
          <a:xfrm>
            <a:off x="4617720" y="3017520"/>
            <a:ext cx="4251960" cy="1828800"/>
          </a:xfrm>
          <a:prstGeom prst="rect">
            <a:avLst/>
          </a:prstGeom>
          <a:noFill/>
          <a:ln w="19050">
            <a:noFill/>
            <a:prstDash val="solid"/>
          </a:ln>
          <a:effectLst>
            <a:outerShdw blurRad="63500" dist="25400" dir="8100000" algn="bl" rotWithShape="0">
              <a:srgbClr val="000000">
                <a:alpha val="15000"/>
              </a:srgbClr>
            </a:outerShdw>
          </a:effectLst>
        </p:spPr>
        <p:txBody>
          <a:bodyPr/>
          <a:lstStyle/>
          <a:p>
            <a:endParaRPr lang="fr-CM"/>
          </a:p>
        </p:txBody>
      </p:sp>
      <p:sp>
        <p:nvSpPr>
          <p:cNvPr id="29" name="Shape 26"/>
          <p:cNvSpPr/>
          <p:nvPr/>
        </p:nvSpPr>
        <p:spPr>
          <a:xfrm>
            <a:off x="4617720" y="3017520"/>
            <a:ext cx="4251960" cy="347472"/>
          </a:xfrm>
          <a:prstGeom prst="rect">
            <a:avLst/>
          </a:prstGeom>
          <a:solidFill>
            <a:schemeClr val="accent4">
              <a:lumMod val="75000"/>
            </a:schemeClr>
          </a:solidFill>
          <a:ln w="12700">
            <a:solidFill>
              <a:schemeClr val="accent4">
                <a:lumMod val="75000"/>
              </a:schemeClr>
            </a:solidFill>
            <a:prstDash val="solid"/>
          </a:ln>
        </p:spPr>
        <p:txBody>
          <a:bodyPr/>
          <a:lstStyle/>
          <a:p>
            <a:endParaRPr lang="fr-CM"/>
          </a:p>
        </p:txBody>
      </p:sp>
      <p:sp>
        <p:nvSpPr>
          <p:cNvPr id="30" name="Text 27"/>
          <p:cNvSpPr/>
          <p:nvPr/>
        </p:nvSpPr>
        <p:spPr>
          <a:xfrm>
            <a:off x="4709160" y="3054096"/>
            <a:ext cx="4069080" cy="292608"/>
          </a:xfrm>
          <a:prstGeom prst="rect">
            <a:avLst/>
          </a:prstGeom>
          <a:noFill/>
          <a:ln/>
        </p:spPr>
        <p:txBody>
          <a:bodyPr wrap="square" lIns="0" tIns="0" rIns="0" bIns="0" rtlCol="0" anchor="ctr"/>
          <a:lstStyle/>
          <a:p>
            <a:pPr marL="0" indent="0">
              <a:buNone/>
            </a:pPr>
            <a:r>
              <a:rPr lang="en-US" sz="1200" b="1" dirty="0">
                <a:solidFill>
                  <a:srgbClr val="1B2A4A"/>
                </a:solidFill>
                <a:latin typeface="Times New Roman" pitchFamily="34" charset="0"/>
                <a:ea typeface="Times New Roman" pitchFamily="34" charset="-122"/>
                <a:cs typeface="Times New Roman" pitchFamily="34" charset="-120"/>
              </a:rPr>
              <a:t>Alerte &amp; Mitigation</a:t>
            </a:r>
            <a:endParaRPr lang="en-US" sz="1200" dirty="0"/>
          </a:p>
        </p:txBody>
      </p:sp>
      <p:sp>
        <p:nvSpPr>
          <p:cNvPr id="31" name="Text 28"/>
          <p:cNvSpPr/>
          <p:nvPr/>
        </p:nvSpPr>
        <p:spPr>
          <a:xfrm>
            <a:off x="4709160" y="3419856"/>
            <a:ext cx="4069080" cy="38404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Rôle : Alerte = notification de menace. Mitigation = réponse automatique ou manuelle.</a:t>
            </a:r>
            <a:endParaRPr lang="en-US" sz="900" dirty="0"/>
          </a:p>
        </p:txBody>
      </p:sp>
      <p:sp>
        <p:nvSpPr>
          <p:cNvPr id="32" name="Text 29"/>
          <p:cNvSpPr/>
          <p:nvPr/>
        </p:nvSpPr>
        <p:spPr>
          <a:xfrm>
            <a:off x="4709160" y="3822192"/>
            <a:ext cx="4069080" cy="30175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Attributs : gravite (CRITIQUE|HAUTE|BASSE), type d'action (BLOQUER|ISOLER)</a:t>
            </a:r>
            <a:endParaRPr lang="en-US" sz="850" dirty="0"/>
          </a:p>
        </p:txBody>
      </p:sp>
      <p:sp>
        <p:nvSpPr>
          <p:cNvPr id="33" name="Text 30"/>
          <p:cNvSpPr/>
          <p:nvPr/>
        </p:nvSpPr>
        <p:spPr>
          <a:xfrm>
            <a:off x="4709160" y="4142232"/>
            <a:ext cx="4069080" cy="30175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Méthodes : declencher(), acquitter(), executer(), rollback()</a:t>
            </a:r>
            <a:endParaRPr lang="en-US" sz="850" dirty="0"/>
          </a:p>
        </p:txBody>
      </p:sp>
      <p:sp>
        <p:nvSpPr>
          <p:cNvPr id="34" name="Text 31"/>
          <p:cNvSpPr/>
          <p:nvPr/>
        </p:nvSpPr>
        <p:spPr>
          <a:xfrm>
            <a:off x="4709160" y="4462272"/>
            <a:ext cx="4069080" cy="274320"/>
          </a:xfrm>
          <a:prstGeom prst="rect">
            <a:avLst/>
          </a:prstGeom>
          <a:noFill/>
          <a:ln/>
        </p:spPr>
        <p:txBody>
          <a:bodyPr wrap="square" rtlCol="0" anchor="ctr"/>
          <a:lstStyle/>
          <a:p>
            <a:pPr marL="0" indent="0">
              <a:buNone/>
            </a:pPr>
            <a:r>
              <a:rPr lang="en-US" sz="850" b="1" dirty="0">
                <a:latin typeface="Times New Roman" pitchFamily="34" charset="0"/>
                <a:ea typeface="Times New Roman" pitchFamily="34" charset="-122"/>
                <a:cs typeface="Times New Roman" pitchFamily="34" charset="-120"/>
              </a:rPr>
              <a:t>Relations : 1 Alerte pour 0..1 Mitigation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109728" y="0"/>
            <a:ext cx="9034272" cy="914400"/>
          </a:xfrm>
          <a:prstGeom prst="rect">
            <a:avLst/>
          </a:prstGeom>
          <a:solidFill>
            <a:schemeClr val="accent1">
              <a:lumMod val="60000"/>
              <a:lumOff val="40000"/>
            </a:schemeClr>
          </a:solidFill>
          <a:ln w="12700">
            <a:solidFill>
              <a:schemeClr val="accent1">
                <a:lumMod val="50000"/>
              </a:schemeClr>
            </a:solidFill>
            <a:prstDash val="solid"/>
          </a:ln>
        </p:spPr>
        <p:txBody>
          <a:bodyPr/>
          <a:lstStyle/>
          <a:p>
            <a:endParaRPr lang="fr-CM"/>
          </a:p>
        </p:txBody>
      </p:sp>
      <p:sp>
        <p:nvSpPr>
          <p:cNvPr id="5" name="Text 3"/>
          <p:cNvSpPr/>
          <p:nvPr/>
        </p:nvSpPr>
        <p:spPr>
          <a:xfrm>
            <a:off x="914400" y="91440"/>
            <a:ext cx="7315200" cy="713232"/>
          </a:xfrm>
          <a:prstGeom prst="rect">
            <a:avLst/>
          </a:prstGeom>
          <a:noFill/>
          <a:ln/>
        </p:spPr>
        <p:txBody>
          <a:bodyPr wrap="square" rtlCol="0" anchor="ctr"/>
          <a:lstStyle/>
          <a:p>
            <a:pPr marL="0" indent="0">
              <a:buNone/>
            </a:pPr>
            <a:r>
              <a:rPr lang="en-US" sz="2200" b="1" dirty="0">
                <a:latin typeface="Times New Roman" pitchFamily="34" charset="0"/>
                <a:ea typeface="Times New Roman" pitchFamily="34" charset="-122"/>
                <a:cs typeface="Times New Roman" pitchFamily="34" charset="-120"/>
              </a:rPr>
              <a:t>05 · Scénarios, Acteurs &amp; Contraintes</a:t>
            </a:r>
            <a:endParaRPr lang="en-US" sz="2200" dirty="0"/>
          </a:p>
        </p:txBody>
      </p:sp>
      <p:sp>
        <p:nvSpPr>
          <p:cNvPr id="7" name="Shape 4"/>
          <p:cNvSpPr/>
          <p:nvPr/>
        </p:nvSpPr>
        <p:spPr>
          <a:xfrm>
            <a:off x="182880" y="1024128"/>
            <a:ext cx="8778240" cy="1234440"/>
          </a:xfrm>
          <a:prstGeom prst="rect">
            <a:avLst/>
          </a:prstGeom>
          <a:noFill/>
          <a:ln w="19050">
            <a:noFill/>
            <a:prstDash val="solid"/>
          </a:ln>
        </p:spPr>
        <p:txBody>
          <a:bodyPr/>
          <a:lstStyle/>
          <a:p>
            <a:endParaRPr lang="fr-CM"/>
          </a:p>
        </p:txBody>
      </p:sp>
      <p:sp>
        <p:nvSpPr>
          <p:cNvPr id="8" name="Shape 5"/>
          <p:cNvSpPr/>
          <p:nvPr/>
        </p:nvSpPr>
        <p:spPr>
          <a:xfrm>
            <a:off x="201168" y="1033272"/>
            <a:ext cx="914400" cy="1225296"/>
          </a:xfrm>
          <a:prstGeom prst="rect">
            <a:avLst/>
          </a:prstGeom>
          <a:noFill/>
          <a:ln w="12700">
            <a:noFill/>
            <a:prstDash val="solid"/>
          </a:ln>
        </p:spPr>
        <p:txBody>
          <a:bodyPr/>
          <a:lstStyle/>
          <a:p>
            <a:endParaRPr lang="fr-CM"/>
          </a:p>
        </p:txBody>
      </p:sp>
      <p:sp>
        <p:nvSpPr>
          <p:cNvPr id="9" name="Text 6"/>
          <p:cNvSpPr/>
          <p:nvPr/>
        </p:nvSpPr>
        <p:spPr>
          <a:xfrm>
            <a:off x="182880" y="1389888"/>
            <a:ext cx="91440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Times New Roman" pitchFamily="34" charset="0"/>
                <a:ea typeface="Times New Roman" pitchFamily="34" charset="-122"/>
                <a:cs typeface="Times New Roman" pitchFamily="34" charset="-120"/>
              </a:rPr>
              <a:t>01</a:t>
            </a:r>
            <a:endParaRPr lang="en-US" sz="1100" dirty="0"/>
          </a:p>
        </p:txBody>
      </p:sp>
      <p:sp>
        <p:nvSpPr>
          <p:cNvPr id="10" name="Text 7"/>
          <p:cNvSpPr/>
          <p:nvPr/>
        </p:nvSpPr>
        <p:spPr>
          <a:xfrm>
            <a:off x="1188720" y="1069848"/>
            <a:ext cx="7589520" cy="274320"/>
          </a:xfrm>
          <a:prstGeom prst="rect">
            <a:avLst/>
          </a:prstGeom>
          <a:noFill/>
          <a:ln/>
        </p:spPr>
        <p:txBody>
          <a:bodyPr wrap="square" rtlCol="0" anchor="ctr"/>
          <a:lstStyle/>
          <a:p>
            <a:pPr marL="0" indent="0">
              <a:buNone/>
            </a:pPr>
            <a:r>
              <a:rPr lang="en-US" sz="1200" b="1" dirty="0">
                <a:latin typeface="Times New Roman" pitchFamily="34" charset="0"/>
                <a:ea typeface="Times New Roman" pitchFamily="34" charset="-122"/>
                <a:cs typeface="Times New Roman" pitchFamily="34" charset="-120"/>
              </a:rPr>
              <a:t>Gestion de profil AppArmor</a:t>
            </a:r>
            <a:endParaRPr lang="en-US" sz="1200" dirty="0"/>
          </a:p>
        </p:txBody>
      </p:sp>
      <p:sp>
        <p:nvSpPr>
          <p:cNvPr id="11" name="Text 8"/>
          <p:cNvSpPr/>
          <p:nvPr/>
        </p:nvSpPr>
        <p:spPr>
          <a:xfrm>
            <a:off x="1188720" y="1344168"/>
            <a:ext cx="7589520" cy="228600"/>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Objectif : Créer, modifier et appliquer un profil de sécurité au système Linux</a:t>
            </a:r>
            <a:endParaRPr lang="en-US" sz="900" dirty="0"/>
          </a:p>
        </p:txBody>
      </p:sp>
      <p:sp>
        <p:nvSpPr>
          <p:cNvPr id="12" name="Text 9"/>
          <p:cNvSpPr/>
          <p:nvPr/>
        </p:nvSpPr>
        <p:spPr>
          <a:xfrm>
            <a:off x="1188720" y="1572768"/>
            <a:ext cx="7589520" cy="20116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Acteurs : Administrateur, Système AppArmor (Ubuntu)</a:t>
            </a:r>
            <a:endParaRPr lang="en-US" sz="900" dirty="0"/>
          </a:p>
        </p:txBody>
      </p:sp>
      <p:sp>
        <p:nvSpPr>
          <p:cNvPr id="13" name="Text 10"/>
          <p:cNvSpPr/>
          <p:nvPr/>
        </p:nvSpPr>
        <p:spPr>
          <a:xfrm>
            <a:off x="1188720" y="1783080"/>
            <a:ext cx="7589520" cy="20116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Contrainte : Droits root requis. Profil syntaxiquement valide.</a:t>
            </a:r>
            <a:endParaRPr lang="en-US" sz="900" dirty="0"/>
          </a:p>
        </p:txBody>
      </p:sp>
      <p:sp>
        <p:nvSpPr>
          <p:cNvPr id="14" name="Text 11"/>
          <p:cNvSpPr/>
          <p:nvPr/>
        </p:nvSpPr>
        <p:spPr>
          <a:xfrm>
            <a:off x="1188720" y="1993392"/>
            <a:ext cx="7589520" cy="219456"/>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Étapes : 1. Admin accède à «Profils» → 2. Crée/édite le profil → 3. Choisit mode ENFORCE/COMPLAIN → 4. Système exécute aa-enforce → 5. Confirmation journalisée</a:t>
            </a:r>
            <a:endParaRPr lang="en-US" sz="850" dirty="0"/>
          </a:p>
        </p:txBody>
      </p:sp>
      <p:sp>
        <p:nvSpPr>
          <p:cNvPr id="15" name="Shape 12"/>
          <p:cNvSpPr/>
          <p:nvPr/>
        </p:nvSpPr>
        <p:spPr>
          <a:xfrm>
            <a:off x="182880" y="2377440"/>
            <a:ext cx="8778240" cy="1234440"/>
          </a:xfrm>
          <a:prstGeom prst="rect">
            <a:avLst/>
          </a:prstGeom>
          <a:noFill/>
          <a:ln w="19050">
            <a:noFill/>
            <a:prstDash val="solid"/>
          </a:ln>
        </p:spPr>
        <p:txBody>
          <a:bodyPr/>
          <a:lstStyle/>
          <a:p>
            <a:endParaRPr lang="fr-CM"/>
          </a:p>
        </p:txBody>
      </p:sp>
      <p:sp>
        <p:nvSpPr>
          <p:cNvPr id="16" name="Shape 13"/>
          <p:cNvSpPr/>
          <p:nvPr/>
        </p:nvSpPr>
        <p:spPr>
          <a:xfrm>
            <a:off x="182880" y="2377440"/>
            <a:ext cx="914400" cy="1234440"/>
          </a:xfrm>
          <a:prstGeom prst="rect">
            <a:avLst/>
          </a:prstGeom>
          <a:noFill/>
          <a:ln w="12700">
            <a:noFill/>
            <a:prstDash val="solid"/>
          </a:ln>
        </p:spPr>
        <p:txBody>
          <a:bodyPr/>
          <a:lstStyle/>
          <a:p>
            <a:endParaRPr lang="fr-CM"/>
          </a:p>
        </p:txBody>
      </p:sp>
      <p:sp>
        <p:nvSpPr>
          <p:cNvPr id="17" name="Text 14"/>
          <p:cNvSpPr/>
          <p:nvPr/>
        </p:nvSpPr>
        <p:spPr>
          <a:xfrm>
            <a:off x="182880" y="2743200"/>
            <a:ext cx="91440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Times New Roman" pitchFamily="34" charset="0"/>
                <a:ea typeface="Times New Roman" pitchFamily="34" charset="-122"/>
                <a:cs typeface="Times New Roman" pitchFamily="34" charset="-120"/>
              </a:rPr>
              <a:t>02</a:t>
            </a:r>
            <a:endParaRPr lang="en-US" sz="1100" dirty="0"/>
          </a:p>
        </p:txBody>
      </p:sp>
      <p:sp>
        <p:nvSpPr>
          <p:cNvPr id="18" name="Text 15"/>
          <p:cNvSpPr/>
          <p:nvPr/>
        </p:nvSpPr>
        <p:spPr>
          <a:xfrm>
            <a:off x="1188720" y="2423160"/>
            <a:ext cx="7589520" cy="274320"/>
          </a:xfrm>
          <a:prstGeom prst="rect">
            <a:avLst/>
          </a:prstGeom>
          <a:noFill/>
          <a:ln/>
        </p:spPr>
        <p:txBody>
          <a:bodyPr wrap="square" rtlCol="0" anchor="ctr"/>
          <a:lstStyle/>
          <a:p>
            <a:pPr marL="0" indent="0">
              <a:buNone/>
            </a:pPr>
            <a:r>
              <a:rPr lang="en-US" sz="1200" b="1" dirty="0">
                <a:latin typeface="Times New Roman" pitchFamily="34" charset="0"/>
                <a:ea typeface="Times New Roman" pitchFamily="34" charset="-122"/>
                <a:cs typeface="Times New Roman" pitchFamily="34" charset="-120"/>
              </a:rPr>
              <a:t>Détection &amp; Mitigation de menace</a:t>
            </a:r>
            <a:endParaRPr lang="en-US" sz="1200" dirty="0"/>
          </a:p>
        </p:txBody>
      </p:sp>
      <p:sp>
        <p:nvSpPr>
          <p:cNvPr id="19" name="Text 16"/>
          <p:cNvSpPr/>
          <p:nvPr/>
        </p:nvSpPr>
        <p:spPr>
          <a:xfrm>
            <a:off x="1188720" y="2697480"/>
            <a:ext cx="7589520" cy="228600"/>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Objectif : Détecter une violation AppArmor et déclencher une réponse automatique</a:t>
            </a:r>
            <a:endParaRPr lang="en-US" sz="900" dirty="0"/>
          </a:p>
        </p:txBody>
      </p:sp>
      <p:sp>
        <p:nvSpPr>
          <p:cNvPr id="20" name="Text 17"/>
          <p:cNvSpPr/>
          <p:nvPr/>
        </p:nvSpPr>
        <p:spPr>
          <a:xfrm>
            <a:off x="1188720" y="2926080"/>
            <a:ext cx="7589520" cy="20116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Acteurs : Système (auto), Administrateur, AppArmor Kernel Module</a:t>
            </a:r>
            <a:endParaRPr lang="en-US" sz="900" dirty="0"/>
          </a:p>
        </p:txBody>
      </p:sp>
      <p:sp>
        <p:nvSpPr>
          <p:cNvPr id="21" name="Text 18"/>
          <p:cNvSpPr/>
          <p:nvPr/>
        </p:nvSpPr>
        <p:spPr>
          <a:xfrm>
            <a:off x="1188720" y="3136392"/>
            <a:ext cx="7589520" cy="20116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Contrainte : Mode ENFORCE actif. Règles correctement définies.</a:t>
            </a:r>
            <a:endParaRPr lang="en-US" sz="900" dirty="0"/>
          </a:p>
        </p:txBody>
      </p:sp>
      <p:sp>
        <p:nvSpPr>
          <p:cNvPr id="22" name="Text 19"/>
          <p:cNvSpPr/>
          <p:nvPr/>
        </p:nvSpPr>
        <p:spPr>
          <a:xfrm>
            <a:off x="1188720" y="3346704"/>
            <a:ext cx="7589520" cy="219456"/>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Étapes : 1. AppArmor logue une violation → 2. Système corrèle les événements → 3. Alerte générée sur dashboard → 4. Admin déclenche mitigation → 5. Processus bloqué/isolé</a:t>
            </a:r>
            <a:endParaRPr lang="en-US" sz="850" dirty="0"/>
          </a:p>
        </p:txBody>
      </p:sp>
      <p:sp>
        <p:nvSpPr>
          <p:cNvPr id="23" name="Shape 20"/>
          <p:cNvSpPr/>
          <p:nvPr/>
        </p:nvSpPr>
        <p:spPr>
          <a:xfrm>
            <a:off x="182880" y="3730752"/>
            <a:ext cx="8778240" cy="1234440"/>
          </a:xfrm>
          <a:prstGeom prst="rect">
            <a:avLst/>
          </a:prstGeom>
          <a:noFill/>
          <a:ln w="19050">
            <a:noFill/>
            <a:prstDash val="solid"/>
          </a:ln>
        </p:spPr>
        <p:txBody>
          <a:bodyPr/>
          <a:lstStyle/>
          <a:p>
            <a:endParaRPr lang="fr-CM"/>
          </a:p>
        </p:txBody>
      </p:sp>
      <p:sp>
        <p:nvSpPr>
          <p:cNvPr id="24" name="Shape 21"/>
          <p:cNvSpPr/>
          <p:nvPr/>
        </p:nvSpPr>
        <p:spPr>
          <a:xfrm>
            <a:off x="182880" y="3730752"/>
            <a:ext cx="914400" cy="1234440"/>
          </a:xfrm>
          <a:prstGeom prst="rect">
            <a:avLst/>
          </a:prstGeom>
          <a:noFill/>
          <a:ln w="12700">
            <a:noFill/>
            <a:prstDash val="solid"/>
          </a:ln>
        </p:spPr>
        <p:txBody>
          <a:bodyPr/>
          <a:lstStyle/>
          <a:p>
            <a:endParaRPr lang="fr-CM"/>
          </a:p>
        </p:txBody>
      </p:sp>
      <p:sp>
        <p:nvSpPr>
          <p:cNvPr id="25" name="Text 22"/>
          <p:cNvSpPr/>
          <p:nvPr/>
        </p:nvSpPr>
        <p:spPr>
          <a:xfrm>
            <a:off x="182880" y="4096512"/>
            <a:ext cx="91440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Times New Roman" pitchFamily="34" charset="0"/>
                <a:ea typeface="Times New Roman" pitchFamily="34" charset="-122"/>
                <a:cs typeface="Times New Roman" pitchFamily="34" charset="-120"/>
              </a:rPr>
              <a:t>SC-03</a:t>
            </a:r>
            <a:endParaRPr lang="en-US" sz="1100" dirty="0"/>
          </a:p>
        </p:txBody>
      </p:sp>
      <p:sp>
        <p:nvSpPr>
          <p:cNvPr id="26" name="Text 23"/>
          <p:cNvSpPr/>
          <p:nvPr/>
        </p:nvSpPr>
        <p:spPr>
          <a:xfrm>
            <a:off x="1188720" y="3776472"/>
            <a:ext cx="7589520" cy="274320"/>
          </a:xfrm>
          <a:prstGeom prst="rect">
            <a:avLst/>
          </a:prstGeom>
          <a:noFill/>
          <a:ln/>
        </p:spPr>
        <p:txBody>
          <a:bodyPr wrap="square" rtlCol="0" anchor="ctr"/>
          <a:lstStyle/>
          <a:p>
            <a:pPr marL="0" indent="0">
              <a:buNone/>
            </a:pPr>
            <a:r>
              <a:rPr lang="en-US" sz="1200" b="1" dirty="0">
                <a:latin typeface="Times New Roman" pitchFamily="34" charset="0"/>
                <a:ea typeface="Times New Roman" pitchFamily="34" charset="-122"/>
                <a:cs typeface="Times New Roman" pitchFamily="34" charset="-120"/>
              </a:rPr>
              <a:t>Consultation des logs temps réel</a:t>
            </a:r>
            <a:endParaRPr lang="en-US" sz="1200" dirty="0"/>
          </a:p>
        </p:txBody>
      </p:sp>
      <p:sp>
        <p:nvSpPr>
          <p:cNvPr id="27" name="Text 24"/>
          <p:cNvSpPr/>
          <p:nvPr/>
        </p:nvSpPr>
        <p:spPr>
          <a:xfrm>
            <a:off x="1188720" y="4050792"/>
            <a:ext cx="7589520" cy="228600"/>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Objectif : Visualiser, filtrer et exporter les journaux AppArmor</a:t>
            </a:r>
            <a:endParaRPr lang="en-US" sz="900" dirty="0"/>
          </a:p>
        </p:txBody>
      </p:sp>
      <p:sp>
        <p:nvSpPr>
          <p:cNvPr id="28" name="Text 25"/>
          <p:cNvSpPr/>
          <p:nvPr/>
        </p:nvSpPr>
        <p:spPr>
          <a:xfrm>
            <a:off x="1188720" y="4279392"/>
            <a:ext cx="7589520" cy="20116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Acteurs : Auditeur / Administrateur</a:t>
            </a:r>
            <a:endParaRPr lang="en-US" sz="900" dirty="0"/>
          </a:p>
        </p:txBody>
      </p:sp>
      <p:sp>
        <p:nvSpPr>
          <p:cNvPr id="29" name="Text 26"/>
          <p:cNvSpPr/>
          <p:nvPr/>
        </p:nvSpPr>
        <p:spPr>
          <a:xfrm>
            <a:off x="1188720" y="4489704"/>
            <a:ext cx="7589520" cy="201168"/>
          </a:xfrm>
          <a:prstGeom prst="rect">
            <a:avLst/>
          </a:prstGeom>
          <a:noFill/>
          <a:ln/>
        </p:spPr>
        <p:txBody>
          <a:bodyPr wrap="square" rtlCol="0" anchor="ctr"/>
          <a:lstStyle/>
          <a:p>
            <a:pPr marL="0" indent="0">
              <a:buNone/>
            </a:pPr>
            <a:r>
              <a:rPr lang="en-US" sz="900" dirty="0">
                <a:latin typeface="Times New Roman" pitchFamily="34" charset="0"/>
                <a:ea typeface="Times New Roman" pitchFamily="34" charset="-122"/>
                <a:cs typeface="Times New Roman" pitchFamily="34" charset="-120"/>
              </a:rPr>
              <a:t>Contrainte : Connexion active. Droits lecture logs système.</a:t>
            </a:r>
            <a:endParaRPr lang="en-US" sz="900" dirty="0"/>
          </a:p>
        </p:txBody>
      </p:sp>
      <p:sp>
        <p:nvSpPr>
          <p:cNvPr id="30" name="Text 27"/>
          <p:cNvSpPr/>
          <p:nvPr/>
        </p:nvSpPr>
        <p:spPr>
          <a:xfrm>
            <a:off x="1188720" y="4700016"/>
            <a:ext cx="7589520" cy="219456"/>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Étapes : 1. Accès section Logs → 2. Application de filtres (date, profil, type) → 3. Affichage temps réel → 4. Export CSV/PDF</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109728" y="0"/>
            <a:ext cx="9034272" cy="914400"/>
          </a:xfrm>
          <a:prstGeom prst="rect">
            <a:avLst/>
          </a:prstGeom>
          <a:solidFill>
            <a:schemeClr val="accent1">
              <a:lumMod val="60000"/>
              <a:lumOff val="40000"/>
            </a:schemeClr>
          </a:solidFill>
          <a:ln w="12700">
            <a:solidFill>
              <a:schemeClr val="accent1">
                <a:lumMod val="50000"/>
              </a:schemeClr>
            </a:solidFill>
            <a:prstDash val="solid"/>
          </a:ln>
        </p:spPr>
        <p:txBody>
          <a:bodyPr/>
          <a:lstStyle/>
          <a:p>
            <a:endParaRPr lang="fr-CM"/>
          </a:p>
        </p:txBody>
      </p:sp>
      <p:sp>
        <p:nvSpPr>
          <p:cNvPr id="5" name="Text 3"/>
          <p:cNvSpPr/>
          <p:nvPr/>
        </p:nvSpPr>
        <p:spPr>
          <a:xfrm>
            <a:off x="914400" y="91440"/>
            <a:ext cx="7315200" cy="713232"/>
          </a:xfrm>
          <a:prstGeom prst="rect">
            <a:avLst/>
          </a:prstGeom>
          <a:noFill/>
          <a:ln/>
        </p:spPr>
        <p:txBody>
          <a:bodyPr wrap="square" rtlCol="0" anchor="ctr"/>
          <a:lstStyle/>
          <a:p>
            <a:pPr marL="0" indent="0">
              <a:buNone/>
            </a:pPr>
            <a:r>
              <a:rPr lang="en-US" sz="2200" b="1" dirty="0">
                <a:latin typeface="Times New Roman" pitchFamily="34" charset="0"/>
                <a:ea typeface="Times New Roman" pitchFamily="34" charset="-122"/>
                <a:cs typeface="Times New Roman" pitchFamily="34" charset="-120"/>
              </a:rPr>
              <a:t>06 · Contraintes &amp; Solutions AppArmor</a:t>
            </a:r>
            <a:endParaRPr lang="en-US" sz="2200" dirty="0"/>
          </a:p>
        </p:txBody>
      </p:sp>
      <p:sp>
        <p:nvSpPr>
          <p:cNvPr id="7" name="Shape 4"/>
          <p:cNvSpPr/>
          <p:nvPr/>
        </p:nvSpPr>
        <p:spPr>
          <a:xfrm>
            <a:off x="182880" y="1005840"/>
            <a:ext cx="4251960" cy="1280160"/>
          </a:xfrm>
          <a:prstGeom prst="rect">
            <a:avLst/>
          </a:prstGeom>
          <a:noFill/>
          <a:ln w="15240">
            <a:noFill/>
            <a:prstDash val="solid"/>
          </a:ln>
        </p:spPr>
        <p:txBody>
          <a:bodyPr/>
          <a:lstStyle/>
          <a:p>
            <a:endParaRPr lang="fr-CM"/>
          </a:p>
        </p:txBody>
      </p:sp>
      <p:sp>
        <p:nvSpPr>
          <p:cNvPr id="8" name="Shape 5"/>
          <p:cNvSpPr/>
          <p:nvPr/>
        </p:nvSpPr>
        <p:spPr>
          <a:xfrm>
            <a:off x="182880" y="1005840"/>
            <a:ext cx="1005840" cy="274320"/>
          </a:xfrm>
          <a:prstGeom prst="rect">
            <a:avLst/>
          </a:prstGeom>
          <a:noFill/>
          <a:ln w="12700">
            <a:noFill/>
            <a:prstDash val="solid"/>
          </a:ln>
        </p:spPr>
        <p:txBody>
          <a:bodyPr/>
          <a:lstStyle/>
          <a:p>
            <a:endParaRPr lang="fr-CM"/>
          </a:p>
        </p:txBody>
      </p:sp>
      <p:sp>
        <p:nvSpPr>
          <p:cNvPr id="9" name="Text 6"/>
          <p:cNvSpPr/>
          <p:nvPr/>
        </p:nvSpPr>
        <p:spPr>
          <a:xfrm>
            <a:off x="182880" y="1005840"/>
            <a:ext cx="1005840" cy="274320"/>
          </a:xfrm>
          <a:prstGeom prst="rect">
            <a:avLst/>
          </a:prstGeom>
          <a:noFill/>
          <a:ln/>
        </p:spPr>
        <p:txBody>
          <a:bodyPr wrap="square" lIns="0" tIns="0" rIns="0" bIns="0" rtlCol="0" anchor="ctr"/>
          <a:lstStyle/>
          <a:p>
            <a:pPr marL="0" indent="0" algn="ctr">
              <a:buNone/>
            </a:pPr>
            <a:r>
              <a:rPr lang="en-US" sz="750" b="1" u="sng" dirty="0">
                <a:latin typeface="Times New Roman" pitchFamily="34" charset="0"/>
                <a:ea typeface="Times New Roman" pitchFamily="34" charset="-122"/>
                <a:cs typeface="Times New Roman" pitchFamily="34" charset="-120"/>
              </a:rPr>
              <a:t>Technique</a:t>
            </a:r>
            <a:endParaRPr lang="en-US" sz="750" u="sng" dirty="0"/>
          </a:p>
        </p:txBody>
      </p:sp>
      <p:sp>
        <p:nvSpPr>
          <p:cNvPr id="10" name="Text 7"/>
          <p:cNvSpPr/>
          <p:nvPr/>
        </p:nvSpPr>
        <p:spPr>
          <a:xfrm>
            <a:off x="274320" y="1298448"/>
            <a:ext cx="4069080" cy="256032"/>
          </a:xfrm>
          <a:prstGeom prst="rect">
            <a:avLst/>
          </a:prstGeom>
          <a:noFill/>
          <a:ln/>
        </p:spPr>
        <p:txBody>
          <a:bodyPr wrap="square" rtlCol="0" anchor="ctr"/>
          <a:lstStyle/>
          <a:p>
            <a:pPr marL="0" indent="0">
              <a:buNone/>
            </a:pPr>
            <a:r>
              <a:rPr lang="en-US" sz="1000" b="1" dirty="0">
                <a:latin typeface="Times New Roman" pitchFamily="34" charset="0"/>
                <a:ea typeface="Times New Roman" pitchFamily="34" charset="-122"/>
                <a:cs typeface="Times New Roman" pitchFamily="34" charset="-120"/>
              </a:rPr>
              <a:t>Accès root requis</a:t>
            </a:r>
            <a:endParaRPr lang="en-US" sz="1000" dirty="0"/>
          </a:p>
        </p:txBody>
      </p:sp>
      <p:sp>
        <p:nvSpPr>
          <p:cNvPr id="11" name="Text 8"/>
          <p:cNvSpPr/>
          <p:nvPr/>
        </p:nvSpPr>
        <p:spPr>
          <a:xfrm>
            <a:off x="274320" y="1563624"/>
            <a:ext cx="4069080" cy="25603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AppArmor exige des privilèges élevés pour appliquer les profils</a:t>
            </a:r>
            <a:endParaRPr lang="en-US" sz="850" dirty="0"/>
          </a:p>
        </p:txBody>
      </p:sp>
      <p:sp>
        <p:nvSpPr>
          <p:cNvPr id="13" name="Text 10"/>
          <p:cNvSpPr/>
          <p:nvPr/>
        </p:nvSpPr>
        <p:spPr>
          <a:xfrm>
            <a:off x="274320" y="1892808"/>
            <a:ext cx="4069080" cy="329184"/>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Utilisation de scripts sudoers dédiés + isolation de la couche système via un service backend sécurisé</a:t>
            </a:r>
            <a:endParaRPr lang="en-US" sz="850" dirty="0"/>
          </a:p>
        </p:txBody>
      </p:sp>
      <p:sp>
        <p:nvSpPr>
          <p:cNvPr id="14" name="Shape 11"/>
          <p:cNvSpPr/>
          <p:nvPr/>
        </p:nvSpPr>
        <p:spPr>
          <a:xfrm>
            <a:off x="4617720" y="1005840"/>
            <a:ext cx="4251960" cy="1280160"/>
          </a:xfrm>
          <a:prstGeom prst="rect">
            <a:avLst/>
          </a:prstGeom>
          <a:noFill/>
          <a:ln w="15240">
            <a:noFill/>
            <a:prstDash val="solid"/>
          </a:ln>
        </p:spPr>
        <p:txBody>
          <a:bodyPr/>
          <a:lstStyle/>
          <a:p>
            <a:endParaRPr lang="fr-CM"/>
          </a:p>
        </p:txBody>
      </p:sp>
      <p:sp>
        <p:nvSpPr>
          <p:cNvPr id="16" name="Text 13"/>
          <p:cNvSpPr/>
          <p:nvPr/>
        </p:nvSpPr>
        <p:spPr>
          <a:xfrm>
            <a:off x="4617720" y="1005840"/>
            <a:ext cx="1005840" cy="274320"/>
          </a:xfrm>
          <a:prstGeom prst="rect">
            <a:avLst/>
          </a:prstGeom>
          <a:noFill/>
          <a:ln/>
        </p:spPr>
        <p:txBody>
          <a:bodyPr wrap="square" lIns="0" tIns="0" rIns="0" bIns="0" rtlCol="0" anchor="ctr"/>
          <a:lstStyle/>
          <a:p>
            <a:pPr marL="0" indent="0" algn="ctr">
              <a:buNone/>
            </a:pPr>
            <a:r>
              <a:rPr lang="en-US" sz="750" b="1" u="sng" dirty="0">
                <a:latin typeface="Times New Roman" pitchFamily="34" charset="0"/>
                <a:ea typeface="Times New Roman" pitchFamily="34" charset="-122"/>
                <a:cs typeface="Times New Roman" pitchFamily="34" charset="-120"/>
              </a:rPr>
              <a:t>Sécurité</a:t>
            </a:r>
            <a:endParaRPr lang="en-US" sz="750" u="sng" dirty="0"/>
          </a:p>
        </p:txBody>
      </p:sp>
      <p:sp>
        <p:nvSpPr>
          <p:cNvPr id="17" name="Text 14"/>
          <p:cNvSpPr/>
          <p:nvPr/>
        </p:nvSpPr>
        <p:spPr>
          <a:xfrm>
            <a:off x="4709160" y="1298448"/>
            <a:ext cx="4069080" cy="256032"/>
          </a:xfrm>
          <a:prstGeom prst="rect">
            <a:avLst/>
          </a:prstGeom>
          <a:noFill/>
          <a:ln/>
        </p:spPr>
        <p:txBody>
          <a:bodyPr wrap="square" rtlCol="0" anchor="ctr"/>
          <a:lstStyle/>
          <a:p>
            <a:pPr marL="0" indent="0">
              <a:buNone/>
            </a:pPr>
            <a:r>
              <a:rPr lang="en-US" sz="1000" b="1" dirty="0">
                <a:latin typeface="Times New Roman" pitchFamily="34" charset="0"/>
                <a:ea typeface="Times New Roman" pitchFamily="34" charset="-122"/>
                <a:cs typeface="Times New Roman" pitchFamily="34" charset="-120"/>
              </a:rPr>
              <a:t> Sécurisation de l'interface web</a:t>
            </a:r>
            <a:endParaRPr lang="en-US" sz="1000" dirty="0"/>
          </a:p>
        </p:txBody>
      </p:sp>
      <p:sp>
        <p:nvSpPr>
          <p:cNvPr id="18" name="Text 15"/>
          <p:cNvSpPr/>
          <p:nvPr/>
        </p:nvSpPr>
        <p:spPr>
          <a:xfrm>
            <a:off x="4709160" y="1563624"/>
            <a:ext cx="4069080" cy="25603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L'interface elle-même peut être vecteur d'attaque (XSS, CSRF, injection)</a:t>
            </a:r>
            <a:endParaRPr lang="en-US" sz="850" dirty="0"/>
          </a:p>
        </p:txBody>
      </p:sp>
      <p:sp>
        <p:nvSpPr>
          <p:cNvPr id="20" name="Text 17"/>
          <p:cNvSpPr/>
          <p:nvPr/>
        </p:nvSpPr>
        <p:spPr>
          <a:xfrm>
            <a:off x="4709160" y="1892808"/>
            <a:ext cx="4069080" cy="329184"/>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HTTPS/TLS, tokens CSRF, validation des entrées, hashage bcrypt, headers de sécurité HTTP stricts</a:t>
            </a:r>
            <a:endParaRPr lang="en-US" sz="850" dirty="0"/>
          </a:p>
        </p:txBody>
      </p:sp>
      <p:sp>
        <p:nvSpPr>
          <p:cNvPr id="21" name="Shape 18"/>
          <p:cNvSpPr/>
          <p:nvPr/>
        </p:nvSpPr>
        <p:spPr>
          <a:xfrm>
            <a:off x="182880" y="2395728"/>
            <a:ext cx="4251960" cy="1280160"/>
          </a:xfrm>
          <a:prstGeom prst="rect">
            <a:avLst/>
          </a:prstGeom>
          <a:noFill/>
          <a:ln w="15240">
            <a:noFill/>
            <a:prstDash val="solid"/>
          </a:ln>
        </p:spPr>
        <p:txBody>
          <a:bodyPr/>
          <a:lstStyle/>
          <a:p>
            <a:endParaRPr lang="fr-CM"/>
          </a:p>
        </p:txBody>
      </p:sp>
      <p:sp>
        <p:nvSpPr>
          <p:cNvPr id="23" name="Text 20"/>
          <p:cNvSpPr/>
          <p:nvPr/>
        </p:nvSpPr>
        <p:spPr>
          <a:xfrm>
            <a:off x="182880" y="2395728"/>
            <a:ext cx="1005840" cy="274320"/>
          </a:xfrm>
          <a:prstGeom prst="rect">
            <a:avLst/>
          </a:prstGeom>
          <a:noFill/>
          <a:ln/>
        </p:spPr>
        <p:txBody>
          <a:bodyPr wrap="square" lIns="0" tIns="0" rIns="0" bIns="0" rtlCol="0" anchor="ctr"/>
          <a:lstStyle/>
          <a:p>
            <a:pPr marL="0" indent="0" algn="ctr">
              <a:buNone/>
            </a:pPr>
            <a:r>
              <a:rPr lang="en-US" sz="750" b="1" u="sng" dirty="0">
                <a:latin typeface="Times New Roman" pitchFamily="34" charset="0"/>
                <a:ea typeface="Times New Roman" pitchFamily="34" charset="-122"/>
                <a:cs typeface="Times New Roman" pitchFamily="34" charset="-120"/>
              </a:rPr>
              <a:t>Performance</a:t>
            </a:r>
            <a:endParaRPr lang="en-US" sz="750" u="sng" dirty="0"/>
          </a:p>
        </p:txBody>
      </p:sp>
      <p:sp>
        <p:nvSpPr>
          <p:cNvPr id="24" name="Text 21"/>
          <p:cNvSpPr/>
          <p:nvPr/>
        </p:nvSpPr>
        <p:spPr>
          <a:xfrm>
            <a:off x="274320" y="2688336"/>
            <a:ext cx="4069080" cy="256032"/>
          </a:xfrm>
          <a:prstGeom prst="rect">
            <a:avLst/>
          </a:prstGeom>
          <a:noFill/>
          <a:ln/>
        </p:spPr>
        <p:txBody>
          <a:bodyPr wrap="square" rtlCol="0" anchor="ctr"/>
          <a:lstStyle/>
          <a:p>
            <a:pPr marL="0" indent="0">
              <a:buNone/>
            </a:pPr>
            <a:r>
              <a:rPr lang="en-US" sz="1000" b="1" dirty="0">
                <a:latin typeface="Times New Roman" pitchFamily="34" charset="0"/>
                <a:ea typeface="Times New Roman" pitchFamily="34" charset="-122"/>
                <a:cs typeface="Times New Roman" pitchFamily="34" charset="-120"/>
              </a:rPr>
              <a:t>Temps réel des logs</a:t>
            </a:r>
            <a:endParaRPr lang="en-US" sz="1000" dirty="0"/>
          </a:p>
        </p:txBody>
      </p:sp>
      <p:sp>
        <p:nvSpPr>
          <p:cNvPr id="25" name="Text 22"/>
          <p:cNvSpPr/>
          <p:nvPr/>
        </p:nvSpPr>
        <p:spPr>
          <a:xfrm>
            <a:off x="274320" y="2953512"/>
            <a:ext cx="4069080" cy="256032"/>
          </a:xfrm>
          <a:prstGeom prst="rect">
            <a:avLst/>
          </a:prstGeom>
          <a:noFill/>
          <a:ln/>
        </p:spPr>
        <p:txBody>
          <a:bodyPr wrap="square" rtlCol="0" anchor="ctr"/>
          <a:lstStyle/>
          <a:p>
            <a:pPr marL="0" indent="0">
              <a:buNone/>
            </a:pPr>
            <a:r>
              <a:rPr lang="en-US" sz="850" i="1" dirty="0">
                <a:latin typeface="Times New Roman" pitchFamily="34" charset="0"/>
                <a:ea typeface="Times New Roman" pitchFamily="34" charset="-122"/>
                <a:cs typeface="Times New Roman" pitchFamily="34" charset="-120"/>
              </a:rPr>
              <a:t>Lecture en continu des logs syslog sans surcharge du système</a:t>
            </a:r>
            <a:endParaRPr lang="en-US" sz="850" dirty="0"/>
          </a:p>
        </p:txBody>
      </p:sp>
      <p:sp>
        <p:nvSpPr>
          <p:cNvPr id="27" name="Text 24"/>
          <p:cNvSpPr/>
          <p:nvPr/>
        </p:nvSpPr>
        <p:spPr>
          <a:xfrm>
            <a:off x="274320" y="3282696"/>
            <a:ext cx="4069080" cy="329184"/>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 Polling optimisé + WebSocket optionnel. Cache en mémoire des 100 derniers événements.</a:t>
            </a:r>
            <a:endParaRPr lang="en-US" sz="850" dirty="0"/>
          </a:p>
        </p:txBody>
      </p:sp>
      <p:sp>
        <p:nvSpPr>
          <p:cNvPr id="28" name="Shape 25"/>
          <p:cNvSpPr/>
          <p:nvPr/>
        </p:nvSpPr>
        <p:spPr>
          <a:xfrm>
            <a:off x="4617720" y="2395728"/>
            <a:ext cx="4251960" cy="1280160"/>
          </a:xfrm>
          <a:prstGeom prst="rect">
            <a:avLst/>
          </a:prstGeom>
          <a:noFill/>
          <a:ln w="15240">
            <a:noFill/>
            <a:prstDash val="solid"/>
          </a:ln>
        </p:spPr>
        <p:txBody>
          <a:bodyPr/>
          <a:lstStyle/>
          <a:p>
            <a:endParaRPr lang="fr-CM"/>
          </a:p>
        </p:txBody>
      </p:sp>
      <p:sp>
        <p:nvSpPr>
          <p:cNvPr id="30" name="Text 27"/>
          <p:cNvSpPr/>
          <p:nvPr/>
        </p:nvSpPr>
        <p:spPr>
          <a:xfrm>
            <a:off x="4617720" y="2395728"/>
            <a:ext cx="1005840" cy="274320"/>
          </a:xfrm>
          <a:prstGeom prst="rect">
            <a:avLst/>
          </a:prstGeom>
          <a:noFill/>
          <a:ln/>
        </p:spPr>
        <p:txBody>
          <a:bodyPr wrap="square" lIns="0" tIns="0" rIns="0" bIns="0" rtlCol="0" anchor="ctr"/>
          <a:lstStyle/>
          <a:p>
            <a:pPr marL="0" indent="0" algn="ctr">
              <a:buNone/>
            </a:pPr>
            <a:r>
              <a:rPr lang="en-US" sz="750" b="1" u="sng" dirty="0">
                <a:latin typeface="Times New Roman" pitchFamily="34" charset="0"/>
                <a:ea typeface="Times New Roman" pitchFamily="34" charset="-122"/>
                <a:cs typeface="Times New Roman" pitchFamily="34" charset="-120"/>
              </a:rPr>
              <a:t>Architecture</a:t>
            </a:r>
            <a:endParaRPr lang="en-US" sz="750" u="sng" dirty="0"/>
          </a:p>
        </p:txBody>
      </p:sp>
      <p:sp>
        <p:nvSpPr>
          <p:cNvPr id="31" name="Text 28"/>
          <p:cNvSpPr/>
          <p:nvPr/>
        </p:nvSpPr>
        <p:spPr>
          <a:xfrm>
            <a:off x="4709160" y="2688336"/>
            <a:ext cx="4069080" cy="256032"/>
          </a:xfrm>
          <a:prstGeom prst="rect">
            <a:avLst/>
          </a:prstGeom>
          <a:noFill/>
          <a:ln/>
        </p:spPr>
        <p:txBody>
          <a:bodyPr wrap="square" rtlCol="0" anchor="ctr"/>
          <a:lstStyle/>
          <a:p>
            <a:pPr marL="0" indent="0">
              <a:buNone/>
            </a:pPr>
            <a:r>
              <a:rPr lang="en-US" sz="1000" b="1" dirty="0">
                <a:latin typeface="Times New Roman" pitchFamily="34" charset="0"/>
                <a:ea typeface="Times New Roman" pitchFamily="34" charset="-122"/>
                <a:cs typeface="Times New Roman" pitchFamily="34" charset="-120"/>
              </a:rPr>
              <a:t>Dépendance Ubuntu uniquement</a:t>
            </a:r>
            <a:endParaRPr lang="en-US" sz="1000" dirty="0"/>
          </a:p>
        </p:txBody>
      </p:sp>
      <p:sp>
        <p:nvSpPr>
          <p:cNvPr id="32" name="Text 29"/>
          <p:cNvSpPr/>
          <p:nvPr/>
        </p:nvSpPr>
        <p:spPr>
          <a:xfrm>
            <a:off x="4709160" y="2953512"/>
            <a:ext cx="4069080" cy="25603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AppArmor est natif Ubuntu ; portabilité limitée</a:t>
            </a:r>
            <a:endParaRPr lang="en-US" sz="850" dirty="0"/>
          </a:p>
        </p:txBody>
      </p:sp>
      <p:sp>
        <p:nvSpPr>
          <p:cNvPr id="34" name="Text 31"/>
          <p:cNvSpPr/>
          <p:nvPr/>
        </p:nvSpPr>
        <p:spPr>
          <a:xfrm>
            <a:off x="4709160" y="3282696"/>
            <a:ext cx="4069080" cy="329184"/>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 Architecture découplée avec interface abstraite (AppArmorService) permettant extension future (SELinux, etc.)</a:t>
            </a:r>
            <a:endParaRPr lang="en-US" sz="850" dirty="0"/>
          </a:p>
        </p:txBody>
      </p:sp>
      <p:sp>
        <p:nvSpPr>
          <p:cNvPr id="35" name="Shape 32"/>
          <p:cNvSpPr/>
          <p:nvPr/>
        </p:nvSpPr>
        <p:spPr>
          <a:xfrm>
            <a:off x="182880" y="3785616"/>
            <a:ext cx="4251960" cy="1280160"/>
          </a:xfrm>
          <a:prstGeom prst="rect">
            <a:avLst/>
          </a:prstGeom>
          <a:noFill/>
          <a:ln w="15240">
            <a:noFill/>
            <a:prstDash val="solid"/>
          </a:ln>
        </p:spPr>
        <p:txBody>
          <a:bodyPr/>
          <a:lstStyle/>
          <a:p>
            <a:endParaRPr lang="fr-CM"/>
          </a:p>
        </p:txBody>
      </p:sp>
      <p:sp>
        <p:nvSpPr>
          <p:cNvPr id="37" name="Text 34"/>
          <p:cNvSpPr/>
          <p:nvPr/>
        </p:nvSpPr>
        <p:spPr>
          <a:xfrm>
            <a:off x="182880" y="3785616"/>
            <a:ext cx="1005840" cy="274320"/>
          </a:xfrm>
          <a:prstGeom prst="rect">
            <a:avLst/>
          </a:prstGeom>
          <a:noFill/>
          <a:ln/>
        </p:spPr>
        <p:txBody>
          <a:bodyPr wrap="square" lIns="0" tIns="0" rIns="0" bIns="0" rtlCol="0" anchor="ctr"/>
          <a:lstStyle/>
          <a:p>
            <a:pPr marL="0" indent="0" algn="ctr">
              <a:buNone/>
            </a:pPr>
            <a:r>
              <a:rPr lang="en-US" sz="750" b="1" u="sng" dirty="0">
                <a:latin typeface="Times New Roman" pitchFamily="34" charset="0"/>
                <a:ea typeface="Times New Roman" pitchFamily="34" charset="-122"/>
                <a:cs typeface="Times New Roman" pitchFamily="34" charset="-120"/>
              </a:rPr>
              <a:t>Organisationnel</a:t>
            </a:r>
            <a:endParaRPr lang="en-US" sz="750" u="sng" dirty="0"/>
          </a:p>
        </p:txBody>
      </p:sp>
      <p:sp>
        <p:nvSpPr>
          <p:cNvPr id="38" name="Text 35"/>
          <p:cNvSpPr/>
          <p:nvPr/>
        </p:nvSpPr>
        <p:spPr>
          <a:xfrm>
            <a:off x="274320" y="4078224"/>
            <a:ext cx="4069080" cy="256032"/>
          </a:xfrm>
          <a:prstGeom prst="rect">
            <a:avLst/>
          </a:prstGeom>
          <a:noFill/>
          <a:ln/>
        </p:spPr>
        <p:txBody>
          <a:bodyPr wrap="square" rtlCol="0" anchor="ctr"/>
          <a:lstStyle/>
          <a:p>
            <a:pPr marL="0" indent="0">
              <a:buNone/>
            </a:pPr>
            <a:r>
              <a:rPr lang="en-US" sz="1000" b="1" dirty="0">
                <a:latin typeface="Times New Roman" pitchFamily="34" charset="0"/>
                <a:ea typeface="Times New Roman" pitchFamily="34" charset="-122"/>
                <a:cs typeface="Times New Roman" pitchFamily="34" charset="-120"/>
              </a:rPr>
              <a:t> Équipe réduite &amp; délais académiques</a:t>
            </a:r>
            <a:endParaRPr lang="en-US" sz="1000" dirty="0"/>
          </a:p>
        </p:txBody>
      </p:sp>
      <p:sp>
        <p:nvSpPr>
          <p:cNvPr id="39" name="Text 36"/>
          <p:cNvSpPr/>
          <p:nvPr/>
        </p:nvSpPr>
        <p:spPr>
          <a:xfrm>
            <a:off x="274320" y="4343400"/>
            <a:ext cx="4069080" cy="25603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3 développeurs, contraintes de temps et de ressources</a:t>
            </a:r>
            <a:endParaRPr lang="en-US" sz="850" dirty="0"/>
          </a:p>
        </p:txBody>
      </p:sp>
      <p:sp>
        <p:nvSpPr>
          <p:cNvPr id="41" name="Text 38"/>
          <p:cNvSpPr/>
          <p:nvPr/>
        </p:nvSpPr>
        <p:spPr>
          <a:xfrm>
            <a:off x="274320" y="4672584"/>
            <a:ext cx="4069080" cy="329184"/>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 Architecture modulaire MVC, priorisation des fonctionnalités essentielles, documentation continue</a:t>
            </a:r>
            <a:endParaRPr lang="en-US" sz="850" dirty="0"/>
          </a:p>
        </p:txBody>
      </p:sp>
      <p:sp>
        <p:nvSpPr>
          <p:cNvPr id="42" name="Shape 39"/>
          <p:cNvSpPr/>
          <p:nvPr/>
        </p:nvSpPr>
        <p:spPr>
          <a:xfrm>
            <a:off x="4617720" y="3785616"/>
            <a:ext cx="4251960" cy="1280160"/>
          </a:xfrm>
          <a:prstGeom prst="rect">
            <a:avLst/>
          </a:prstGeom>
          <a:noFill/>
          <a:ln w="15240">
            <a:noFill/>
            <a:prstDash val="solid"/>
          </a:ln>
        </p:spPr>
        <p:txBody>
          <a:bodyPr/>
          <a:lstStyle/>
          <a:p>
            <a:endParaRPr lang="fr-CM"/>
          </a:p>
        </p:txBody>
      </p:sp>
      <p:sp>
        <p:nvSpPr>
          <p:cNvPr id="44" name="Text 41"/>
          <p:cNvSpPr/>
          <p:nvPr/>
        </p:nvSpPr>
        <p:spPr>
          <a:xfrm>
            <a:off x="4617720" y="3785616"/>
            <a:ext cx="1005840" cy="274320"/>
          </a:xfrm>
          <a:prstGeom prst="rect">
            <a:avLst/>
          </a:prstGeom>
          <a:noFill/>
          <a:ln/>
        </p:spPr>
        <p:txBody>
          <a:bodyPr wrap="square" lIns="0" tIns="0" rIns="0" bIns="0" rtlCol="0" anchor="ctr"/>
          <a:lstStyle/>
          <a:p>
            <a:pPr marL="0" indent="0" algn="ctr">
              <a:buNone/>
            </a:pPr>
            <a:r>
              <a:rPr lang="en-US" sz="750" b="1" u="sng" dirty="0">
                <a:latin typeface="Times New Roman" pitchFamily="34" charset="0"/>
                <a:ea typeface="Times New Roman" pitchFamily="34" charset="-122"/>
                <a:cs typeface="Times New Roman" pitchFamily="34" charset="-120"/>
              </a:rPr>
              <a:t>Fonctionnel</a:t>
            </a:r>
            <a:endParaRPr lang="en-US" sz="750" u="sng" dirty="0"/>
          </a:p>
        </p:txBody>
      </p:sp>
      <p:sp>
        <p:nvSpPr>
          <p:cNvPr id="45" name="Text 42"/>
          <p:cNvSpPr/>
          <p:nvPr/>
        </p:nvSpPr>
        <p:spPr>
          <a:xfrm>
            <a:off x="4709160" y="4078224"/>
            <a:ext cx="4069080" cy="256032"/>
          </a:xfrm>
          <a:prstGeom prst="rect">
            <a:avLst/>
          </a:prstGeom>
          <a:noFill/>
          <a:ln/>
        </p:spPr>
        <p:txBody>
          <a:bodyPr wrap="square" rtlCol="0" anchor="ctr"/>
          <a:lstStyle/>
          <a:p>
            <a:pPr marL="0" indent="0">
              <a:buNone/>
            </a:pPr>
            <a:r>
              <a:rPr lang="en-US" sz="1000" b="1" dirty="0">
                <a:latin typeface="Times New Roman" pitchFamily="34" charset="0"/>
                <a:ea typeface="Times New Roman" pitchFamily="34" charset="-122"/>
                <a:cs typeface="Times New Roman" pitchFamily="34" charset="-120"/>
              </a:rPr>
              <a:t> Syntaxe complexe des profils</a:t>
            </a:r>
            <a:endParaRPr lang="en-US" sz="1000" dirty="0"/>
          </a:p>
        </p:txBody>
      </p:sp>
      <p:sp>
        <p:nvSpPr>
          <p:cNvPr id="46" name="Text 43"/>
          <p:cNvSpPr/>
          <p:nvPr/>
        </p:nvSpPr>
        <p:spPr>
          <a:xfrm>
            <a:off x="4709160" y="4343400"/>
            <a:ext cx="4069080" cy="256032"/>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Un profil AppArmor mal rédigé peut bloquer des applications légitimes</a:t>
            </a:r>
            <a:endParaRPr lang="en-US" sz="850" dirty="0"/>
          </a:p>
        </p:txBody>
      </p:sp>
      <p:sp>
        <p:nvSpPr>
          <p:cNvPr id="48" name="Text 45"/>
          <p:cNvSpPr/>
          <p:nvPr/>
        </p:nvSpPr>
        <p:spPr>
          <a:xfrm>
            <a:off x="4709160" y="4672584"/>
            <a:ext cx="4069080" cy="329184"/>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 Éditeur avec validation syntaxique temps réel + mode COMPLAIN pour test avant ENFORCE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109728" y="0"/>
            <a:ext cx="9034272" cy="914400"/>
          </a:xfrm>
          <a:prstGeom prst="rect">
            <a:avLst/>
          </a:prstGeom>
          <a:solidFill>
            <a:schemeClr val="accent1">
              <a:lumMod val="60000"/>
              <a:lumOff val="40000"/>
            </a:schemeClr>
          </a:solidFill>
          <a:ln w="12700">
            <a:solidFill>
              <a:schemeClr val="accent1">
                <a:lumMod val="50000"/>
              </a:schemeClr>
            </a:solidFill>
            <a:prstDash val="solid"/>
          </a:ln>
        </p:spPr>
        <p:txBody>
          <a:bodyPr/>
          <a:lstStyle/>
          <a:p>
            <a:endParaRPr lang="fr-CM"/>
          </a:p>
        </p:txBody>
      </p:sp>
      <p:sp>
        <p:nvSpPr>
          <p:cNvPr id="5" name="Text 3"/>
          <p:cNvSpPr/>
          <p:nvPr/>
        </p:nvSpPr>
        <p:spPr>
          <a:xfrm>
            <a:off x="914400" y="91440"/>
            <a:ext cx="7315200" cy="713232"/>
          </a:xfrm>
          <a:prstGeom prst="rect">
            <a:avLst/>
          </a:prstGeom>
          <a:noFill/>
          <a:ln/>
        </p:spPr>
        <p:txBody>
          <a:bodyPr wrap="square" rtlCol="0" anchor="ctr"/>
          <a:lstStyle/>
          <a:p>
            <a:pPr marL="0" indent="0">
              <a:buNone/>
            </a:pPr>
            <a:r>
              <a:rPr lang="en-US" sz="2200" b="1" dirty="0">
                <a:latin typeface="Times New Roman" pitchFamily="34" charset="0"/>
                <a:ea typeface="Times New Roman" pitchFamily="34" charset="-122"/>
                <a:cs typeface="Times New Roman" pitchFamily="34" charset="-120"/>
              </a:rPr>
              <a:t>07 · Modes de Sécurité Intégrés à la Conception</a:t>
            </a:r>
            <a:endParaRPr lang="en-US" sz="2200" dirty="0"/>
          </a:p>
        </p:txBody>
      </p:sp>
      <p:sp>
        <p:nvSpPr>
          <p:cNvPr id="7" name="Shape 4"/>
          <p:cNvSpPr/>
          <p:nvPr/>
        </p:nvSpPr>
        <p:spPr>
          <a:xfrm>
            <a:off x="182880" y="987552"/>
            <a:ext cx="4251960" cy="1920240"/>
          </a:xfrm>
          <a:prstGeom prst="rect">
            <a:avLst/>
          </a:prstGeom>
          <a:noFill/>
          <a:ln w="25400">
            <a:noFill/>
            <a:prstDash val="solid"/>
          </a:ln>
        </p:spPr>
        <p:txBody>
          <a:bodyPr/>
          <a:lstStyle/>
          <a:p>
            <a:endParaRPr lang="fr-CM"/>
          </a:p>
        </p:txBody>
      </p:sp>
      <p:sp>
        <p:nvSpPr>
          <p:cNvPr id="8" name="Shape 5"/>
          <p:cNvSpPr/>
          <p:nvPr/>
        </p:nvSpPr>
        <p:spPr>
          <a:xfrm>
            <a:off x="182880" y="987552"/>
            <a:ext cx="4251960" cy="457200"/>
          </a:xfrm>
          <a:prstGeom prst="rect">
            <a:avLst/>
          </a:prstGeom>
          <a:noFill/>
          <a:ln w="12700">
            <a:noFill/>
            <a:prstDash val="solid"/>
          </a:ln>
        </p:spPr>
        <p:txBody>
          <a:bodyPr/>
          <a:lstStyle/>
          <a:p>
            <a:endParaRPr lang="fr-CM"/>
          </a:p>
        </p:txBody>
      </p:sp>
      <p:sp>
        <p:nvSpPr>
          <p:cNvPr id="9" name="Text 6"/>
          <p:cNvSpPr/>
          <p:nvPr/>
        </p:nvSpPr>
        <p:spPr>
          <a:xfrm>
            <a:off x="274320" y="1005840"/>
            <a:ext cx="4114800" cy="411480"/>
          </a:xfrm>
          <a:prstGeom prst="rect">
            <a:avLst/>
          </a:prstGeom>
          <a:noFill/>
          <a:ln/>
        </p:spPr>
        <p:txBody>
          <a:bodyPr wrap="square" rtlCol="0" anchor="ctr"/>
          <a:lstStyle/>
          <a:p>
            <a:pPr marL="0" indent="0">
              <a:buNone/>
            </a:pPr>
            <a:r>
              <a:rPr lang="en-US" sz="1500" b="1" dirty="0">
                <a:latin typeface="Times New Roman" pitchFamily="34" charset="0"/>
                <a:ea typeface="Times New Roman" pitchFamily="34" charset="-122"/>
                <a:cs typeface="Times New Roman" pitchFamily="34" charset="-120"/>
              </a:rPr>
              <a:t>MODE ENFORCE</a:t>
            </a:r>
            <a:endParaRPr lang="en-US" sz="1500" dirty="0"/>
          </a:p>
        </p:txBody>
      </p:sp>
      <p:sp>
        <p:nvSpPr>
          <p:cNvPr id="10" name="Text 7"/>
          <p:cNvSpPr/>
          <p:nvPr/>
        </p:nvSpPr>
        <p:spPr>
          <a:xfrm>
            <a:off x="274320" y="1508760"/>
            <a:ext cx="4069080" cy="132588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Applique strictement les politiques AppArmor</a:t>
            </a:r>
            <a:endParaRPr lang="en-US" sz="950" dirty="0"/>
          </a:p>
          <a:p>
            <a:pPr marL="0" indent="0">
              <a:buNone/>
            </a:pPr>
            <a:r>
              <a:rPr lang="en-US" sz="950" dirty="0">
                <a:latin typeface="Times New Roman" pitchFamily="34" charset="0"/>
                <a:ea typeface="Times New Roman" pitchFamily="34" charset="-122"/>
                <a:cs typeface="Times New Roman" pitchFamily="34" charset="-120"/>
              </a:rPr>
              <a:t>• Toute action non autorisée est BLOQUÉE</a:t>
            </a:r>
            <a:endParaRPr lang="en-US" sz="950" dirty="0"/>
          </a:p>
          <a:p>
            <a:pPr marL="0" indent="0">
              <a:buNone/>
            </a:pPr>
            <a:r>
              <a:rPr lang="en-US" sz="950" dirty="0">
                <a:latin typeface="Times New Roman" pitchFamily="34" charset="0"/>
                <a:ea typeface="Times New Roman" pitchFamily="34" charset="-122"/>
                <a:cs typeface="Times New Roman" pitchFamily="34" charset="-120"/>
              </a:rPr>
              <a:t>• Journalisation des violations dans syslog</a:t>
            </a:r>
            <a:endParaRPr lang="en-US" sz="950" dirty="0"/>
          </a:p>
          <a:p>
            <a:pPr marL="0" indent="0">
              <a:buNone/>
            </a:pPr>
            <a:r>
              <a:rPr lang="en-US" sz="950" dirty="0">
                <a:latin typeface="Times New Roman" pitchFamily="34" charset="0"/>
                <a:ea typeface="Times New Roman" pitchFamily="34" charset="-122"/>
                <a:cs typeface="Times New Roman" pitchFamily="34" charset="-120"/>
              </a:rPr>
              <a:t>• Déclenchement automatique des alertes</a:t>
            </a:r>
            <a:endParaRPr lang="en-US" sz="950" dirty="0"/>
          </a:p>
          <a:p>
            <a:pPr marL="0" indent="0">
              <a:buNone/>
            </a:pPr>
            <a:r>
              <a:rPr lang="en-US" sz="950" dirty="0">
                <a:latin typeface="Times New Roman" pitchFamily="34" charset="0"/>
                <a:ea typeface="Times New Roman" pitchFamily="34" charset="-122"/>
                <a:cs typeface="Times New Roman" pitchFamily="34" charset="-120"/>
              </a:rPr>
              <a:t>• Mode recommandé pour la PRODUCTION</a:t>
            </a:r>
            <a:endParaRPr lang="en-US" sz="950" dirty="0"/>
          </a:p>
        </p:txBody>
      </p:sp>
      <p:sp>
        <p:nvSpPr>
          <p:cNvPr id="11" name="Shape 8"/>
          <p:cNvSpPr/>
          <p:nvPr/>
        </p:nvSpPr>
        <p:spPr>
          <a:xfrm>
            <a:off x="4709160" y="987552"/>
            <a:ext cx="4251960" cy="1920240"/>
          </a:xfrm>
          <a:prstGeom prst="rect">
            <a:avLst/>
          </a:prstGeom>
          <a:noFill/>
          <a:ln w="25400">
            <a:noFill/>
            <a:prstDash val="solid"/>
          </a:ln>
        </p:spPr>
        <p:txBody>
          <a:bodyPr/>
          <a:lstStyle/>
          <a:p>
            <a:endParaRPr lang="fr-CM"/>
          </a:p>
        </p:txBody>
      </p:sp>
      <p:sp>
        <p:nvSpPr>
          <p:cNvPr id="12" name="Shape 9"/>
          <p:cNvSpPr/>
          <p:nvPr/>
        </p:nvSpPr>
        <p:spPr>
          <a:xfrm>
            <a:off x="4709160" y="987552"/>
            <a:ext cx="4251960" cy="457200"/>
          </a:xfrm>
          <a:prstGeom prst="rect">
            <a:avLst/>
          </a:prstGeom>
          <a:noFill/>
          <a:ln w="12700">
            <a:noFill/>
            <a:prstDash val="solid"/>
          </a:ln>
        </p:spPr>
        <p:txBody>
          <a:bodyPr/>
          <a:lstStyle/>
          <a:p>
            <a:endParaRPr lang="fr-CM"/>
          </a:p>
        </p:txBody>
      </p:sp>
      <p:sp>
        <p:nvSpPr>
          <p:cNvPr id="13" name="Text 10"/>
          <p:cNvSpPr/>
          <p:nvPr/>
        </p:nvSpPr>
        <p:spPr>
          <a:xfrm>
            <a:off x="4800600" y="1005840"/>
            <a:ext cx="4114800" cy="411480"/>
          </a:xfrm>
          <a:prstGeom prst="rect">
            <a:avLst/>
          </a:prstGeom>
          <a:noFill/>
          <a:ln/>
        </p:spPr>
        <p:txBody>
          <a:bodyPr wrap="square" rtlCol="0" anchor="ctr"/>
          <a:lstStyle/>
          <a:p>
            <a:pPr marL="0" indent="0">
              <a:buNone/>
            </a:pPr>
            <a:r>
              <a:rPr lang="en-US" sz="1500" b="1" dirty="0">
                <a:latin typeface="Times New Roman" pitchFamily="34" charset="0"/>
                <a:ea typeface="Times New Roman" pitchFamily="34" charset="-122"/>
                <a:cs typeface="Times New Roman" pitchFamily="34" charset="-120"/>
              </a:rPr>
              <a:t>MODE COMPLAIN</a:t>
            </a:r>
            <a:endParaRPr lang="en-US" sz="1500" dirty="0"/>
          </a:p>
        </p:txBody>
      </p:sp>
      <p:sp>
        <p:nvSpPr>
          <p:cNvPr id="14" name="Text 11"/>
          <p:cNvSpPr/>
          <p:nvPr/>
        </p:nvSpPr>
        <p:spPr>
          <a:xfrm>
            <a:off x="4800600" y="1508760"/>
            <a:ext cx="4069080" cy="132588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Surveille sans bloquer les actions</a:t>
            </a:r>
            <a:endParaRPr lang="en-US" sz="950" dirty="0"/>
          </a:p>
          <a:p>
            <a:pPr marL="0" indent="0">
              <a:buNone/>
            </a:pPr>
            <a:r>
              <a:rPr lang="en-US" sz="950" dirty="0">
                <a:latin typeface="Times New Roman" pitchFamily="34" charset="0"/>
                <a:ea typeface="Times New Roman" pitchFamily="34" charset="-122"/>
                <a:cs typeface="Times New Roman" pitchFamily="34" charset="-120"/>
              </a:rPr>
              <a:t>• Journalise les violations (sans les stopper)</a:t>
            </a:r>
            <a:endParaRPr lang="en-US" sz="950" dirty="0"/>
          </a:p>
          <a:p>
            <a:pPr marL="0" indent="0">
              <a:buNone/>
            </a:pPr>
            <a:r>
              <a:rPr lang="en-US" sz="950" dirty="0">
                <a:latin typeface="Times New Roman" pitchFamily="34" charset="0"/>
                <a:ea typeface="Times New Roman" pitchFamily="34" charset="-122"/>
                <a:cs typeface="Times New Roman" pitchFamily="34" charset="-120"/>
              </a:rPr>
              <a:t>• Idéal pour TESTER un nouveau profil</a:t>
            </a:r>
            <a:endParaRPr lang="en-US" sz="950" dirty="0"/>
          </a:p>
          <a:p>
            <a:pPr marL="0" indent="0">
              <a:buNone/>
            </a:pPr>
            <a:r>
              <a:rPr lang="en-US" sz="950" dirty="0">
                <a:latin typeface="Times New Roman" pitchFamily="34" charset="0"/>
                <a:ea typeface="Times New Roman" pitchFamily="34" charset="-122"/>
                <a:cs typeface="Times New Roman" pitchFamily="34" charset="-120"/>
              </a:rPr>
              <a:t>• Permet d'identifier les règles manquantes</a:t>
            </a:r>
            <a:endParaRPr lang="en-US" sz="950" dirty="0"/>
          </a:p>
          <a:p>
            <a:pPr marL="0" indent="0">
              <a:buNone/>
            </a:pPr>
            <a:r>
              <a:rPr lang="en-US" sz="950" dirty="0">
                <a:latin typeface="Times New Roman" pitchFamily="34" charset="0"/>
                <a:ea typeface="Times New Roman" pitchFamily="34" charset="-122"/>
                <a:cs typeface="Times New Roman" pitchFamily="34" charset="-120"/>
              </a:rPr>
              <a:t>• Mode recommandé en phase de DÉVELOPPEMENT</a:t>
            </a:r>
            <a:endParaRPr lang="en-US" sz="950" dirty="0"/>
          </a:p>
        </p:txBody>
      </p:sp>
      <p:sp>
        <p:nvSpPr>
          <p:cNvPr id="15" name="Text 12"/>
          <p:cNvSpPr/>
          <p:nvPr/>
        </p:nvSpPr>
        <p:spPr>
          <a:xfrm>
            <a:off x="182880" y="2971800"/>
            <a:ext cx="8778240" cy="347472"/>
          </a:xfrm>
          <a:prstGeom prst="rect">
            <a:avLst/>
          </a:prstGeom>
          <a:noFill/>
          <a:ln/>
        </p:spPr>
        <p:txBody>
          <a:bodyPr wrap="square" rtlCol="0" anchor="ctr"/>
          <a:lstStyle/>
          <a:p>
            <a:pPr marL="0" indent="0">
              <a:buNone/>
            </a:pPr>
            <a:r>
              <a:rPr lang="en-US" sz="1300" b="1" dirty="0">
                <a:solidFill>
                  <a:srgbClr val="1B2A4A"/>
                </a:solidFill>
                <a:latin typeface="Times New Roman" pitchFamily="34" charset="0"/>
                <a:ea typeface="Times New Roman" pitchFamily="34" charset="-122"/>
                <a:cs typeface="Times New Roman" pitchFamily="34" charset="-120"/>
              </a:rPr>
              <a:t>Couches de Sécurité Complémentaires Intégrées</a:t>
            </a:r>
            <a:endParaRPr lang="en-US" sz="1300" dirty="0"/>
          </a:p>
        </p:txBody>
      </p:sp>
      <p:sp>
        <p:nvSpPr>
          <p:cNvPr id="16" name="Shape 13"/>
          <p:cNvSpPr/>
          <p:nvPr/>
        </p:nvSpPr>
        <p:spPr>
          <a:xfrm>
            <a:off x="182880" y="3383280"/>
            <a:ext cx="2834640" cy="685800"/>
          </a:xfrm>
          <a:prstGeom prst="rect">
            <a:avLst/>
          </a:prstGeom>
          <a:noFill/>
          <a:ln w="12700">
            <a:noFill/>
            <a:prstDash val="solid"/>
          </a:ln>
        </p:spPr>
        <p:txBody>
          <a:bodyPr/>
          <a:lstStyle/>
          <a:p>
            <a:endParaRPr lang="fr-CM"/>
          </a:p>
        </p:txBody>
      </p:sp>
      <p:sp>
        <p:nvSpPr>
          <p:cNvPr id="18" name="Text 15"/>
          <p:cNvSpPr/>
          <p:nvPr/>
        </p:nvSpPr>
        <p:spPr>
          <a:xfrm>
            <a:off x="274320" y="3694176"/>
            <a:ext cx="2743200" cy="320040"/>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Hachage sécurisé des mots de passe (work factor 12)</a:t>
            </a:r>
            <a:endParaRPr lang="en-US" sz="850" dirty="0"/>
          </a:p>
        </p:txBody>
      </p:sp>
      <p:sp>
        <p:nvSpPr>
          <p:cNvPr id="19" name="Shape 16"/>
          <p:cNvSpPr/>
          <p:nvPr/>
        </p:nvSpPr>
        <p:spPr>
          <a:xfrm>
            <a:off x="3154680" y="3383280"/>
            <a:ext cx="2834640" cy="685800"/>
          </a:xfrm>
          <a:prstGeom prst="rect">
            <a:avLst/>
          </a:prstGeom>
          <a:noFill/>
          <a:ln w="12700">
            <a:noFill/>
            <a:prstDash val="solid"/>
          </a:ln>
        </p:spPr>
        <p:txBody>
          <a:bodyPr/>
          <a:lstStyle/>
          <a:p>
            <a:endParaRPr lang="fr-CM"/>
          </a:p>
        </p:txBody>
      </p:sp>
      <p:sp>
        <p:nvSpPr>
          <p:cNvPr id="21" name="Text 18"/>
          <p:cNvSpPr/>
          <p:nvPr/>
        </p:nvSpPr>
        <p:spPr>
          <a:xfrm>
            <a:off x="3246120" y="3694176"/>
            <a:ext cx="2743200" cy="320040"/>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Chiffrement de toutes les communications réseau</a:t>
            </a:r>
            <a:endParaRPr lang="en-US" sz="850" dirty="0"/>
          </a:p>
        </p:txBody>
      </p:sp>
      <p:sp>
        <p:nvSpPr>
          <p:cNvPr id="22" name="Shape 19"/>
          <p:cNvSpPr/>
          <p:nvPr/>
        </p:nvSpPr>
        <p:spPr>
          <a:xfrm>
            <a:off x="6126480" y="3383280"/>
            <a:ext cx="2834640" cy="685800"/>
          </a:xfrm>
          <a:prstGeom prst="rect">
            <a:avLst/>
          </a:prstGeom>
          <a:noFill/>
          <a:ln w="12700">
            <a:noFill/>
            <a:prstDash val="solid"/>
          </a:ln>
        </p:spPr>
        <p:txBody>
          <a:bodyPr/>
          <a:lstStyle/>
          <a:p>
            <a:endParaRPr lang="fr-CM"/>
          </a:p>
        </p:txBody>
      </p:sp>
      <p:sp>
        <p:nvSpPr>
          <p:cNvPr id="24" name="Text 21"/>
          <p:cNvSpPr/>
          <p:nvPr/>
        </p:nvSpPr>
        <p:spPr>
          <a:xfrm>
            <a:off x="6217920" y="3694176"/>
            <a:ext cx="2743200" cy="320040"/>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Tokens CSRF sur chaque formulaire critique</a:t>
            </a:r>
            <a:endParaRPr lang="en-US" sz="850" dirty="0"/>
          </a:p>
        </p:txBody>
      </p:sp>
      <p:sp>
        <p:nvSpPr>
          <p:cNvPr id="25" name="Shape 22"/>
          <p:cNvSpPr/>
          <p:nvPr/>
        </p:nvSpPr>
        <p:spPr>
          <a:xfrm>
            <a:off x="182880" y="4169664"/>
            <a:ext cx="2834640" cy="685800"/>
          </a:xfrm>
          <a:prstGeom prst="rect">
            <a:avLst/>
          </a:prstGeom>
          <a:noFill/>
          <a:ln w="12700">
            <a:noFill/>
            <a:prstDash val="solid"/>
          </a:ln>
        </p:spPr>
        <p:txBody>
          <a:bodyPr/>
          <a:lstStyle/>
          <a:p>
            <a:endParaRPr lang="fr-CM"/>
          </a:p>
        </p:txBody>
      </p:sp>
      <p:sp>
        <p:nvSpPr>
          <p:cNvPr id="27" name="Text 24"/>
          <p:cNvSpPr/>
          <p:nvPr/>
        </p:nvSpPr>
        <p:spPr>
          <a:xfrm>
            <a:off x="274320" y="4480560"/>
            <a:ext cx="2743200" cy="320040"/>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Sanitisation des entrées, protection injection SQL/XSS</a:t>
            </a:r>
            <a:endParaRPr lang="en-US" sz="850" dirty="0"/>
          </a:p>
        </p:txBody>
      </p:sp>
      <p:sp>
        <p:nvSpPr>
          <p:cNvPr id="28" name="Shape 25"/>
          <p:cNvSpPr/>
          <p:nvPr/>
        </p:nvSpPr>
        <p:spPr>
          <a:xfrm>
            <a:off x="3154680" y="4169664"/>
            <a:ext cx="2834640" cy="685800"/>
          </a:xfrm>
          <a:prstGeom prst="rect">
            <a:avLst/>
          </a:prstGeom>
          <a:noFill/>
          <a:ln w="12700">
            <a:noFill/>
            <a:prstDash val="solid"/>
          </a:ln>
        </p:spPr>
        <p:txBody>
          <a:bodyPr/>
          <a:lstStyle/>
          <a:p>
            <a:endParaRPr lang="fr-CM"/>
          </a:p>
        </p:txBody>
      </p:sp>
      <p:sp>
        <p:nvSpPr>
          <p:cNvPr id="30" name="Text 27"/>
          <p:cNvSpPr/>
          <p:nvPr/>
        </p:nvSpPr>
        <p:spPr>
          <a:xfrm>
            <a:off x="3246120" y="4480560"/>
            <a:ext cx="2743200" cy="320040"/>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Journalisation de toutes les actions administrateur</a:t>
            </a:r>
            <a:endParaRPr lang="en-US" sz="850" dirty="0"/>
          </a:p>
        </p:txBody>
      </p:sp>
      <p:sp>
        <p:nvSpPr>
          <p:cNvPr id="31" name="Shape 28"/>
          <p:cNvSpPr/>
          <p:nvPr/>
        </p:nvSpPr>
        <p:spPr>
          <a:xfrm>
            <a:off x="6126480" y="4169664"/>
            <a:ext cx="2834640" cy="685800"/>
          </a:xfrm>
          <a:prstGeom prst="rect">
            <a:avLst/>
          </a:prstGeom>
          <a:noFill/>
          <a:ln w="12700">
            <a:noFill/>
            <a:prstDash val="solid"/>
          </a:ln>
        </p:spPr>
        <p:txBody>
          <a:bodyPr/>
          <a:lstStyle/>
          <a:p>
            <a:endParaRPr lang="fr-CM"/>
          </a:p>
        </p:txBody>
      </p:sp>
      <p:sp>
        <p:nvSpPr>
          <p:cNvPr id="33" name="Text 30"/>
          <p:cNvSpPr/>
          <p:nvPr/>
        </p:nvSpPr>
        <p:spPr>
          <a:xfrm>
            <a:off x="6217920" y="4480560"/>
            <a:ext cx="2743200" cy="320040"/>
          </a:xfrm>
          <a:prstGeom prst="rect">
            <a:avLst/>
          </a:prstGeom>
          <a:noFill/>
          <a:ln/>
        </p:spPr>
        <p:txBody>
          <a:bodyPr wrap="square" rtlCol="0" anchor="ctr"/>
          <a:lstStyle/>
          <a:p>
            <a:pPr marL="0" indent="0">
              <a:buNone/>
            </a:pPr>
            <a:r>
              <a:rPr lang="en-US" sz="850" dirty="0">
                <a:latin typeface="Times New Roman" pitchFamily="34" charset="0"/>
                <a:ea typeface="Times New Roman" pitchFamily="34" charset="-122"/>
                <a:cs typeface="Times New Roman" pitchFamily="34" charset="-120"/>
              </a:rPr>
              <a:t>Limitation des tentatives d'authentification (3 max)</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109728" y="0"/>
            <a:ext cx="9034272" cy="914400"/>
          </a:xfrm>
          <a:prstGeom prst="rect">
            <a:avLst/>
          </a:prstGeom>
          <a:solidFill>
            <a:schemeClr val="accent1">
              <a:lumMod val="60000"/>
              <a:lumOff val="40000"/>
            </a:schemeClr>
          </a:solidFill>
          <a:ln w="12700">
            <a:solidFill>
              <a:schemeClr val="accent1">
                <a:lumMod val="50000"/>
              </a:schemeClr>
            </a:solidFill>
            <a:prstDash val="solid"/>
          </a:ln>
        </p:spPr>
        <p:txBody>
          <a:bodyPr/>
          <a:lstStyle/>
          <a:p>
            <a:endParaRPr lang="fr-CM"/>
          </a:p>
        </p:txBody>
      </p:sp>
      <p:sp>
        <p:nvSpPr>
          <p:cNvPr id="5" name="Text 3"/>
          <p:cNvSpPr/>
          <p:nvPr/>
        </p:nvSpPr>
        <p:spPr>
          <a:xfrm>
            <a:off x="914400" y="91440"/>
            <a:ext cx="7315200" cy="713232"/>
          </a:xfrm>
          <a:prstGeom prst="rect">
            <a:avLst/>
          </a:prstGeom>
          <a:noFill/>
          <a:ln/>
        </p:spPr>
        <p:txBody>
          <a:bodyPr wrap="square" rtlCol="0" anchor="ctr"/>
          <a:lstStyle/>
          <a:p>
            <a:pPr marL="0" indent="0">
              <a:buNone/>
            </a:pPr>
            <a:r>
              <a:rPr lang="en-US" sz="2200" b="1" dirty="0">
                <a:latin typeface="Times New Roman" pitchFamily="34" charset="0"/>
                <a:ea typeface="Times New Roman" pitchFamily="34" charset="-122"/>
                <a:cs typeface="Times New Roman" pitchFamily="34" charset="-120"/>
              </a:rPr>
              <a:t>08 · Synthèse de la Conception</a:t>
            </a:r>
            <a:endParaRPr lang="en-US" sz="2200" dirty="0"/>
          </a:p>
        </p:txBody>
      </p:sp>
      <p:sp>
        <p:nvSpPr>
          <p:cNvPr id="8" name="Text 5"/>
          <p:cNvSpPr/>
          <p:nvPr/>
        </p:nvSpPr>
        <p:spPr>
          <a:xfrm>
            <a:off x="320040" y="1051560"/>
            <a:ext cx="8503920" cy="411480"/>
          </a:xfrm>
          <a:prstGeom prst="rect">
            <a:avLst/>
          </a:prstGeom>
          <a:noFill/>
          <a:ln/>
        </p:spPr>
        <p:txBody>
          <a:bodyPr wrap="square" rtlCol="0" anchor="ctr"/>
          <a:lstStyle/>
          <a:p>
            <a:pPr marL="0" indent="0">
              <a:buNone/>
            </a:pPr>
            <a:r>
              <a:rPr lang="en-US" sz="1050" dirty="0">
                <a:latin typeface="Times New Roman" pitchFamily="34" charset="0"/>
                <a:ea typeface="Times New Roman" pitchFamily="34" charset="-122"/>
                <a:cs typeface="Times New Roman" pitchFamily="34" charset="-120"/>
              </a:rPr>
              <a:t>La conception repose sur une architecture MVC 3-tiers, des modèles UML rigoureux et des choix technologiques open source garantissant sécurité, performance et maintenabilité.</a:t>
            </a:r>
            <a:endParaRPr lang="en-US" sz="1050" dirty="0"/>
          </a:p>
        </p:txBody>
      </p:sp>
      <p:sp>
        <p:nvSpPr>
          <p:cNvPr id="11" name="Text 8"/>
          <p:cNvSpPr/>
          <p:nvPr/>
        </p:nvSpPr>
        <p:spPr>
          <a:xfrm>
            <a:off x="256032" y="1627632"/>
            <a:ext cx="2743200" cy="365760"/>
          </a:xfrm>
          <a:prstGeom prst="rect">
            <a:avLst/>
          </a:prstGeom>
          <a:noFill/>
          <a:ln/>
        </p:spPr>
        <p:txBody>
          <a:bodyPr wrap="square" lIns="0" tIns="0" rIns="0" bIns="0" rtlCol="0" anchor="ctr"/>
          <a:lstStyle/>
          <a:p>
            <a:pPr marL="0" indent="0">
              <a:buNone/>
            </a:pPr>
            <a:r>
              <a:rPr lang="en-US" sz="1050" b="1" dirty="0">
                <a:solidFill>
                  <a:srgbClr val="1B2A4A"/>
                </a:solidFill>
                <a:latin typeface="Times New Roman" pitchFamily="34" charset="0"/>
                <a:ea typeface="Times New Roman" pitchFamily="34" charset="-122"/>
                <a:cs typeface="Times New Roman" pitchFamily="34" charset="-120"/>
              </a:rPr>
              <a:t> Modèles Réalisés</a:t>
            </a:r>
            <a:endParaRPr lang="en-US" sz="1050" dirty="0"/>
          </a:p>
        </p:txBody>
      </p:sp>
      <p:sp>
        <p:nvSpPr>
          <p:cNvPr id="13" name="Text 10"/>
          <p:cNvSpPr/>
          <p:nvPr/>
        </p:nvSpPr>
        <p:spPr>
          <a:xfrm>
            <a:off x="347472" y="211226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Diagramme de classes (8 entités)</a:t>
            </a:r>
            <a:endParaRPr lang="en-US" sz="950" dirty="0"/>
          </a:p>
        </p:txBody>
      </p:sp>
      <p:sp>
        <p:nvSpPr>
          <p:cNvPr id="15" name="Text 12"/>
          <p:cNvSpPr/>
          <p:nvPr/>
        </p:nvSpPr>
        <p:spPr>
          <a:xfrm>
            <a:off x="347472" y="284378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Diagramme de séquence (3 scénarios clés)</a:t>
            </a:r>
            <a:endParaRPr lang="en-US" sz="950" dirty="0"/>
          </a:p>
        </p:txBody>
      </p:sp>
      <p:sp>
        <p:nvSpPr>
          <p:cNvPr id="17" name="Text 14"/>
          <p:cNvSpPr/>
          <p:nvPr/>
        </p:nvSpPr>
        <p:spPr>
          <a:xfrm>
            <a:off x="347472" y="357530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Cas d'utilisation (6 fonctionnalités)</a:t>
            </a:r>
            <a:endParaRPr lang="en-US" sz="950" dirty="0"/>
          </a:p>
        </p:txBody>
      </p:sp>
      <p:sp>
        <p:nvSpPr>
          <p:cNvPr id="19" name="Text 16"/>
          <p:cNvSpPr/>
          <p:nvPr/>
        </p:nvSpPr>
        <p:spPr>
          <a:xfrm>
            <a:off x="347472" y="430682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Architecture 3-tiers documentée</a:t>
            </a:r>
            <a:endParaRPr lang="en-US" sz="950" dirty="0"/>
          </a:p>
        </p:txBody>
      </p:sp>
      <p:sp>
        <p:nvSpPr>
          <p:cNvPr id="22" name="Text 19"/>
          <p:cNvSpPr/>
          <p:nvPr/>
        </p:nvSpPr>
        <p:spPr>
          <a:xfrm>
            <a:off x="3246120" y="1627632"/>
            <a:ext cx="2743200" cy="365760"/>
          </a:xfrm>
          <a:prstGeom prst="rect">
            <a:avLst/>
          </a:prstGeom>
          <a:noFill/>
          <a:ln/>
        </p:spPr>
        <p:txBody>
          <a:bodyPr wrap="square" lIns="0" tIns="0" rIns="0" bIns="0" rtlCol="0" anchor="ctr"/>
          <a:lstStyle/>
          <a:p>
            <a:pPr marL="0" indent="0">
              <a:buNone/>
            </a:pPr>
            <a:r>
              <a:rPr lang="en-US" sz="1050" b="1" dirty="0">
                <a:solidFill>
                  <a:srgbClr val="1B2A4A"/>
                </a:solidFill>
                <a:latin typeface="Times New Roman" pitchFamily="34" charset="0"/>
                <a:ea typeface="Times New Roman" pitchFamily="34" charset="-122"/>
                <a:cs typeface="Times New Roman" pitchFamily="34" charset="-120"/>
              </a:rPr>
              <a:t> Décisions Architecturales</a:t>
            </a:r>
            <a:endParaRPr lang="en-US" sz="1050" dirty="0"/>
          </a:p>
        </p:txBody>
      </p:sp>
      <p:sp>
        <p:nvSpPr>
          <p:cNvPr id="24" name="Text 21"/>
          <p:cNvSpPr/>
          <p:nvPr/>
        </p:nvSpPr>
        <p:spPr>
          <a:xfrm>
            <a:off x="3337560" y="211226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Pattern MVC pour séparation des responsabilités</a:t>
            </a:r>
            <a:endParaRPr lang="en-US" sz="950" dirty="0"/>
          </a:p>
        </p:txBody>
      </p:sp>
      <p:sp>
        <p:nvSpPr>
          <p:cNvPr id="26" name="Text 23"/>
          <p:cNvSpPr/>
          <p:nvPr/>
        </p:nvSpPr>
        <p:spPr>
          <a:xfrm>
            <a:off x="3337560" y="284378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Repository pattern pour la couche données</a:t>
            </a:r>
            <a:endParaRPr lang="en-US" sz="950" dirty="0"/>
          </a:p>
        </p:txBody>
      </p:sp>
      <p:sp>
        <p:nvSpPr>
          <p:cNvPr id="28" name="Text 25"/>
          <p:cNvSpPr/>
          <p:nvPr/>
        </p:nvSpPr>
        <p:spPr>
          <a:xfrm>
            <a:off x="3337560" y="357530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Service AppArmorManager centralisé</a:t>
            </a:r>
            <a:endParaRPr lang="en-US" sz="950" dirty="0"/>
          </a:p>
        </p:txBody>
      </p:sp>
      <p:sp>
        <p:nvSpPr>
          <p:cNvPr id="30" name="Text 27"/>
          <p:cNvSpPr/>
          <p:nvPr/>
        </p:nvSpPr>
        <p:spPr>
          <a:xfrm>
            <a:off x="3337560" y="430682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Interface abstraite pour extensibilité future</a:t>
            </a:r>
            <a:endParaRPr lang="en-US" sz="950" dirty="0"/>
          </a:p>
        </p:txBody>
      </p:sp>
      <p:sp>
        <p:nvSpPr>
          <p:cNvPr id="33" name="Text 30"/>
          <p:cNvSpPr/>
          <p:nvPr/>
        </p:nvSpPr>
        <p:spPr>
          <a:xfrm>
            <a:off x="6236208" y="1627632"/>
            <a:ext cx="2743200" cy="365760"/>
          </a:xfrm>
          <a:prstGeom prst="rect">
            <a:avLst/>
          </a:prstGeom>
          <a:noFill/>
          <a:ln/>
        </p:spPr>
        <p:txBody>
          <a:bodyPr wrap="square" lIns="0" tIns="0" rIns="0" bIns="0" rtlCol="0" anchor="ctr"/>
          <a:lstStyle/>
          <a:p>
            <a:pPr marL="0" indent="0">
              <a:buNone/>
            </a:pPr>
            <a:r>
              <a:rPr lang="en-US" sz="1050" b="1" dirty="0">
                <a:solidFill>
                  <a:srgbClr val="1B2A4A"/>
                </a:solidFill>
                <a:latin typeface="Times New Roman" pitchFamily="34" charset="0"/>
                <a:ea typeface="Times New Roman" pitchFamily="34" charset="-122"/>
                <a:cs typeface="Times New Roman" pitchFamily="34" charset="-120"/>
              </a:rPr>
              <a:t> Sécurité par Conception</a:t>
            </a:r>
            <a:endParaRPr lang="en-US" sz="1050" dirty="0"/>
          </a:p>
        </p:txBody>
      </p:sp>
      <p:sp>
        <p:nvSpPr>
          <p:cNvPr id="35" name="Text 32"/>
          <p:cNvSpPr/>
          <p:nvPr/>
        </p:nvSpPr>
        <p:spPr>
          <a:xfrm>
            <a:off x="6327648" y="211226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Principe du moindre privilège appliqué</a:t>
            </a:r>
            <a:endParaRPr lang="en-US" sz="950" dirty="0"/>
          </a:p>
        </p:txBody>
      </p:sp>
      <p:sp>
        <p:nvSpPr>
          <p:cNvPr id="37" name="Text 34"/>
          <p:cNvSpPr/>
          <p:nvPr/>
        </p:nvSpPr>
        <p:spPr>
          <a:xfrm>
            <a:off x="6327648" y="284378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Gestion des modes ENFORCE / COMPLAIN</a:t>
            </a:r>
            <a:endParaRPr lang="en-US" sz="950" dirty="0"/>
          </a:p>
        </p:txBody>
      </p:sp>
      <p:sp>
        <p:nvSpPr>
          <p:cNvPr id="39" name="Text 36"/>
          <p:cNvSpPr/>
          <p:nvPr/>
        </p:nvSpPr>
        <p:spPr>
          <a:xfrm>
            <a:off x="6327648" y="357530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Couche d'audit et journalisation totale</a:t>
            </a:r>
            <a:endParaRPr lang="en-US" sz="950" dirty="0"/>
          </a:p>
        </p:txBody>
      </p:sp>
      <p:sp>
        <p:nvSpPr>
          <p:cNvPr id="41" name="Text 38"/>
          <p:cNvSpPr/>
          <p:nvPr/>
        </p:nvSpPr>
        <p:spPr>
          <a:xfrm>
            <a:off x="6327648" y="4306824"/>
            <a:ext cx="2505456" cy="548640"/>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  Protection contre les vecteurs web (XSS, CSRF, injection)</a:t>
            </a:r>
            <a:endParaRPr lang="en-US" sz="950" dirty="0"/>
          </a:p>
        </p:txBody>
      </p:sp>
      <p:sp>
        <p:nvSpPr>
          <p:cNvPr id="43" name="Text 40"/>
          <p:cNvSpPr/>
          <p:nvPr/>
        </p:nvSpPr>
        <p:spPr>
          <a:xfrm>
            <a:off x="274320" y="4829660"/>
            <a:ext cx="8503920" cy="313840"/>
          </a:xfrm>
          <a:prstGeom prst="rect">
            <a:avLst/>
          </a:prstGeom>
          <a:noFill/>
          <a:ln/>
        </p:spPr>
        <p:txBody>
          <a:bodyPr wrap="square" rtlCol="0" anchor="ctr"/>
          <a:lstStyle/>
          <a:p>
            <a:pPr marL="0" indent="0" algn="ctr">
              <a:buNone/>
            </a:pPr>
            <a:r>
              <a:rPr lang="en-US" sz="950" dirty="0">
                <a:latin typeface="Times New Roman" pitchFamily="34" charset="0"/>
                <a:ea typeface="Times New Roman" pitchFamily="34" charset="-122"/>
                <a:cs typeface="Times New Roman" pitchFamily="34" charset="-120"/>
              </a:rPr>
              <a:t>8 classes métiers  ·  3 scénarios UML  ·  3 couches architecture  ·  6 modes de sécurité  ·  100% open source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a:effectLst/>
      </p:bgPr>
    </p:bg>
    <p:spTree>
      <p:nvGrpSpPr>
        <p:cNvPr id="1" name=""/>
        <p:cNvGrpSpPr/>
        <p:nvPr/>
      </p:nvGrpSpPr>
      <p:grpSpPr>
        <a:xfrm>
          <a:off x="0" y="0"/>
          <a:ext cx="0" cy="0"/>
          <a:chOff x="0" y="0"/>
          <a:chExt cx="0" cy="0"/>
        </a:xfrm>
      </p:grpSpPr>
      <p:sp>
        <p:nvSpPr>
          <p:cNvPr id="3" name="Shape 1"/>
          <p:cNvSpPr/>
          <p:nvPr/>
        </p:nvSpPr>
        <p:spPr>
          <a:xfrm>
            <a:off x="109728" y="0"/>
            <a:ext cx="9034272" cy="914400"/>
          </a:xfrm>
          <a:prstGeom prst="rect">
            <a:avLst/>
          </a:prstGeom>
          <a:solidFill>
            <a:schemeClr val="accent1">
              <a:lumMod val="60000"/>
              <a:lumOff val="40000"/>
            </a:schemeClr>
          </a:solidFill>
          <a:ln w="12700">
            <a:solidFill>
              <a:schemeClr val="accent1">
                <a:lumMod val="50000"/>
              </a:schemeClr>
            </a:solidFill>
            <a:prstDash val="solid"/>
          </a:ln>
        </p:spPr>
        <p:txBody>
          <a:bodyPr/>
          <a:lstStyle/>
          <a:p>
            <a:endParaRPr lang="fr-CM"/>
          </a:p>
        </p:txBody>
      </p:sp>
      <p:sp>
        <p:nvSpPr>
          <p:cNvPr id="5" name="Text 3"/>
          <p:cNvSpPr/>
          <p:nvPr/>
        </p:nvSpPr>
        <p:spPr>
          <a:xfrm>
            <a:off x="914400" y="91440"/>
            <a:ext cx="7315200" cy="713232"/>
          </a:xfrm>
          <a:prstGeom prst="rect">
            <a:avLst/>
          </a:prstGeom>
          <a:noFill/>
          <a:ln/>
        </p:spPr>
        <p:txBody>
          <a:bodyPr wrap="square" rtlCol="0" anchor="ctr"/>
          <a:lstStyle/>
          <a:p>
            <a:pPr marL="0" indent="0">
              <a:buNone/>
            </a:pPr>
            <a:r>
              <a:rPr lang="en-US" sz="2200" b="1" dirty="0">
                <a:solidFill>
                  <a:srgbClr val="FFFFFF"/>
                </a:solidFill>
                <a:latin typeface="Times New Roman" pitchFamily="34" charset="0"/>
                <a:ea typeface="Times New Roman" pitchFamily="34" charset="-122"/>
                <a:cs typeface="Times New Roman" pitchFamily="34" charset="-120"/>
              </a:rPr>
              <a:t>09 · Transition vers la Réalisation &amp; Perspectives</a:t>
            </a:r>
            <a:endParaRPr lang="en-US" sz="2200" dirty="0"/>
          </a:p>
        </p:txBody>
      </p:sp>
      <p:sp>
        <p:nvSpPr>
          <p:cNvPr id="7" name="Text 4"/>
          <p:cNvSpPr/>
          <p:nvPr/>
        </p:nvSpPr>
        <p:spPr>
          <a:xfrm>
            <a:off x="274320" y="941832"/>
            <a:ext cx="8595360" cy="292608"/>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Les livrables de conception constituent la feuille de route directe vers l'implémentation.</a:t>
            </a:r>
            <a:endParaRPr lang="en-US" sz="1100" dirty="0"/>
          </a:p>
        </p:txBody>
      </p:sp>
      <p:sp>
        <p:nvSpPr>
          <p:cNvPr id="8" name="Shape 5"/>
          <p:cNvSpPr/>
          <p:nvPr/>
        </p:nvSpPr>
        <p:spPr>
          <a:xfrm>
            <a:off x="182880" y="1335024"/>
            <a:ext cx="8778240" cy="548640"/>
          </a:xfrm>
          <a:prstGeom prst="rect">
            <a:avLst/>
          </a:prstGeom>
          <a:noFill/>
          <a:ln w="12700">
            <a:noFill/>
            <a:prstDash val="solid"/>
          </a:ln>
        </p:spPr>
        <p:txBody>
          <a:bodyPr/>
          <a:lstStyle/>
          <a:p>
            <a:endParaRPr lang="fr-CM"/>
          </a:p>
        </p:txBody>
      </p:sp>
      <p:sp>
        <p:nvSpPr>
          <p:cNvPr id="11" name="Text 8"/>
          <p:cNvSpPr/>
          <p:nvPr/>
        </p:nvSpPr>
        <p:spPr>
          <a:xfrm>
            <a:off x="749808" y="1362456"/>
            <a:ext cx="1645920" cy="420624"/>
          </a:xfrm>
          <a:prstGeom prst="rect">
            <a:avLst/>
          </a:prstGeom>
          <a:noFill/>
          <a:ln/>
        </p:spPr>
        <p:txBody>
          <a:bodyPr wrap="square" rtlCol="0" anchor="ctr"/>
          <a:lstStyle/>
          <a:p>
            <a:pPr marL="0" indent="0">
              <a:buNone/>
            </a:pPr>
            <a:r>
              <a:rPr lang="en-US" sz="1100" b="1" dirty="0">
                <a:latin typeface="Times New Roman" pitchFamily="34" charset="0"/>
                <a:ea typeface="Times New Roman" pitchFamily="34" charset="-122"/>
                <a:cs typeface="Times New Roman" pitchFamily="34" charset="-120"/>
              </a:rPr>
              <a:t>Initialisation</a:t>
            </a:r>
            <a:endParaRPr lang="en-US" sz="1100" dirty="0"/>
          </a:p>
        </p:txBody>
      </p:sp>
      <p:sp>
        <p:nvSpPr>
          <p:cNvPr id="12" name="Text 9"/>
          <p:cNvSpPr/>
          <p:nvPr/>
        </p:nvSpPr>
        <p:spPr>
          <a:xfrm>
            <a:off x="2487168" y="1362456"/>
            <a:ext cx="6035040" cy="420624"/>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Mise en place de l'environnement Ubuntu, installation Flask, configuration AppArmor, base de données.</a:t>
            </a:r>
            <a:endParaRPr lang="en-US" sz="950" dirty="0"/>
          </a:p>
        </p:txBody>
      </p:sp>
      <p:sp>
        <p:nvSpPr>
          <p:cNvPr id="17" name="Text 14"/>
          <p:cNvSpPr/>
          <p:nvPr/>
        </p:nvSpPr>
        <p:spPr>
          <a:xfrm>
            <a:off x="749808" y="1984248"/>
            <a:ext cx="1645920" cy="420624"/>
          </a:xfrm>
          <a:prstGeom prst="rect">
            <a:avLst/>
          </a:prstGeom>
          <a:noFill/>
          <a:ln/>
        </p:spPr>
        <p:txBody>
          <a:bodyPr wrap="square" rtlCol="0" anchor="ctr"/>
          <a:lstStyle/>
          <a:p>
            <a:pPr marL="0" indent="0">
              <a:buNone/>
            </a:pPr>
            <a:r>
              <a:rPr lang="en-US" sz="1100" b="1" dirty="0">
                <a:latin typeface="Times New Roman" pitchFamily="34" charset="0"/>
                <a:ea typeface="Times New Roman" pitchFamily="34" charset="-122"/>
                <a:cs typeface="Times New Roman" pitchFamily="34" charset="-120"/>
              </a:rPr>
              <a:t>Authentification</a:t>
            </a:r>
            <a:endParaRPr lang="en-US" sz="1100" dirty="0"/>
          </a:p>
        </p:txBody>
      </p:sp>
      <p:sp>
        <p:nvSpPr>
          <p:cNvPr id="18" name="Text 15"/>
          <p:cNvSpPr/>
          <p:nvPr/>
        </p:nvSpPr>
        <p:spPr>
          <a:xfrm>
            <a:off x="2487168" y="1984248"/>
            <a:ext cx="6035040" cy="420624"/>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Module login, bcrypt, gestion des sessions JWT, middleware de sécurité.</a:t>
            </a:r>
            <a:endParaRPr lang="en-US" sz="950" dirty="0"/>
          </a:p>
        </p:txBody>
      </p:sp>
      <p:sp>
        <p:nvSpPr>
          <p:cNvPr id="23" name="Text 20"/>
          <p:cNvSpPr/>
          <p:nvPr/>
        </p:nvSpPr>
        <p:spPr>
          <a:xfrm>
            <a:off x="749808" y="2606040"/>
            <a:ext cx="1645920" cy="420624"/>
          </a:xfrm>
          <a:prstGeom prst="rect">
            <a:avLst/>
          </a:prstGeom>
          <a:noFill/>
          <a:ln/>
        </p:spPr>
        <p:txBody>
          <a:bodyPr wrap="square" rtlCol="0" anchor="ctr"/>
          <a:lstStyle/>
          <a:p>
            <a:pPr marL="0" indent="0">
              <a:buNone/>
            </a:pPr>
            <a:r>
              <a:rPr lang="en-US" sz="1100" b="1" dirty="0">
                <a:latin typeface="Times New Roman" pitchFamily="34" charset="0"/>
                <a:ea typeface="Times New Roman" pitchFamily="34" charset="-122"/>
                <a:cs typeface="Times New Roman" pitchFamily="34" charset="-120"/>
              </a:rPr>
              <a:t>Gestion des Profils</a:t>
            </a:r>
            <a:endParaRPr lang="en-US" sz="1100" dirty="0"/>
          </a:p>
        </p:txBody>
      </p:sp>
      <p:sp>
        <p:nvSpPr>
          <p:cNvPr id="24" name="Text 21"/>
          <p:cNvSpPr/>
          <p:nvPr/>
        </p:nvSpPr>
        <p:spPr>
          <a:xfrm>
            <a:off x="2487168" y="2606040"/>
            <a:ext cx="6035040" cy="420624"/>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CRUD profils AppArmor, interface édition, intégration aa-enforce/aa-disable.</a:t>
            </a:r>
            <a:endParaRPr lang="en-US" sz="950" dirty="0"/>
          </a:p>
        </p:txBody>
      </p:sp>
      <p:sp>
        <p:nvSpPr>
          <p:cNvPr id="27" name="Text 24"/>
          <p:cNvSpPr/>
          <p:nvPr/>
        </p:nvSpPr>
        <p:spPr>
          <a:xfrm>
            <a:off x="228600" y="3227832"/>
            <a:ext cx="420624" cy="420624"/>
          </a:xfrm>
          <a:prstGeom prst="rect">
            <a:avLst/>
          </a:prstGeom>
          <a:noFill/>
          <a:ln/>
        </p:spPr>
        <p:txBody>
          <a:bodyPr wrap="square" lIns="0" tIns="0" rIns="0" bIns="0" rtlCol="0" anchor="ctr"/>
          <a:lstStyle/>
          <a:p>
            <a:pPr marL="0" indent="0" algn="ctr">
              <a:buNone/>
            </a:pPr>
            <a:endParaRPr lang="en-US" sz="1200" dirty="0"/>
          </a:p>
        </p:txBody>
      </p:sp>
      <p:sp>
        <p:nvSpPr>
          <p:cNvPr id="28" name="Text 25"/>
          <p:cNvSpPr/>
          <p:nvPr/>
        </p:nvSpPr>
        <p:spPr>
          <a:xfrm>
            <a:off x="749808" y="3227832"/>
            <a:ext cx="1645920" cy="420624"/>
          </a:xfrm>
          <a:prstGeom prst="rect">
            <a:avLst/>
          </a:prstGeom>
          <a:noFill/>
          <a:ln/>
        </p:spPr>
        <p:txBody>
          <a:bodyPr wrap="square" rtlCol="0" anchor="ctr"/>
          <a:lstStyle/>
          <a:p>
            <a:pPr marL="0" indent="0">
              <a:buNone/>
            </a:pPr>
            <a:r>
              <a:rPr lang="en-US" sz="1100" b="1" dirty="0">
                <a:latin typeface="Times New Roman" pitchFamily="34" charset="0"/>
                <a:ea typeface="Times New Roman" pitchFamily="34" charset="-122"/>
                <a:cs typeface="Times New Roman" pitchFamily="34" charset="-120"/>
              </a:rPr>
              <a:t>Dashboard &amp; Logs</a:t>
            </a:r>
            <a:endParaRPr lang="en-US" sz="1100" dirty="0"/>
          </a:p>
        </p:txBody>
      </p:sp>
      <p:sp>
        <p:nvSpPr>
          <p:cNvPr id="29" name="Text 26"/>
          <p:cNvSpPr/>
          <p:nvPr/>
        </p:nvSpPr>
        <p:spPr>
          <a:xfrm>
            <a:off x="2487168" y="3227832"/>
            <a:ext cx="6035040" cy="420624"/>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Tableau de bord temps réel, collecte syslog, filtres, visualisation graphique.</a:t>
            </a:r>
            <a:endParaRPr lang="en-US" sz="950" dirty="0"/>
          </a:p>
        </p:txBody>
      </p:sp>
      <p:sp>
        <p:nvSpPr>
          <p:cNvPr id="32" name="Text 29"/>
          <p:cNvSpPr/>
          <p:nvPr/>
        </p:nvSpPr>
        <p:spPr>
          <a:xfrm>
            <a:off x="228600" y="3849624"/>
            <a:ext cx="420624" cy="420624"/>
          </a:xfrm>
          <a:prstGeom prst="rect">
            <a:avLst/>
          </a:prstGeom>
          <a:noFill/>
          <a:ln/>
        </p:spPr>
        <p:txBody>
          <a:bodyPr wrap="square" lIns="0" tIns="0" rIns="0" bIns="0" rtlCol="0" anchor="ctr"/>
          <a:lstStyle/>
          <a:p>
            <a:pPr marL="0" indent="0" algn="ctr">
              <a:buNone/>
            </a:pPr>
            <a:endParaRPr lang="en-US" sz="1200" dirty="0"/>
          </a:p>
        </p:txBody>
      </p:sp>
      <p:sp>
        <p:nvSpPr>
          <p:cNvPr id="33" name="Text 30"/>
          <p:cNvSpPr/>
          <p:nvPr/>
        </p:nvSpPr>
        <p:spPr>
          <a:xfrm>
            <a:off x="749808" y="3849624"/>
            <a:ext cx="1645920" cy="420624"/>
          </a:xfrm>
          <a:prstGeom prst="rect">
            <a:avLst/>
          </a:prstGeom>
          <a:noFill/>
          <a:ln/>
        </p:spPr>
        <p:txBody>
          <a:bodyPr wrap="square" rtlCol="0" anchor="ctr"/>
          <a:lstStyle/>
          <a:p>
            <a:pPr marL="0" indent="0">
              <a:buNone/>
            </a:pPr>
            <a:r>
              <a:rPr lang="en-US" sz="1100" b="1" dirty="0">
                <a:latin typeface="Times New Roman" pitchFamily="34" charset="0"/>
                <a:ea typeface="Times New Roman" pitchFamily="34" charset="-122"/>
                <a:cs typeface="Times New Roman" pitchFamily="34" charset="-120"/>
              </a:rPr>
              <a:t>Détection &amp; Mitigation</a:t>
            </a:r>
            <a:endParaRPr lang="en-US" sz="1100" dirty="0"/>
          </a:p>
        </p:txBody>
      </p:sp>
      <p:sp>
        <p:nvSpPr>
          <p:cNvPr id="34" name="Text 31"/>
          <p:cNvSpPr/>
          <p:nvPr/>
        </p:nvSpPr>
        <p:spPr>
          <a:xfrm>
            <a:off x="2487168" y="3849624"/>
            <a:ext cx="6035040" cy="420624"/>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Moteur de corrélation d'événements, système d'alertes, actions de mitigation automatiques.</a:t>
            </a:r>
            <a:endParaRPr lang="en-US" sz="950" dirty="0"/>
          </a:p>
        </p:txBody>
      </p:sp>
      <p:sp>
        <p:nvSpPr>
          <p:cNvPr id="37" name="Text 34"/>
          <p:cNvSpPr/>
          <p:nvPr/>
        </p:nvSpPr>
        <p:spPr>
          <a:xfrm>
            <a:off x="228600" y="4471416"/>
            <a:ext cx="420624" cy="420624"/>
          </a:xfrm>
          <a:prstGeom prst="rect">
            <a:avLst/>
          </a:prstGeom>
          <a:noFill/>
          <a:ln/>
        </p:spPr>
        <p:txBody>
          <a:bodyPr wrap="square" lIns="0" tIns="0" rIns="0" bIns="0" rtlCol="0" anchor="ctr"/>
          <a:lstStyle/>
          <a:p>
            <a:pPr marL="0" indent="0" algn="ctr">
              <a:buNone/>
            </a:pPr>
            <a:endParaRPr lang="en-US" sz="1200" dirty="0"/>
          </a:p>
        </p:txBody>
      </p:sp>
      <p:sp>
        <p:nvSpPr>
          <p:cNvPr id="38" name="Text 35"/>
          <p:cNvSpPr/>
          <p:nvPr/>
        </p:nvSpPr>
        <p:spPr>
          <a:xfrm>
            <a:off x="749808" y="4471416"/>
            <a:ext cx="1645920" cy="420624"/>
          </a:xfrm>
          <a:prstGeom prst="rect">
            <a:avLst/>
          </a:prstGeom>
          <a:noFill/>
          <a:ln/>
        </p:spPr>
        <p:txBody>
          <a:bodyPr wrap="square" rtlCol="0" anchor="ctr"/>
          <a:lstStyle/>
          <a:p>
            <a:pPr marL="0" indent="0">
              <a:buNone/>
            </a:pPr>
            <a:r>
              <a:rPr lang="en-US" sz="1100" b="1" dirty="0">
                <a:latin typeface="Times New Roman" pitchFamily="34" charset="0"/>
                <a:ea typeface="Times New Roman" pitchFamily="34" charset="-122"/>
                <a:cs typeface="Times New Roman" pitchFamily="34" charset="-120"/>
              </a:rPr>
              <a:t>Tests &amp; Démo Attaque</a:t>
            </a:r>
            <a:endParaRPr lang="en-US" sz="1100" dirty="0"/>
          </a:p>
        </p:txBody>
      </p:sp>
      <p:sp>
        <p:nvSpPr>
          <p:cNvPr id="39" name="Text 36"/>
          <p:cNvSpPr/>
          <p:nvPr/>
        </p:nvSpPr>
        <p:spPr>
          <a:xfrm>
            <a:off x="2487168" y="4471416"/>
            <a:ext cx="6035040" cy="420624"/>
          </a:xfrm>
          <a:prstGeom prst="rect">
            <a:avLst/>
          </a:prstGeom>
          <a:noFill/>
          <a:ln/>
        </p:spPr>
        <p:txBody>
          <a:bodyPr wrap="square" rtlCol="0" anchor="ctr"/>
          <a:lstStyle/>
          <a:p>
            <a:pPr marL="0" indent="0">
              <a:buNone/>
            </a:pPr>
            <a:r>
              <a:rPr lang="en-US" sz="950" dirty="0">
                <a:latin typeface="Times New Roman" pitchFamily="34" charset="0"/>
                <a:ea typeface="Times New Roman" pitchFamily="34" charset="-122"/>
                <a:cs typeface="Times New Roman" pitchFamily="34" charset="-120"/>
              </a:rPr>
              <a:t>Scénarios d'attaques simulées, validation avant/après protection, rapport final.</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457200" y="274320"/>
            <a:ext cx="8229600" cy="457200"/>
          </a:xfrm>
          <a:prstGeom prst="rect">
            <a:avLst/>
          </a:prstGeom>
          <a:noFill/>
          <a:ln/>
        </p:spPr>
        <p:txBody>
          <a:bodyPr wrap="square" rtlCol="0" anchor="ctr"/>
          <a:lstStyle/>
          <a:p>
            <a:pPr marL="0" indent="0">
              <a:buNone/>
            </a:pPr>
            <a:r>
              <a:rPr lang="en-US" sz="2200" b="1" dirty="0">
                <a:latin typeface="Times New Roman" pitchFamily="34" charset="0"/>
                <a:ea typeface="Times New Roman" pitchFamily="34" charset="-122"/>
                <a:cs typeface="Times New Roman" pitchFamily="34" charset="-120"/>
              </a:rPr>
              <a:t>10 · Conclusion </a:t>
            </a:r>
            <a:endParaRPr lang="en-US" sz="2200" dirty="0"/>
          </a:p>
        </p:txBody>
      </p:sp>
      <p:sp>
        <p:nvSpPr>
          <p:cNvPr id="6" name="Text 4"/>
          <p:cNvSpPr/>
          <p:nvPr/>
        </p:nvSpPr>
        <p:spPr>
          <a:xfrm>
            <a:off x="457200" y="841248"/>
            <a:ext cx="8229600" cy="868680"/>
          </a:xfrm>
          <a:prstGeom prst="rect">
            <a:avLst/>
          </a:prstGeom>
          <a:noFill/>
          <a:ln/>
        </p:spPr>
        <p:txBody>
          <a:bodyPr wrap="square" rtlCol="0" anchor="ctr"/>
          <a:lstStyle/>
          <a:p>
            <a:pPr marL="0" indent="0">
              <a:buNone/>
            </a:pPr>
            <a:r>
              <a:rPr lang="en-US" sz="1100" dirty="0">
                <a:latin typeface="Times New Roman" pitchFamily="34" charset="0"/>
                <a:ea typeface="Times New Roman" pitchFamily="34" charset="-122"/>
                <a:cs typeface="Times New Roman" pitchFamily="34" charset="-120"/>
              </a:rPr>
              <a:t>Ce projet de Gestionnaire Web Sécurisé pour l'Administration des Profils AppArmor </a:t>
            </a:r>
            <a:r>
              <a:rPr lang="en-US" sz="1100" dirty="0" err="1">
                <a:latin typeface="Times New Roman" pitchFamily="34" charset="0"/>
                <a:ea typeface="Times New Roman" pitchFamily="34" charset="-122"/>
                <a:cs typeface="Times New Roman" pitchFamily="34" charset="-120"/>
              </a:rPr>
              <a:t>représente</a:t>
            </a:r>
            <a:r>
              <a:rPr lang="en-US" sz="1100" dirty="0">
                <a:latin typeface="Times New Roman" pitchFamily="34" charset="0"/>
                <a:ea typeface="Times New Roman" pitchFamily="34" charset="-122"/>
                <a:cs typeface="Times New Roman" pitchFamily="34" charset="-120"/>
              </a:rPr>
              <a:t> une réponse concrète et complète aux enjeux de sécurité des systèmes Linux modernes.</a:t>
            </a:r>
            <a:endParaRPr lang="en-US" sz="1100" dirty="0"/>
          </a:p>
          <a:p>
            <a:pPr marL="0" indent="0">
              <a:buNone/>
            </a:pPr>
            <a:endParaRPr lang="en-US" sz="1100" dirty="0"/>
          </a:p>
          <a:p>
            <a:pPr marL="0" indent="0">
              <a:buNone/>
            </a:pPr>
            <a:r>
              <a:rPr lang="en-US" sz="1100" dirty="0">
                <a:latin typeface="Times New Roman" pitchFamily="34" charset="0"/>
                <a:ea typeface="Times New Roman" pitchFamily="34" charset="-122"/>
                <a:cs typeface="Times New Roman" pitchFamily="34" charset="-120"/>
              </a:rPr>
              <a:t>Du dossier d'analyse à ce dossier de conception, nous avons progressivement construit une vision claire et cohérente du système :</a:t>
            </a:r>
            <a:endParaRPr lang="en-US" sz="1100" dirty="0"/>
          </a:p>
        </p:txBody>
      </p:sp>
      <p:sp>
        <p:nvSpPr>
          <p:cNvPr id="8" name="Text 6"/>
          <p:cNvSpPr/>
          <p:nvPr/>
        </p:nvSpPr>
        <p:spPr>
          <a:xfrm>
            <a:off x="548640" y="1847088"/>
            <a:ext cx="8138160" cy="384048"/>
          </a:xfrm>
          <a:prstGeom prst="rect">
            <a:avLst/>
          </a:prstGeom>
          <a:noFill/>
          <a:ln/>
        </p:spPr>
        <p:txBody>
          <a:bodyPr wrap="square" rtlCol="0" anchor="ctr"/>
          <a:lstStyle/>
          <a:p>
            <a:pPr marL="0" indent="0">
              <a:buNone/>
            </a:pPr>
            <a:r>
              <a:rPr lang="en-US" sz="1050" dirty="0">
                <a:latin typeface="Times New Roman" pitchFamily="34" charset="0"/>
                <a:ea typeface="Times New Roman" pitchFamily="34" charset="-122"/>
                <a:cs typeface="Times New Roman" pitchFamily="34" charset="-120"/>
              </a:rPr>
              <a:t> Périmètre parfaitement défini avec des exigences fonctionnelles et non-fonctionnelles précises</a:t>
            </a:r>
            <a:endParaRPr lang="en-US" sz="1050" dirty="0"/>
          </a:p>
        </p:txBody>
      </p:sp>
      <p:sp>
        <p:nvSpPr>
          <p:cNvPr id="10" name="Text 8"/>
          <p:cNvSpPr/>
          <p:nvPr/>
        </p:nvSpPr>
        <p:spPr>
          <a:xfrm>
            <a:off x="548640" y="2368296"/>
            <a:ext cx="8138160" cy="384048"/>
          </a:xfrm>
          <a:prstGeom prst="rect">
            <a:avLst/>
          </a:prstGeom>
          <a:noFill/>
          <a:ln/>
        </p:spPr>
        <p:txBody>
          <a:bodyPr wrap="square" rtlCol="0" anchor="ctr"/>
          <a:lstStyle/>
          <a:p>
            <a:pPr marL="0" indent="0">
              <a:buNone/>
            </a:pPr>
            <a:r>
              <a:rPr lang="en-US" sz="1050" dirty="0">
                <a:latin typeface="Times New Roman" pitchFamily="34" charset="0"/>
                <a:ea typeface="Times New Roman" pitchFamily="34" charset="-122"/>
                <a:cs typeface="Times New Roman" pitchFamily="34" charset="-120"/>
              </a:rPr>
              <a:t>  Architecture MVC 3-tiers — garantissant séparation, modularité et extensibilité</a:t>
            </a:r>
            <a:endParaRPr lang="en-US" sz="1050" dirty="0"/>
          </a:p>
        </p:txBody>
      </p:sp>
      <p:sp>
        <p:nvSpPr>
          <p:cNvPr id="12" name="Text 10"/>
          <p:cNvSpPr/>
          <p:nvPr/>
        </p:nvSpPr>
        <p:spPr>
          <a:xfrm>
            <a:off x="548640" y="2889504"/>
            <a:ext cx="8138160" cy="384048"/>
          </a:xfrm>
          <a:prstGeom prst="rect">
            <a:avLst/>
          </a:prstGeom>
          <a:noFill/>
          <a:ln/>
        </p:spPr>
        <p:txBody>
          <a:bodyPr wrap="square" rtlCol="0" anchor="ctr"/>
          <a:lstStyle/>
          <a:p>
            <a:pPr marL="0" indent="0">
              <a:buNone/>
            </a:pPr>
            <a:r>
              <a:rPr lang="en-US" sz="1050" dirty="0">
                <a:latin typeface="Times New Roman" pitchFamily="34" charset="0"/>
                <a:ea typeface="Times New Roman" pitchFamily="34" charset="-122"/>
                <a:cs typeface="Times New Roman" pitchFamily="34" charset="-120"/>
              </a:rPr>
              <a:t>  Sécurité intégrée dès la conception — modes AppArmor, authentification, audit, protection web</a:t>
            </a:r>
            <a:endParaRPr lang="en-US" sz="1050" dirty="0"/>
          </a:p>
        </p:txBody>
      </p:sp>
      <p:sp>
        <p:nvSpPr>
          <p:cNvPr id="14" name="Text 12"/>
          <p:cNvSpPr/>
          <p:nvPr/>
        </p:nvSpPr>
        <p:spPr>
          <a:xfrm>
            <a:off x="548640" y="3410712"/>
            <a:ext cx="8138160" cy="384048"/>
          </a:xfrm>
          <a:prstGeom prst="rect">
            <a:avLst/>
          </a:prstGeom>
          <a:noFill/>
          <a:ln/>
        </p:spPr>
        <p:txBody>
          <a:bodyPr wrap="square" rtlCol="0" anchor="ctr"/>
          <a:lstStyle/>
          <a:p>
            <a:pPr marL="0" indent="0">
              <a:buNone/>
            </a:pPr>
            <a:r>
              <a:rPr lang="en-US" sz="1050" dirty="0">
                <a:latin typeface="Times New Roman" pitchFamily="34" charset="0"/>
                <a:ea typeface="Times New Roman" pitchFamily="34" charset="-122"/>
                <a:cs typeface="Times New Roman" pitchFamily="34" charset="-120"/>
              </a:rPr>
              <a:t>  Modèles UML complets — classes, séquences et scénarios documentant chaque interaction</a:t>
            </a:r>
            <a:endParaRPr lang="en-US" sz="1050" dirty="0"/>
          </a:p>
        </p:txBody>
      </p:sp>
      <p:sp>
        <p:nvSpPr>
          <p:cNvPr id="16" name="Text 14"/>
          <p:cNvSpPr/>
          <p:nvPr/>
        </p:nvSpPr>
        <p:spPr>
          <a:xfrm>
            <a:off x="548640" y="3950208"/>
            <a:ext cx="8046720" cy="777240"/>
          </a:xfrm>
          <a:prstGeom prst="rect">
            <a:avLst/>
          </a:prstGeom>
          <a:noFill/>
          <a:ln/>
        </p:spPr>
        <p:txBody>
          <a:bodyPr wrap="square" rtlCol="0" anchor="ctr"/>
          <a:lstStyle/>
          <a:p>
            <a:pPr marL="0" indent="0">
              <a:buNone/>
            </a:pPr>
            <a:r>
              <a:rPr lang="en-US" sz="1050" i="1" dirty="0">
                <a:latin typeface="Times New Roman" pitchFamily="34" charset="0"/>
                <a:ea typeface="Times New Roman" pitchFamily="34" charset="-122"/>
                <a:cs typeface="Times New Roman" pitchFamily="34" charset="-120"/>
              </a:rPr>
              <a:t>En conclusion, la phase de conception constitue le pont indispensable entre l'analyse des besoins et la réalisation concrète. </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6">
    <p:bg>
      <p:bgPr>
        <a:solidFill>
          <a:schemeClr val="bg2">
            <a:lumMod val="10000"/>
          </a:schemeClr>
        </a:solidFill>
        <a:effectLst/>
      </p:bgPr>
    </p:bg>
    <p:spTree>
      <p:nvGrpSpPr>
        <p:cNvPr id="1" name=""/>
        <p:cNvGrpSpPr/>
        <p:nvPr/>
      </p:nvGrpSpPr>
      <p:grpSpPr>
        <a:xfrm>
          <a:off x="0" y="0"/>
          <a:ext cx="0" cy="0"/>
          <a:chOff x="0" y="0"/>
          <a:chExt cx="0" cy="0"/>
        </a:xfrm>
      </p:grpSpPr>
      <p:sp>
        <p:nvSpPr>
          <p:cNvPr id="3" name="Shape 1"/>
          <p:cNvSpPr/>
          <p:nvPr/>
        </p:nvSpPr>
        <p:spPr>
          <a:xfrm>
            <a:off x="2065172" y="731768"/>
            <a:ext cx="1679740" cy="1647173"/>
          </a:xfrm>
          <a:prstGeom prst="ellipse">
            <a:avLst/>
          </a:prstGeom>
          <a:solidFill>
            <a:schemeClr val="accent6">
              <a:lumMod val="75000"/>
            </a:schemeClr>
          </a:solidFill>
          <a:ln w="762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endParaRPr lang="fr-CM"/>
          </a:p>
        </p:txBody>
      </p:sp>
      <p:sp>
        <p:nvSpPr>
          <p:cNvPr id="5" name="Text 2"/>
          <p:cNvSpPr/>
          <p:nvPr/>
        </p:nvSpPr>
        <p:spPr>
          <a:xfrm>
            <a:off x="914400" y="3017520"/>
            <a:ext cx="7315200" cy="594360"/>
          </a:xfrm>
          <a:prstGeom prst="rect">
            <a:avLst/>
          </a:prstGeom>
          <a:noFill/>
          <a:ln/>
        </p:spPr>
        <p:txBody>
          <a:bodyPr wrap="square" rtlCol="0" anchor="ctr"/>
          <a:lstStyle/>
          <a:p>
            <a:pPr marL="0" indent="0" algn="ctr">
              <a:buNone/>
            </a:pPr>
            <a:r>
              <a:rPr lang="en-US" sz="3600" b="1" dirty="0">
                <a:solidFill>
                  <a:srgbClr val="FFFFFF"/>
                </a:solidFill>
                <a:latin typeface="Times New Roman" pitchFamily="34" charset="0"/>
                <a:ea typeface="Times New Roman" pitchFamily="34" charset="-122"/>
                <a:cs typeface="Times New Roman" pitchFamily="34" charset="-120"/>
              </a:rPr>
              <a:t>Merci pour</a:t>
            </a:r>
            <a:endParaRPr lang="en-US" sz="3600" dirty="0"/>
          </a:p>
        </p:txBody>
      </p:sp>
      <p:sp>
        <p:nvSpPr>
          <p:cNvPr id="6" name="Text 3"/>
          <p:cNvSpPr/>
          <p:nvPr/>
        </p:nvSpPr>
        <p:spPr>
          <a:xfrm>
            <a:off x="914400" y="3566160"/>
            <a:ext cx="7315200" cy="594360"/>
          </a:xfrm>
          <a:prstGeom prst="rect">
            <a:avLst/>
          </a:prstGeom>
          <a:noFill/>
          <a:ln/>
        </p:spPr>
        <p:txBody>
          <a:bodyPr wrap="square" rtlCol="0" anchor="ctr"/>
          <a:lstStyle/>
          <a:p>
            <a:pPr marL="0" indent="0" algn="ctr">
              <a:buNone/>
            </a:pPr>
            <a:r>
              <a:rPr lang="en-US" sz="3600" b="1" dirty="0">
                <a:solidFill>
                  <a:schemeClr val="bg1"/>
                </a:solidFill>
                <a:latin typeface="Times New Roman" pitchFamily="34" charset="0"/>
                <a:ea typeface="Times New Roman" pitchFamily="34" charset="-122"/>
                <a:cs typeface="Times New Roman" pitchFamily="34" charset="-120"/>
              </a:rPr>
              <a:t>votre attention</a:t>
            </a:r>
            <a:endParaRPr lang="en-US" sz="3600" dirty="0">
              <a:solidFill>
                <a:schemeClr val="bg1"/>
              </a:solidFill>
            </a:endParaRPr>
          </a:p>
        </p:txBody>
      </p:sp>
      <p:sp>
        <p:nvSpPr>
          <p:cNvPr id="12" name="Shape 1">
            <a:extLst>
              <a:ext uri="{FF2B5EF4-FFF2-40B4-BE49-F238E27FC236}">
                <a16:creationId xmlns:a16="http://schemas.microsoft.com/office/drawing/2014/main" id="{00E801FF-9CBE-627C-3C4B-282FDFE8FBB9}"/>
              </a:ext>
            </a:extLst>
          </p:cNvPr>
          <p:cNvSpPr/>
          <p:nvPr/>
        </p:nvSpPr>
        <p:spPr>
          <a:xfrm>
            <a:off x="3494681" y="688676"/>
            <a:ext cx="1679740" cy="1647173"/>
          </a:xfrm>
          <a:prstGeom prst="ellipse">
            <a:avLst/>
          </a:prstGeom>
          <a:solidFill>
            <a:srgbClr val="FF0000"/>
          </a:solidFill>
          <a:ln w="762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endParaRPr lang="fr-CM" dirty="0"/>
          </a:p>
        </p:txBody>
      </p:sp>
      <p:sp>
        <p:nvSpPr>
          <p:cNvPr id="13" name="Shape 1">
            <a:extLst>
              <a:ext uri="{FF2B5EF4-FFF2-40B4-BE49-F238E27FC236}">
                <a16:creationId xmlns:a16="http://schemas.microsoft.com/office/drawing/2014/main" id="{FDE956B1-2373-C5B3-9E9B-8C5214631EE8}"/>
              </a:ext>
            </a:extLst>
          </p:cNvPr>
          <p:cNvSpPr/>
          <p:nvPr/>
        </p:nvSpPr>
        <p:spPr>
          <a:xfrm>
            <a:off x="4924190" y="743857"/>
            <a:ext cx="1679740" cy="1647173"/>
          </a:xfrm>
          <a:prstGeom prst="ellipse">
            <a:avLst/>
          </a:prstGeom>
          <a:solidFill>
            <a:schemeClr val="accent4">
              <a:lumMod val="75000"/>
            </a:schemeClr>
          </a:solidFill>
          <a:ln w="762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endParaRPr lang="fr-CM"/>
          </a:p>
        </p:txBody>
      </p:sp>
      <p:sp>
        <p:nvSpPr>
          <p:cNvPr id="16" name="Étoile : 5 branches 15">
            <a:extLst>
              <a:ext uri="{FF2B5EF4-FFF2-40B4-BE49-F238E27FC236}">
                <a16:creationId xmlns:a16="http://schemas.microsoft.com/office/drawing/2014/main" id="{E4C46FB7-9E3A-560D-01EE-3FC7CA6BB583}"/>
              </a:ext>
            </a:extLst>
          </p:cNvPr>
          <p:cNvSpPr/>
          <p:nvPr/>
        </p:nvSpPr>
        <p:spPr>
          <a:xfrm>
            <a:off x="4133589" y="1280472"/>
            <a:ext cx="438411" cy="375781"/>
          </a:xfrm>
          <a:prstGeom prst="star5">
            <a:avLst/>
          </a:prstGeom>
          <a:solidFill>
            <a:schemeClr val="accent4">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M"/>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437</TotalTime>
  <Words>1598</Words>
  <Application>Microsoft Office PowerPoint</Application>
  <PresentationFormat>Affichage à l'écran (16:9)</PresentationFormat>
  <Paragraphs>228</Paragraphs>
  <Slides>16</Slides>
  <Notes>13</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16</vt:i4>
      </vt:variant>
    </vt:vector>
  </HeadingPairs>
  <TitlesOfParts>
    <vt:vector size="19" baseType="lpstr">
      <vt:lpstr>Arial</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Dossier de Conception – AppArmor</dc:title>
  <dc:subject>PptxGenJS Presentation</dc:subject>
  <dc:creator>PptxGenJS</dc:creator>
  <cp:lastModifiedBy>Joel Benoit Stéphane</cp:lastModifiedBy>
  <cp:revision>6</cp:revision>
  <dcterms:created xsi:type="dcterms:W3CDTF">2026-05-22T00:17:38Z</dcterms:created>
  <dcterms:modified xsi:type="dcterms:W3CDTF">2026-07-19T00:17:38Z</dcterms:modified>
</cp:coreProperties>
</file>