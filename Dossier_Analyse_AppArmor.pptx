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71" r:id="rId10"/>
    <p:sldId id="270" r:id="rId11"/>
    <p:sldId id="263" r:id="rId12"/>
    <p:sldId id="267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0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84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A1B7-E725-E704-6A76-0BC89EF7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671CF-9556-5695-D0A8-E1F6C3752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1FEC4-D3B4-048A-6649-75120BD7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FCBFF-FDBA-1957-8DDA-EF4571E6F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04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7328-FDB8-AB88-547C-23E11646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33BAC-D0ED-4FAE-322C-0F444B761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E6486-4EE2-8DC5-A74C-7B656C819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B110B-246D-BF37-6E0C-357E006FC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68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CEB75-5C41-EB3D-20BF-2923675D1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59289-301B-E771-0A05-7CE96F054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15EF0-62C9-5B9C-6E2D-6CD1F70DA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9BA4B-37EF-546E-F72C-3D5F9B34D6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48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6801492" y="-439734"/>
            <a:ext cx="2794571" cy="265895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365608" y="176751"/>
            <a:ext cx="8001076" cy="471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SECURITE DES SYSTEMES D’EXPOITATION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SYSTEME D’EXPLOITATION AVANCEE </a:t>
            </a:r>
            <a:endParaRPr lang="fr-CM" sz="2000" b="1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7080" y="109728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Gestionnaire Web Sécurisé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pour l'Administration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 Profils AppArmor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9692" y="271494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 &amp; Mitigation des Comportements Malveillants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3657600"/>
            <a:ext cx="3200400" cy="36576"/>
          </a:xfrm>
          <a:prstGeom prst="rect">
            <a:avLst/>
          </a:prstGeom>
          <a:solidFill>
            <a:srgbClr val="DCE2EC">
              <a:alpha val="60000"/>
            </a:srgbClr>
          </a:solidFill>
          <a:ln w="12700">
            <a:solidFill>
              <a:srgbClr val="DCE2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Groupe 6  |  Institut Saint Jean  |  Sécurité des </a:t>
            </a:r>
            <a:r>
              <a:rPr lang="en-US" sz="1400" dirty="0" err="1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</a:t>
            </a:r>
            <a:r>
              <a:rPr lang="en-US" sz="1400" dirty="0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d’Information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NANA NDIEUPE Emilie  ·  NSOE MARIE  ·  SIMO YANNICK  |  Supervisé par M. NGUIMBUS Emmanuel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Année 2025 - 2026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883C3A6-4862-8FF5-6E54-6979AB150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240" y="-25837"/>
            <a:ext cx="1879705" cy="1827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52090" cy="51435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84505" y="532201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SOMMAIRE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2A3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Dossier d'Analyse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54680" y="49377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4937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3154680" y="113385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13385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Contexte &amp; Périmètre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177393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177393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Exigences Fonctionnelles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237744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3154680" y="241401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24140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Exigences Non-Fonctionnelles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305409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305409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Description des Cas d'Utilisation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08960" y="365760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7" name="Text 25"/>
          <p:cNvSpPr/>
          <p:nvPr/>
        </p:nvSpPr>
        <p:spPr>
          <a:xfrm>
            <a:off x="3154680" y="369417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36941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Diagramme UML – Use Case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54680" y="433425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49040" y="433425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Synthèse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· Introduction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projet académique vise à concevoir, développer et déployer un gestionnaire web sécurisé dédié à l'administration et à l'audit des profils AppArmor sur des systèmes Linux Ubuntu.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système devra non seulement administrer les politiques de </a:t>
            </a:r>
            <a:r>
              <a:rPr lang="en-US" sz="11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AppArmor, mais aussi détecter et répondre aux comportements malveillants en temps réel.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96012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 dirty="0"/>
          </a:p>
        </p:txBody>
      </p:sp>
      <p:sp>
        <p:nvSpPr>
          <p:cNvPr id="15" name="Text 13"/>
          <p:cNvSpPr/>
          <p:nvPr/>
        </p:nvSpPr>
        <p:spPr>
          <a:xfrm>
            <a:off x="4663440" y="1051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 Linux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34416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Renforcer la gestion des profils AppArmor via une solution centralisée web sur Ubuntu.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19456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4663440" y="2286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Attaque</a:t>
            </a: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Défense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5786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Simuler des scénarios d'attaques réelles et démontrer l'efficacité des mécanismes de défense AppArmor.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342900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3" name="Text 21"/>
          <p:cNvSpPr/>
          <p:nvPr/>
        </p:nvSpPr>
        <p:spPr>
          <a:xfrm>
            <a:off x="466344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&amp; Logs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81304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Analyser les logs, comparer l'état avant/après protection et visualiser les incidents via un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· Contexte &amp; Périmètre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114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234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systèmes Linux sont exposés à des attaques variées (accès non autorisé, exécution de commandes malveillantes). AppArmor est un module de </a:t>
            </a:r>
            <a:r>
              <a:rPr lang="en-US" sz="105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Linux basé sur le Mandatory Access Control (MAC) qui définit et applique des politiques strictes pour chaque application. Ce projet centralise sa gestion dans une interface web sécurisée.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365760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Inclus</a:t>
            </a: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dans le périmètre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E2D4E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Déploiement local / VMware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vulnérable (démo attaque)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web sécurisée (HTTPS)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Intégration avec AppArmor (Ubuntu)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centralisée des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profils</a:t>
            </a:r>
            <a:endParaRPr lang="en-US" sz="950" dirty="0">
              <a:solidFill>
                <a:srgbClr val="1E2D4E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200400"/>
            <a:ext cx="2532888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Visualisation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analyse des logs</a:t>
            </a:r>
          </a:p>
        </p:txBody>
      </p:sp>
      <p:sp>
        <p:nvSpPr>
          <p:cNvPr id="21" name="Text 19"/>
          <p:cNvSpPr/>
          <p:nvPr/>
        </p:nvSpPr>
        <p:spPr>
          <a:xfrm>
            <a:off x="270210" y="406908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mitigation des menaces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03707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35254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vulnérable (démo attaque)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81528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5" name="Shape 23"/>
          <p:cNvSpPr/>
          <p:nvPr/>
        </p:nvSpPr>
        <p:spPr>
          <a:xfrm>
            <a:off x="3081528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3172968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Hors périmètre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91256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72968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SELinux ou autres LSM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Déploiement Windows / macOS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163824" y="304495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Réseaux distribués à grande échelle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72968" y="335584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IA avancée (option future)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72968" y="37170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88736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4" name="Shape 32"/>
          <p:cNvSpPr/>
          <p:nvPr/>
        </p:nvSpPr>
        <p:spPr>
          <a:xfrm>
            <a:off x="5888736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5" name="Text 33"/>
          <p:cNvSpPr/>
          <p:nvPr/>
        </p:nvSpPr>
        <p:spPr>
          <a:xfrm>
            <a:off x="5980176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Contraintes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98464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0176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open source uniquement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80176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Environnement local ou virtualisé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313867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Respect des bonnes pratiques web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07608" y="356487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acceptable (&lt; 5 s)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98464" y="356158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Exigences Fonctionnelles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11480" y="987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" y="9692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Authentification sécurisée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26187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administrateur/auditeur par identifiant + mot de passe hashé. Journalisation des tentatives.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6" name="Text 14"/>
          <p:cNvSpPr/>
          <p:nvPr/>
        </p:nvSpPr>
        <p:spPr>
          <a:xfrm>
            <a:off x="41148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" y="19933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des profils AppArmor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28600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Création, modification, suppression, activation/désactivation des profils. Modes complain &amp; enforce.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0604" y="3003452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370332" y="30034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de surveillance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334670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 bord affichant l'état global des profils, alertes en cours et métriques de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914400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1" name="Text 29"/>
          <p:cNvSpPr/>
          <p:nvPr/>
        </p:nvSpPr>
        <p:spPr>
          <a:xfrm>
            <a:off x="4846320" y="987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68112" y="9692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Visualisation temps réel des logs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126187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Collecte et affichage en direct des logs AppArmor avec filtrage, recherche et historisation.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2962656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1" name="Text 39"/>
          <p:cNvSpPr/>
          <p:nvPr/>
        </p:nvSpPr>
        <p:spPr>
          <a:xfrm>
            <a:off x="4846320" y="30358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68112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 &amp; réponse aux incidents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3310128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Blocage automatique, restriction de processus, isolation d'application et notification admin.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Exigences Non-Fonctionnelles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38404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Authentification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 hash bcrypt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Protection XSS, CSRF, injection SQL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Chiffrement HTTPS (TLS)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Journalisation des actions sensibles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7" name="Shape 15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326440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Temps de réponse &lt; 5 secondes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Mise à jour logs quasi-temps réel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simultanée de plusieurs profils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fluide même sous charge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4" name="Shape 22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5" name="Text 23"/>
          <p:cNvSpPr/>
          <p:nvPr/>
        </p:nvSpPr>
        <p:spPr>
          <a:xfrm>
            <a:off x="614476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Disponibilité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Accessible 24h/24 en local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Résistance aux pannes mineures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Sauvegarde automatique des configs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Restauration rapide du système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8529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1" name="Shape 29"/>
          <p:cNvSpPr/>
          <p:nvPr/>
        </p:nvSpPr>
        <p:spPr>
          <a:xfrm>
            <a:off x="274320" y="2852928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2" name="Text 30"/>
          <p:cNvSpPr/>
          <p:nvPr/>
        </p:nvSpPr>
        <p:spPr>
          <a:xfrm>
            <a:off x="384048" y="2907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Évolutivité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modulaire extensible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Ajout futur de modules IA/SIEM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interne pour intégrations tierces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Documentation technique complète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54680" y="28529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8" name="Shape 36"/>
          <p:cNvSpPr/>
          <p:nvPr/>
        </p:nvSpPr>
        <p:spPr>
          <a:xfrm>
            <a:off x="3154680" y="2852928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9" name="Text 37"/>
          <p:cNvSpPr/>
          <p:nvPr/>
        </p:nvSpPr>
        <p:spPr>
          <a:xfrm>
            <a:off x="3264408" y="2907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Maintenabilité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4612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source commenté et versionné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46120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unitaires &amp; fonctionnels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4612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Séparation frontend / backend claire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46120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 d'erreurs applicatifs détaillés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28529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5" name="Shape 43"/>
          <p:cNvSpPr/>
          <p:nvPr/>
        </p:nvSpPr>
        <p:spPr>
          <a:xfrm>
            <a:off x="6035040" y="2852928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6" name="Text 44"/>
          <p:cNvSpPr/>
          <p:nvPr/>
        </p:nvSpPr>
        <p:spPr>
          <a:xfrm>
            <a:off x="6144768" y="2907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Ergonomie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intuitive sans formation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 bord lisible &amp; clair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Alertes visuelles immédiates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26480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Compatible navigateurs modernes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(1/2)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658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Administrateur</a:t>
            </a:r>
            <a:endParaRPr lang="en-US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E822B43-3202-802F-56F7-426E5DBB5258}"/>
              </a:ext>
            </a:extLst>
          </p:cNvPr>
          <p:cNvSpPr txBox="1"/>
          <p:nvPr/>
        </p:nvSpPr>
        <p:spPr>
          <a:xfrm>
            <a:off x="478302" y="1014372"/>
            <a:ext cx="7576145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S’authentifier</a:t>
            </a:r>
          </a:p>
          <a:p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Acteur: administrateur</a:t>
            </a:r>
          </a:p>
          <a:p>
            <a:r>
              <a:rPr lang="fr-FR" sz="1200" b="1" dirty="0"/>
              <a:t>Objectif</a:t>
            </a:r>
          </a:p>
          <a:p>
            <a:r>
              <a:rPr lang="fr-FR" sz="1200" dirty="0"/>
              <a:t>Permettre à l'administrateur d'accéder à l'application.</a:t>
            </a:r>
          </a:p>
          <a:p>
            <a:r>
              <a:rPr lang="fr-FR" sz="1200" b="1" dirty="0"/>
              <a:t>Scénario principal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L'administrateur ouvre l'application Web. 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Il saisit son identifiant et son mot de passe. 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L'application vérifie les informations. 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Si elles sont correctes, le tableau de bord est affiché. 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Sinon un message d'erreur apparaît. </a:t>
            </a:r>
          </a:p>
          <a:p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5EFFC-888B-2006-9CC6-398EBC9A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60F48F-16E6-8063-CCBA-E20B89CD5A5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1B12D1-1476-D45E-F9BA-CAF09BB8928B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(1/2)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D712CE-86ED-83D1-A5A6-0BAB52F4E3BD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E93069-2742-65E7-96B8-A1F30308136C}"/>
              </a:ext>
            </a:extLst>
          </p:cNvPr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9D4E38-2002-778B-5A05-68AAA6C31C9A}"/>
              </a:ext>
            </a:extLst>
          </p:cNvPr>
          <p:cNvSpPr/>
          <p:nvPr/>
        </p:nvSpPr>
        <p:spPr>
          <a:xfrm>
            <a:off x="2011680" y="658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Administrateur</a:t>
            </a:r>
            <a:endParaRPr lang="en-US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9EFDAE4-FA56-FB73-FBD1-9192584C60FC}"/>
              </a:ext>
            </a:extLst>
          </p:cNvPr>
          <p:cNvSpPr txBox="1"/>
          <p:nvPr/>
        </p:nvSpPr>
        <p:spPr>
          <a:xfrm>
            <a:off x="418167" y="898147"/>
            <a:ext cx="757614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Créer profils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Acteur: administrateur</a:t>
            </a:r>
          </a:p>
          <a:p>
            <a:r>
              <a:rPr lang="fr-FR" sz="1200" b="1" dirty="0"/>
              <a:t>Objectif</a:t>
            </a:r>
          </a:p>
          <a:p>
            <a:r>
              <a:rPr lang="fr-FR" sz="1200" dirty="0"/>
              <a:t>Permettre à l'administrateur de créer un nouveau profil </a:t>
            </a:r>
            <a:r>
              <a:rPr lang="fr-FR" sz="1200" dirty="0" err="1"/>
              <a:t>AppArmor</a:t>
            </a:r>
            <a:r>
              <a:rPr lang="fr-FR" sz="1200" dirty="0"/>
              <a:t> afin de protéger une application installée sur le système.</a:t>
            </a:r>
          </a:p>
          <a:p>
            <a:r>
              <a:rPr lang="fr-FR" sz="1200" b="1" dirty="0"/>
              <a:t>Acteur</a:t>
            </a:r>
          </a:p>
          <a:p>
            <a:r>
              <a:rPr lang="fr-FR" sz="1200" dirty="0"/>
              <a:t>Administrateur.</a:t>
            </a:r>
          </a:p>
          <a:p>
            <a:r>
              <a:rPr lang="fr-FR" sz="1200" b="1" dirty="0"/>
              <a:t>Préconditions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L'administrateur est authentifié.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L'application à protéger est installée sur le serveur.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 err="1"/>
              <a:t>AppArmor</a:t>
            </a:r>
            <a:r>
              <a:rPr lang="fr-FR" sz="1200" dirty="0"/>
              <a:t> est installé et actif. </a:t>
            </a:r>
          </a:p>
          <a:p>
            <a:r>
              <a:rPr lang="fr-FR" sz="1200" b="1" dirty="0"/>
              <a:t>Scénario principal</a:t>
            </a:r>
          </a:p>
          <a:p>
            <a:pPr marL="228600" indent="-228600">
              <a:buAutoNum type="arabicPeriod"/>
            </a:pPr>
            <a:r>
              <a:rPr lang="fr-FR" sz="1200" dirty="0"/>
              <a:t>L'administrateur ouvre le menu </a:t>
            </a:r>
            <a:r>
              <a:rPr lang="fr-FR" sz="1200" b="1" dirty="0"/>
              <a:t>Gestion des profils</a:t>
            </a:r>
            <a:r>
              <a:rPr lang="fr-FR" sz="1200" dirty="0"/>
              <a:t> puis clique sur </a:t>
            </a:r>
            <a:r>
              <a:rPr lang="fr-FR" sz="1200" b="1" dirty="0"/>
              <a:t>Créer un profil</a:t>
            </a:r>
            <a:r>
              <a:rPr lang="fr-FR" sz="1200" dirty="0"/>
              <a:t>. </a:t>
            </a:r>
          </a:p>
          <a:p>
            <a:pPr marL="228600" indent="-228600">
              <a:buAutoNum type="arabicPeriod"/>
            </a:pPr>
            <a:r>
              <a:rPr lang="fr-FR" sz="1200" dirty="0"/>
              <a:t>L'application affiche un formulaire contenant les champs suivants :</a:t>
            </a:r>
            <a:r>
              <a:rPr lang="fr-CM" sz="1200" dirty="0"/>
              <a:t>Nom de l'application, chemin de l'exécutable, description, mode initial (enforce ou </a:t>
            </a:r>
            <a:r>
              <a:rPr lang="fr-CM" sz="1200" dirty="0" err="1"/>
              <a:t>complain</a:t>
            </a:r>
            <a:r>
              <a:rPr lang="fr-CM" sz="1200" dirty="0"/>
              <a:t>).</a:t>
            </a:r>
          </a:p>
          <a:p>
            <a:pPr marL="228600" indent="-228600">
              <a:buAutoNum type="arabicPeriod"/>
            </a:pPr>
            <a:r>
              <a:rPr lang="fr-CM" sz="1200" dirty="0"/>
              <a:t>L</a:t>
            </a:r>
            <a:r>
              <a:rPr lang="fr-FR" sz="1200" dirty="0"/>
              <a:t>'administrateur remplit les champs puis clique sur Créer. </a:t>
            </a:r>
          </a:p>
          <a:p>
            <a:pPr marL="228600" indent="-228600">
              <a:buAutoNum type="arabicPeriod"/>
            </a:pPr>
            <a:r>
              <a:rPr lang="fr-FR" sz="1200" dirty="0"/>
              <a:t>L'application vérifie que tous les champs obligatoires sont renseignés, que le chemin fourni existe réellement, qu'un profil du même nom n'existe pas déjà. </a:t>
            </a:r>
          </a:p>
          <a:p>
            <a:pPr marL="228600" indent="-228600">
              <a:buAutoNum type="arabicPeriod"/>
            </a:pPr>
            <a:r>
              <a:rPr lang="fr-FR" sz="1200" dirty="0"/>
              <a:t>Si les vérifications sont correctes, l'application exécute automatiquement la commande de création du profil. </a:t>
            </a:r>
          </a:p>
          <a:p>
            <a:pPr marL="228600" indent="-228600">
              <a:buAutoNum type="arabicPeriod"/>
            </a:pPr>
            <a:r>
              <a:rPr lang="fr-FR" sz="1200" dirty="0"/>
              <a:t>Un message confirme que le profil a été créé avec succès. </a:t>
            </a:r>
          </a:p>
        </p:txBody>
      </p:sp>
    </p:spTree>
    <p:extLst>
      <p:ext uri="{BB962C8B-B14F-4D97-AF65-F5344CB8AC3E}">
        <p14:creationId xmlns:p14="http://schemas.microsoft.com/office/powerpoint/2010/main" val="178118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6513-D0A8-A415-1712-3C3F3560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891AD9-E77A-41EA-2589-904F495E749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65AFBC-31DD-200B-B8BC-10AABA0D30C6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(1/2)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B7356A-8CFE-8E5F-9639-C1962D8FF223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427F7D-8256-3156-6FCA-3458BE7ADB5D}"/>
              </a:ext>
            </a:extLst>
          </p:cNvPr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7DBAD07-FD73-5DCD-698E-A4212CEA161F}"/>
              </a:ext>
            </a:extLst>
          </p:cNvPr>
          <p:cNvSpPr/>
          <p:nvPr/>
        </p:nvSpPr>
        <p:spPr>
          <a:xfrm>
            <a:off x="2011680" y="658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Administrateur</a:t>
            </a:r>
            <a:endParaRPr lang="en-US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941DA74-EB7A-0B4A-F271-2A8F341CD2CE}"/>
              </a:ext>
            </a:extLst>
          </p:cNvPr>
          <p:cNvSpPr txBox="1"/>
          <p:nvPr/>
        </p:nvSpPr>
        <p:spPr>
          <a:xfrm>
            <a:off x="295421" y="914400"/>
            <a:ext cx="7576145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Activer profils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Acteur: administrateur</a:t>
            </a:r>
          </a:p>
          <a:p>
            <a:r>
              <a:rPr lang="fr-FR" sz="1600" b="1" dirty="0"/>
              <a:t>Objectif</a:t>
            </a:r>
          </a:p>
          <a:p>
            <a:r>
              <a:rPr lang="fr-FR" sz="1600" dirty="0"/>
              <a:t>Permettre à l'administrateur d'activer un profil </a:t>
            </a:r>
            <a:r>
              <a:rPr lang="fr-FR" sz="1600" dirty="0" err="1"/>
              <a:t>AppArmor</a:t>
            </a:r>
            <a:r>
              <a:rPr lang="fr-FR" sz="1600" dirty="0"/>
              <a:t> existant afin que les règles de sécurité définies soient appliquées à l'application protégée.</a:t>
            </a:r>
          </a:p>
          <a:p>
            <a:r>
              <a:rPr lang="fr-FR" sz="1600" b="1" dirty="0"/>
              <a:t>Scénario principal</a:t>
            </a:r>
          </a:p>
          <a:p>
            <a:r>
              <a:rPr lang="fr-FR" sz="1600" b="1" dirty="0"/>
              <a:t>1. Accès à la gestion des profils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se connecte à l'application Web.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Il accède au menu </a:t>
            </a:r>
            <a:r>
              <a:rPr lang="fr-FR" sz="1600" b="1" dirty="0"/>
              <a:t>Gestion des profils </a:t>
            </a:r>
            <a:r>
              <a:rPr lang="fr-FR" sz="1600" b="1" dirty="0" err="1"/>
              <a:t>AppArmor</a:t>
            </a:r>
            <a:r>
              <a:rPr lang="fr-FR" sz="16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L'application affiche la liste des profils disponibles.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sélectionne le profil qu'il souhaite activer.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L'application affiche les informations du profil.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clique sur le bouton ‘activer’.</a:t>
            </a:r>
          </a:p>
          <a:p>
            <a:pPr>
              <a:buFont typeface="+mj-lt"/>
              <a:buAutoNum type="arabicPeriod" startAt="7"/>
            </a:pPr>
            <a:r>
              <a:rPr lang="fr-FR" sz="1600" dirty="0"/>
              <a:t>L'application vérifie que le fichier du profil existe, que la syntaxe du profil est correcte.</a:t>
            </a:r>
          </a:p>
          <a:p>
            <a:pPr>
              <a:buFont typeface="+mj-lt"/>
              <a:buAutoNum type="arabicPeriod" startAt="7"/>
            </a:pPr>
            <a:r>
              <a:rPr lang="fr-FR" sz="1600" dirty="0"/>
              <a:t>Si le profil est valide, l'application charge le profil dans </a:t>
            </a:r>
            <a:r>
              <a:rPr lang="fr-FR" sz="1600" dirty="0" err="1"/>
              <a:t>AppArmor</a:t>
            </a:r>
            <a:r>
              <a:rPr lang="fr-FR" sz="1600" dirty="0"/>
              <a:t>.</a:t>
            </a:r>
          </a:p>
          <a:p>
            <a:pPr>
              <a:buFont typeface="+mj-lt"/>
              <a:buAutoNum type="arabicPeriod" startAt="7"/>
            </a:pPr>
            <a:endParaRPr lang="fr-FR" sz="1600" dirty="0"/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66733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4A093-B209-8D57-7D9C-16946F70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77B9C6-53C5-80E2-CD0D-BE7E40B7250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424A3D-F31B-E0BA-BE60-BA68B29E2D94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(1/2)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0DEB26-F74B-0BDD-AF11-BB4C32E4BF23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CFF1BC7-2719-BF28-BAAE-CAAD344A51E9}"/>
              </a:ext>
            </a:extLst>
          </p:cNvPr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A6CA88-741B-400C-41B8-3859B68B1BAB}"/>
              </a:ext>
            </a:extLst>
          </p:cNvPr>
          <p:cNvSpPr/>
          <p:nvPr/>
        </p:nvSpPr>
        <p:spPr>
          <a:xfrm>
            <a:off x="2011680" y="658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Administrateur</a:t>
            </a:r>
            <a:endParaRPr lang="en-US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2939117-4A90-5959-A9E3-42DD3DA45D3E}"/>
              </a:ext>
            </a:extLst>
          </p:cNvPr>
          <p:cNvSpPr txBox="1"/>
          <p:nvPr/>
        </p:nvSpPr>
        <p:spPr>
          <a:xfrm>
            <a:off x="418167" y="898147"/>
            <a:ext cx="7576145" cy="3847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Désactiver profils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Acteur: administrateur</a:t>
            </a:r>
          </a:p>
          <a:p>
            <a:r>
              <a:rPr lang="fr-FR" sz="1600" b="1" dirty="0"/>
              <a:t>Objectif</a:t>
            </a:r>
          </a:p>
          <a:p>
            <a:r>
              <a:rPr lang="fr-FR" sz="1600" dirty="0"/>
              <a:t>Suspendre temporairement un profil.</a:t>
            </a:r>
          </a:p>
          <a:p>
            <a:r>
              <a:rPr lang="fr-FR" sz="1600" b="1" dirty="0"/>
              <a:t>Acteur</a:t>
            </a:r>
          </a:p>
          <a:p>
            <a:r>
              <a:rPr lang="fr-FR" sz="1600" dirty="0"/>
              <a:t>Administrateur.</a:t>
            </a:r>
          </a:p>
          <a:p>
            <a:r>
              <a:rPr lang="fr-FR" sz="1600" b="1" dirty="0"/>
              <a:t>Scénario principal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sélectionne un profil actif.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Il clique sur </a:t>
            </a:r>
            <a:r>
              <a:rPr lang="fr-FR" sz="1600" b="1" dirty="0"/>
              <a:t>Désactiver</a:t>
            </a:r>
            <a:r>
              <a:rPr lang="fr-FR" sz="16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Une confirmation est demandée.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Après validation, l'application désactive le profil.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Le statut du profil devient </a:t>
            </a:r>
            <a:r>
              <a:rPr lang="fr-FR" sz="1600" b="1" dirty="0"/>
              <a:t>Désactivé</a:t>
            </a:r>
            <a:r>
              <a:rPr lang="fr-FR" sz="1600" dirty="0"/>
              <a:t>. </a:t>
            </a:r>
          </a:p>
          <a:p>
            <a:r>
              <a:rPr lang="fr-FR" sz="1600" b="1" dirty="0"/>
              <a:t>Postcondition</a:t>
            </a:r>
          </a:p>
          <a:p>
            <a:r>
              <a:rPr lang="fr-FR" sz="1600" dirty="0"/>
              <a:t>Le profil n'est plus appliqué.</a:t>
            </a:r>
          </a:p>
          <a:p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33960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(2/2)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68880" y="713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</a:t>
            </a:r>
            <a:endParaRPr lang="en-US" sz="10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117057-8115-7117-F0D5-ED40AAFE5271}"/>
              </a:ext>
            </a:extLst>
          </p:cNvPr>
          <p:cNvSpPr txBox="1"/>
          <p:nvPr/>
        </p:nvSpPr>
        <p:spPr>
          <a:xfrm>
            <a:off x="776893" y="1003160"/>
            <a:ext cx="3745870" cy="3877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— Activer mode Enforce</a:t>
            </a:r>
          </a:p>
          <a:p>
            <a:pPr algn="ctr"/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 : L'administrateur </a:t>
            </a:r>
          </a:p>
          <a:p>
            <a:r>
              <a:rPr lang="fr-FR" sz="1400" b="1" dirty="0"/>
              <a:t>Objectif</a:t>
            </a:r>
          </a:p>
          <a:p>
            <a:r>
              <a:rPr lang="fr-FR" sz="1400" dirty="0"/>
              <a:t>Faire respecter strictement les règles du profil.</a:t>
            </a:r>
          </a:p>
          <a:p>
            <a:r>
              <a:rPr lang="fr-FR" sz="1400" b="1" dirty="0"/>
              <a:t>Acteur</a:t>
            </a:r>
          </a:p>
          <a:p>
            <a:r>
              <a:rPr lang="fr-FR" sz="1400" dirty="0"/>
              <a:t>Administrateur.</a:t>
            </a:r>
          </a:p>
          <a:p>
            <a:r>
              <a:rPr lang="fr-FR" sz="1400" b="1" dirty="0"/>
              <a:t>Scénario principal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L'administrateur ouvre les détails d'un profil.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Il clique sur </a:t>
            </a:r>
            <a:r>
              <a:rPr lang="fr-FR" sz="1400" b="1" dirty="0"/>
              <a:t>Activer le mode Enforce</a:t>
            </a:r>
            <a:r>
              <a:rPr lang="fr-FR" sz="14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L'application vérifie que le profil est valide.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Elle exécute la commande correspondante.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Le mode du profil passe à </a:t>
            </a:r>
            <a:r>
              <a:rPr lang="fr-FR" sz="1400" b="1" dirty="0"/>
              <a:t>Enforce</a:t>
            </a:r>
            <a:r>
              <a:rPr lang="fr-FR" sz="14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L'interface affiche un message de confirmation. </a:t>
            </a:r>
          </a:p>
          <a:p>
            <a:r>
              <a:rPr lang="fr-FR" sz="1400" b="1" dirty="0"/>
              <a:t>Postcondition</a:t>
            </a:r>
          </a:p>
          <a:p>
            <a:r>
              <a:rPr lang="fr-FR" sz="1400" dirty="0"/>
              <a:t>Toutes les actions non autorisées seront bloquées.</a:t>
            </a:r>
          </a:p>
          <a:p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D182F1-80DA-2B60-157C-ACA76DD16F78}"/>
              </a:ext>
            </a:extLst>
          </p:cNvPr>
          <p:cNvSpPr txBox="1"/>
          <p:nvPr/>
        </p:nvSpPr>
        <p:spPr>
          <a:xfrm>
            <a:off x="4856523" y="1003160"/>
            <a:ext cx="3970953" cy="39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— Activer mode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 : L'administrateur 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b="1" dirty="0"/>
              <a:t>Objectif</a:t>
            </a:r>
          </a:p>
          <a:p>
            <a:r>
              <a:rPr lang="fr-FR" sz="1600" dirty="0"/>
              <a:t>Observer les violations sans les bloquer.</a:t>
            </a:r>
          </a:p>
          <a:p>
            <a:r>
              <a:rPr lang="fr-FR" sz="1600" b="1" dirty="0"/>
              <a:t>Acteur</a:t>
            </a:r>
          </a:p>
          <a:p>
            <a:r>
              <a:rPr lang="fr-FR" sz="1600" dirty="0"/>
              <a:t>Administrateur.</a:t>
            </a:r>
          </a:p>
          <a:p>
            <a:r>
              <a:rPr lang="fr-FR" sz="1600" b="1" dirty="0"/>
              <a:t>Scénario principal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sélectionne un profil.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Il clique sur </a:t>
            </a:r>
            <a:r>
              <a:rPr lang="fr-FR" sz="1600" b="1" dirty="0"/>
              <a:t>Activer le mode </a:t>
            </a:r>
            <a:r>
              <a:rPr lang="fr-FR" sz="1600" b="1" dirty="0" err="1"/>
              <a:t>Complain</a:t>
            </a:r>
            <a:r>
              <a:rPr lang="fr-FR" sz="16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L'application modifie le mode du profil.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 L’application affiche un message de confirmation.</a:t>
            </a:r>
          </a:p>
          <a:p>
            <a:r>
              <a:rPr lang="fr-FR" sz="1600" dirty="0"/>
              <a:t>Toutes les violations sont désormais enregistrées dans les journaux sans être bloquées.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8DAB08-FF93-60BD-792D-8A9CAAB2357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DCAC62C-B525-8350-58DD-57CDB135DB60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Diagramme UML – Use Case </a:t>
            </a:r>
            <a:r>
              <a:rPr lang="en-US" sz="20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Spécifique</a:t>
            </a:r>
            <a:endParaRPr lang="en-US" sz="20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F8D4F05-30FE-9E6A-DE68-29834AF94C0B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F6249ED-2094-8D80-146A-693A5C3E0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90400"/>
            <a:ext cx="9144000" cy="44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99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3580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118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08· Conclusion &amp; Synthèse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5449" y="795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Synthèse des livrables attendus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01981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Cahier des charges</a:t>
            </a:r>
            <a:endParaRPr lang="en-US" sz="9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134139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Dossier </a:t>
            </a:r>
            <a:r>
              <a:rPr lang="en-US" sz="950" dirty="0" err="1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d'analyse</a:t>
            </a: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65225" y="9911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conception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46402" y="98390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réalisation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65225" y="1317147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déploiement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46402" y="1362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Rapport complet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755237"/>
            <a:ext cx="420624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384048" y="1709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Avantages du projet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1214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Centralisation de la gestion AppArmor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25420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web accessible &amp; intuitive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296265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Réponse proactive aux incidents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38328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Comparaison avant/après attaque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80390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100% open source, coût nul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422452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extensible (IA, SIEM)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0308" y="1755237"/>
            <a:ext cx="420624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4864608" y="1709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Risques identifiés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1214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Accès root requis pour AppArmor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25420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Dépendance à l'environnement Ubuntu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296265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Complexité d'intégration scripts/web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338328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Sécurisation de l'interface web elle-même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80390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380416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Équipe </a:t>
            </a:r>
            <a:r>
              <a:rPr lang="en-US" sz="10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réduite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0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9F590937-55E1-81D1-5DDC-BFF26DB145A3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0D7E8A">
              <a:alpha val="20000"/>
            </a:srgbClr>
          </a:solidFill>
          <a:ln w="12700">
            <a:solidFill>
              <a:srgbClr val="0D7E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Merci pour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votre attention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D7E8A"/>
          </a:solidFill>
          <a:ln/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1329</Words>
  <Application>Microsoft Office PowerPoint</Application>
  <PresentationFormat>Affichage à l'écran (16:9)</PresentationFormat>
  <Paragraphs>261</Paragraphs>
  <Slides>14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d'Analyse - Gestionnaire Web AppArmor</dc:title>
  <dc:subject>PptxGenJS Presentation</dc:subject>
  <dc:creator>Groupe 6 - Institut Saint Jean</dc:creator>
  <cp:lastModifiedBy>Emilie Nana Ndieupe</cp:lastModifiedBy>
  <cp:revision>28</cp:revision>
  <dcterms:created xsi:type="dcterms:W3CDTF">2026-05-13T20:12:27Z</dcterms:created>
  <dcterms:modified xsi:type="dcterms:W3CDTF">2026-07-10T22:27:03Z</dcterms:modified>
</cp:coreProperties>
</file>