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1" r:id="rId5"/>
    <p:sldId id="262" r:id="rId6"/>
    <p:sldId id="264" r:id="rId7"/>
    <p:sldId id="282" r:id="rId8"/>
    <p:sldId id="260" r:id="rId9"/>
    <p:sldId id="268" r:id="rId10"/>
    <p:sldId id="283" r:id="rId11"/>
    <p:sldId id="263" r:id="rId12"/>
    <p:sldId id="284" r:id="rId13"/>
    <p:sldId id="265" r:id="rId14"/>
    <p:sldId id="271" r:id="rId15"/>
    <p:sldId id="273" r:id="rId16"/>
    <p:sldId id="275" r:id="rId17"/>
    <p:sldId id="277" r:id="rId18"/>
    <p:sldId id="280" r:id="rId19"/>
    <p:sldId id="28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5" autoAdjust="0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5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006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69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4509370" y="292577"/>
            <a:ext cx="4099769" cy="82296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fr-CM"/>
          </a:p>
        </p:txBody>
      </p:sp>
      <p:sp>
        <p:nvSpPr>
          <p:cNvPr id="7" name="Text 4"/>
          <p:cNvSpPr/>
          <p:nvPr/>
        </p:nvSpPr>
        <p:spPr>
          <a:xfrm>
            <a:off x="4556342" y="433244"/>
            <a:ext cx="4005824" cy="6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 DES SYSTÈMES D'EXPLOITATION</a:t>
            </a:r>
          </a:p>
          <a:p>
            <a:pPr algn="ctr"/>
            <a:r>
              <a:rPr lang="en-US" sz="1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SYSTÈMES D'EXPLOITATION AVANCÉS</a:t>
            </a:r>
            <a:endParaRPr lang="en-US" sz="1400" b="1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32971" y="1379649"/>
            <a:ext cx="2617939" cy="548640"/>
          </a:xfrm>
          <a:prstGeom prst="rect">
            <a:avLst/>
          </a:prstGeom>
          <a:solidFill>
            <a:srgbClr val="FF0000"/>
          </a:solidFill>
          <a:ln w="1905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fr-CM"/>
          </a:p>
        </p:txBody>
      </p:sp>
      <p:sp>
        <p:nvSpPr>
          <p:cNvPr id="11" name="Text 8"/>
          <p:cNvSpPr/>
          <p:nvPr/>
        </p:nvSpPr>
        <p:spPr>
          <a:xfrm>
            <a:off x="497283" y="20487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Gestionnaire Web Sécurisé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pour l'Administration et l’audit des Profils AppArmor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97283" y="3364626"/>
            <a:ext cx="5029200" cy="7376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fr-CM"/>
          </a:p>
        </p:txBody>
      </p:sp>
      <p:sp>
        <p:nvSpPr>
          <p:cNvPr id="15" name="Text 12"/>
          <p:cNvSpPr/>
          <p:nvPr/>
        </p:nvSpPr>
        <p:spPr>
          <a:xfrm>
            <a:off x="472231" y="274670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Détection &amp; Mitigation des Comportements Malveillants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fr-CM"/>
          </a:p>
        </p:txBody>
      </p:sp>
      <p:sp>
        <p:nvSpPr>
          <p:cNvPr id="17" name="Text 14"/>
          <p:cNvSpPr/>
          <p:nvPr/>
        </p:nvSpPr>
        <p:spPr>
          <a:xfrm>
            <a:off x="274320" y="449884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Groupe 6    Sécurité des Systèmes d'Information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274320" y="472744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Année 2025 – 2026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1D29453-9737-72F9-92AE-33D91B57115E}"/>
              </a:ext>
            </a:extLst>
          </p:cNvPr>
          <p:cNvSpPr txBox="1"/>
          <p:nvPr/>
        </p:nvSpPr>
        <p:spPr>
          <a:xfrm>
            <a:off x="2706874" y="1500080"/>
            <a:ext cx="2565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Times New Roman" pitchFamily="34" charset="0"/>
                <a:cs typeface="Times New Roman" pitchFamily="34" charset="-120"/>
              </a:rPr>
              <a:t>DOSSIER DE CONCEPTION </a:t>
            </a:r>
            <a:endParaRPr lang="fr-CM" sz="1400" dirty="0">
              <a:solidFill>
                <a:schemeClr val="bg1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2ED6FA0-EC7C-8684-F1D0-9360C5AF130B}"/>
              </a:ext>
            </a:extLst>
          </p:cNvPr>
          <p:cNvSpPr txBox="1"/>
          <p:nvPr/>
        </p:nvSpPr>
        <p:spPr>
          <a:xfrm>
            <a:off x="5859674" y="2791397"/>
            <a:ext cx="30100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8899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 </a:t>
            </a:r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NANA NDIEUPE Emilie  </a:t>
            </a:r>
          </a:p>
          <a:p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NSOE MARIE  </a:t>
            </a:r>
          </a:p>
          <a:p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SIMO YANNICK </a:t>
            </a:r>
          </a:p>
          <a:p>
            <a:endParaRPr lang="en-US" sz="1200" dirty="0"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endParaRPr lang="en-US" sz="1200" dirty="0"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</a:t>
            </a:r>
            <a:r>
              <a:rPr lang="en-US" sz="12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Supervisé</a:t>
            </a:r>
            <a:r>
              <a:rPr lang="en-US" sz="12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 M. NGUIMBUS Emmanuel  </a:t>
            </a:r>
            <a:r>
              <a:rPr lang="en-US" sz="1200" dirty="0">
                <a:solidFill>
                  <a:srgbClr val="8899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</a:t>
            </a:r>
            <a:endParaRPr lang="fr-CM" sz="1200" dirty="0"/>
          </a:p>
        </p:txBody>
      </p:sp>
      <p:pic>
        <p:nvPicPr>
          <p:cNvPr id="24" name="Image 23" descr="Une image contenant croquis, oiseau, dessin, Dessin au trait&#10;&#10;Le contenu généré par l’IA peut être incorrect.">
            <a:extLst>
              <a:ext uri="{FF2B5EF4-FFF2-40B4-BE49-F238E27FC236}">
                <a16:creationId xmlns:a16="http://schemas.microsoft.com/office/drawing/2014/main" id="{D2D55882-E682-FABF-B1C8-D6E05B693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80" y="254272"/>
            <a:ext cx="1350788" cy="1180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SOMMAIRE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02920" cy="4114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Contexte &amp; Objectif du Projet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502920" cy="4114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Text 8"/>
          <p:cNvSpPr/>
          <p:nvPr/>
        </p:nvSpPr>
        <p:spPr>
          <a:xfrm>
            <a:off x="365760" y="19293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476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Démarche de Conception &amp; Architecture Globale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502920" cy="4114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3" name="Text 11"/>
          <p:cNvSpPr/>
          <p:nvPr/>
        </p:nvSpPr>
        <p:spPr>
          <a:xfrm>
            <a:off x="365760" y="25968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6151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Diagramme de Classes UML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64408"/>
            <a:ext cx="5029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6" name="Text 14"/>
          <p:cNvSpPr/>
          <p:nvPr/>
        </p:nvSpPr>
        <p:spPr>
          <a:xfrm>
            <a:off x="365760" y="32644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28269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Description des Classes &amp; Relations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5029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9502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Diagramme de Séquence UML – Scénarios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261872"/>
            <a:ext cx="502920" cy="4114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2" name="Text 20"/>
          <p:cNvSpPr/>
          <p:nvPr/>
        </p:nvSpPr>
        <p:spPr>
          <a:xfrm>
            <a:off x="4754880" y="1261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2801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Contraintes &amp; Solutions AppArmor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9384"/>
            <a:ext cx="502920" cy="4114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5" name="Text 23"/>
          <p:cNvSpPr/>
          <p:nvPr/>
        </p:nvSpPr>
        <p:spPr>
          <a:xfrm>
            <a:off x="4754880" y="19293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19476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Modes de Sécurité Intégrés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596896"/>
            <a:ext cx="502920" cy="4114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8" name="Text 26"/>
          <p:cNvSpPr/>
          <p:nvPr/>
        </p:nvSpPr>
        <p:spPr>
          <a:xfrm>
            <a:off x="4754880" y="25968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26151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Synthèse de la Conception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264408"/>
            <a:ext cx="502920" cy="41148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1" name="Text 29"/>
          <p:cNvSpPr/>
          <p:nvPr/>
        </p:nvSpPr>
        <p:spPr>
          <a:xfrm>
            <a:off x="4754880" y="32644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2644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Transition vers la Réalisation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931920"/>
            <a:ext cx="502920" cy="41148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4" name="Text 32"/>
          <p:cNvSpPr/>
          <p:nvPr/>
        </p:nvSpPr>
        <p:spPr>
          <a:xfrm>
            <a:off x="4754880" y="3931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39502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24355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· Contexte &amp; Objectif du Projet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05840" y="1143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11480" y="2125981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 systèmes Linux sont exposés à des menaces croissantes : </a:t>
            </a:r>
            <a:r>
              <a:rPr lang="en-US" sz="11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accès</a:t>
            </a: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non autorisés, exécutions malveillantes, élévations de privilèges.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AppArmor</a:t>
            </a: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est un module MAC (Mandatory Access Control) intégré au noyau Linux permettant de restreindre les droits de chaque application selon des profils de sécurité stricts.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 projet répond au besoin de centraliser et automatiser la gestion de ces profils via une interface web sécurisée, adaptée à un environnement Ubuntu.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394960" y="1143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Objectifs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4754880" y="1691640"/>
            <a:ext cx="4023360" cy="502920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5" name="Text 10"/>
          <p:cNvSpPr/>
          <p:nvPr/>
        </p:nvSpPr>
        <p:spPr>
          <a:xfrm>
            <a:off x="4800600" y="1728216"/>
            <a:ext cx="3931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Administrer les profils AppArmor via interface web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54880" y="2313432"/>
            <a:ext cx="4023360" cy="502920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7" name="Text 12"/>
          <p:cNvSpPr/>
          <p:nvPr/>
        </p:nvSpPr>
        <p:spPr>
          <a:xfrm>
            <a:off x="4800600" y="2350008"/>
            <a:ext cx="3931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Détecter &amp; analyser les comportements malveillants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2918189"/>
            <a:ext cx="4023360" cy="502920"/>
          </a:xfrm>
          <a:prstGeom prst="rect">
            <a:avLst/>
          </a:prstGeom>
          <a:noFill/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9" name="Text 14"/>
          <p:cNvSpPr/>
          <p:nvPr/>
        </p:nvSpPr>
        <p:spPr>
          <a:xfrm>
            <a:off x="4800600" y="2971800"/>
            <a:ext cx="3931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Visualiser les logs et métriques en temps réel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557016"/>
            <a:ext cx="4023360" cy="502920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Text 16"/>
          <p:cNvSpPr/>
          <p:nvPr/>
        </p:nvSpPr>
        <p:spPr>
          <a:xfrm>
            <a:off x="4800600" y="3593592"/>
            <a:ext cx="3931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Simuler des attaques et démontrer la défense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4178808"/>
            <a:ext cx="4023360" cy="502920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3" name="Text 18"/>
          <p:cNvSpPr/>
          <p:nvPr/>
        </p:nvSpPr>
        <p:spPr>
          <a:xfrm>
            <a:off x="4800600" y="4215384"/>
            <a:ext cx="39319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Garantir la sécurité de l'interface (HTTPS, auth)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24355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· Démarche de Conception Adoptée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144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4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Exigences fonctionnelles &amp; non-fonctionnelles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280160" y="1920240"/>
            <a:ext cx="7315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4" name="Text 11"/>
          <p:cNvSpPr/>
          <p:nvPr/>
        </p:nvSpPr>
        <p:spPr>
          <a:xfrm>
            <a:off x="201168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82880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8308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4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Modélisation UML : classes, séquences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017520" y="1920240"/>
            <a:ext cx="7315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9" name="Text 16"/>
          <p:cNvSpPr/>
          <p:nvPr/>
        </p:nvSpPr>
        <p:spPr>
          <a:xfrm>
            <a:off x="374904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356616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Réalisation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52044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4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Développement &amp; intégration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1920240"/>
            <a:ext cx="7315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4" name="Text 21"/>
          <p:cNvSpPr/>
          <p:nvPr/>
        </p:nvSpPr>
        <p:spPr>
          <a:xfrm>
            <a:off x="548640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530352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5780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4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fonctionnelle &amp; sécurité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92240" y="1920240"/>
            <a:ext cx="7315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9" name="Text 26"/>
          <p:cNvSpPr/>
          <p:nvPr/>
        </p:nvSpPr>
        <p:spPr>
          <a:xfrm>
            <a:off x="722376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6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704088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99516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4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Mise en production &amp; audit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783080" y="1143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6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ACTUELLE</a:t>
            </a:r>
            <a:endParaRPr lang="en-US" sz="7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Shape 31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fr-CM" dirty="0"/>
          </a:p>
        </p:txBody>
      </p:sp>
      <p:sp>
        <p:nvSpPr>
          <p:cNvPr id="35" name="Text 32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Outils &amp; Méthodes de Modélisation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6" name="Text 33"/>
          <p:cNvSpPr/>
          <p:nvPr/>
        </p:nvSpPr>
        <p:spPr>
          <a:xfrm>
            <a:off x="457200" y="3913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UML 2.x (diagrammes de classes &amp; séquences)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PowerAMC / Draw.io / StarUML pour la modélisation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57200" y="4535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Architecture MVC (Model-View-Controller)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754880" y="3913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Pattern Repository pour la couche données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75488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Principe SOLID appliqué aux classes métiers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24355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· Architecture Globale – MVC 3-Tiers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28600" y="1005840"/>
            <a:ext cx="2743200" cy="3886200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8" name="Shape 5"/>
          <p:cNvSpPr/>
          <p:nvPr/>
        </p:nvSpPr>
        <p:spPr>
          <a:xfrm>
            <a:off x="228600" y="1005840"/>
            <a:ext cx="2743200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0" name="Text 6"/>
          <p:cNvSpPr/>
          <p:nvPr/>
        </p:nvSpPr>
        <p:spPr>
          <a:xfrm>
            <a:off x="777240" y="10058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COUCHE PRÉSENTATION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77240" y="1353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Web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11480" y="180136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Interface HTML/CSS/JS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11480" y="2459736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Dashboard temps réel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11480" y="311810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Formulaires sécurisés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11480" y="377647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Alertes visuelles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961842" y="2779525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⇄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200400" y="1005840"/>
            <a:ext cx="2743200" cy="3886200"/>
          </a:xfrm>
          <a:prstGeom prst="rect">
            <a:avLst/>
          </a:prstGeom>
          <a:noFill/>
          <a:ln w="254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23" name="Shape 19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5" name="Text 20"/>
          <p:cNvSpPr/>
          <p:nvPr/>
        </p:nvSpPr>
        <p:spPr>
          <a:xfrm>
            <a:off x="3749040" y="10058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COUCHE LOGIQUE MÉTIER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749040" y="1353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(Python/Flask)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383280" y="180136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Contrôleurs REST API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383280" y="2459736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Service AppArmor Manager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3383280" y="311810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Service de détection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3383280" y="377647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Moteur de mitigation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939028" y="2779525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⇄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6172200" y="1005840"/>
            <a:ext cx="2743200" cy="3886200"/>
          </a:xfrm>
          <a:prstGeom prst="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CM"/>
          </a:p>
        </p:txBody>
      </p:sp>
      <p:sp>
        <p:nvSpPr>
          <p:cNvPr id="38" name="Shape 33"/>
          <p:cNvSpPr/>
          <p:nvPr/>
        </p:nvSpPr>
        <p:spPr>
          <a:xfrm>
            <a:off x="6172200" y="1005840"/>
            <a:ext cx="2743200" cy="64008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0" name="Text 34"/>
          <p:cNvSpPr/>
          <p:nvPr/>
        </p:nvSpPr>
        <p:spPr>
          <a:xfrm>
            <a:off x="6720840" y="10058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COUCHE DONNÉES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720840" y="13533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Persistance &amp; Système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355080" y="180136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Base SQLite / MariaDB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355080" y="2459736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Logs AppArmor (syslog)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6355080" y="311810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Profils .conf AppArmor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6355080" y="377647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Système fichiers Ubuntu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243558"/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Diagramme de Classes UML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77824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Modéliser l'ensemble des entités du système, leurs attributs, méthodes et les relations qui les unissent (association, héritage, </a:t>
            </a:r>
            <a:r>
              <a:rPr lang="en-US" sz="95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dépendance</a:t>
            </a: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950" dirty="0"/>
          </a:p>
        </p:txBody>
      </p:sp>
      <p:pic>
        <p:nvPicPr>
          <p:cNvPr id="68" name="Image 67">
            <a:extLst>
              <a:ext uri="{FF2B5EF4-FFF2-40B4-BE49-F238E27FC236}">
                <a16:creationId xmlns:a16="http://schemas.microsoft.com/office/drawing/2014/main" id="{0A02AAA2-31C2-9F9C-7B01-77D226B92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863" y="1105468"/>
            <a:ext cx="5807122" cy="40380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000" y="40000"/>
            <a:ext cx="8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Times New Roman"/>
              </a:rPr>
              <a:t>Scénarios associés au diagramme de classes — 1/2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0000" y="420000"/>
          <a:ext cx="86200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85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Scénario</a:t>
                      </a:r>
                    </a:p>
                  </a:txBody>
                  <a:tcPr marL="45000" marR="45000" marT="20000" marB="20000" anchor="ctr"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Classes principales impliquées</a:t>
                      </a:r>
                    </a:p>
                  </a:txBody>
                  <a:tcPr marL="45000" marR="45000" marT="20000" marB="20000" anchor="ctr"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Relation clé exercée</a:t>
                      </a:r>
                    </a:p>
                  </a:txBody>
                  <a:tcPr marL="45000" marR="45000" marT="20000" marB="20000" anchor="ctr">
                    <a:solidFill>
                      <a:srgbClr val="1A2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rPr lang="fr-CM" dirty="0"/>
                        <a:t>Se connecter</a:t>
                      </a:r>
                      <a:endParaRPr dirty="0"/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Administrateur</a:t>
                      </a:r>
                      <a:r>
                        <a:rPr dirty="0"/>
                        <a:t>, Session, </a:t>
                      </a:r>
                      <a:r>
                        <a:rPr dirty="0" err="1"/>
                        <a:t>GestionnaireWeb</a:t>
                      </a:r>
                      <a:endParaRPr dirty="0"/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Administrateur crée une Session ; GestionnaireWeb la valide avant tout accès.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rPr lang="fr-CM" dirty="0"/>
                        <a:t>Gérer l’utilisateur</a:t>
                      </a:r>
                      <a:endParaRPr dirty="0"/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rPr lang="fr-CM" dirty="0"/>
                        <a:t>Administrateur, </a:t>
                      </a:r>
                      <a:r>
                        <a:rPr lang="fr-CM" dirty="0" err="1"/>
                        <a:t>GestionnaireWeb</a:t>
                      </a:r>
                      <a:endParaRPr dirty="0"/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GestionnaireWeb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pilote</a:t>
                      </a:r>
                      <a:r>
                        <a:rPr dirty="0"/>
                        <a:t> le cycle de vie d</a:t>
                      </a:r>
                      <a:r>
                        <a:rPr lang="en-US" dirty="0"/>
                        <a:t>u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comptes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Administrat</a:t>
                      </a:r>
                      <a:r>
                        <a:rPr lang="fr-CM" dirty="0" err="1"/>
                        <a:t>eur</a:t>
                      </a:r>
                      <a:r>
                        <a:rPr lang="fr-CM" dirty="0"/>
                        <a:t>.</a:t>
                      </a:r>
                      <a:endParaRPr dirty="0"/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Créer / Modifier / Supprimer un profil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GestionnaireWeb, ProfilAppArmor, Regle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Composition ProfilAppArmor ◆— Regle : les règles n'existent pas sans leur profil.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Activer / Désactiver / Changer le mode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ProfilAppArmor, ServeurCible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rPr dirty="0"/>
                        <a:t>Association « </a:t>
                      </a:r>
                      <a:r>
                        <a:rPr dirty="0" err="1"/>
                        <a:t>déployé</a:t>
                      </a:r>
                      <a:r>
                        <a:rPr dirty="0"/>
                        <a:t> sur » : un </a:t>
                      </a:r>
                      <a:r>
                        <a:rPr dirty="0" err="1"/>
                        <a:t>profil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s'applique</a:t>
                      </a:r>
                      <a:r>
                        <a:rPr dirty="0"/>
                        <a:t> sur un </a:t>
                      </a:r>
                      <a:r>
                        <a:rPr dirty="0" err="1"/>
                        <a:t>ou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plusieurs</a:t>
                      </a:r>
                      <a:r>
                        <a:rPr dirty="0"/>
                        <a:t> </a:t>
                      </a:r>
                      <a:r>
                        <a:rPr lang="en-US" dirty="0"/>
                        <a:t>processus </a:t>
                      </a:r>
                      <a:r>
                        <a:rPr lang="en-US" dirty="0" err="1"/>
                        <a:t>cible</a:t>
                      </a:r>
                      <a:r>
                        <a:rPr dirty="0"/>
                        <a:t>.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Déployer un profil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GestionnaireWeb, ProfilAppArmor, ServeurCible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GestionnaireWeb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orchestre</a:t>
                      </a:r>
                      <a:r>
                        <a:rPr dirty="0"/>
                        <a:t> deployer() </a:t>
                      </a:r>
                      <a:r>
                        <a:rPr dirty="0" err="1"/>
                        <a:t>vers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chaque</a:t>
                      </a:r>
                      <a:r>
                        <a:rPr dirty="0"/>
                        <a:t> </a:t>
                      </a:r>
                      <a:r>
                        <a:rPr lang="en-US" dirty="0"/>
                        <a:t>processus </a:t>
                      </a:r>
                      <a:r>
                        <a:rPr dirty="0" err="1"/>
                        <a:t>Cible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associé</a:t>
                      </a:r>
                      <a:r>
                        <a:rPr dirty="0"/>
                        <a:t>.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85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Consulter et gérer les journaux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LogEvenement, GestionnaireWeb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rPr dirty="0" err="1"/>
                        <a:t>Utilisation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directe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filtrer</a:t>
                      </a:r>
                      <a:r>
                        <a:rPr dirty="0"/>
                        <a:t>(), </a:t>
                      </a:r>
                      <a:r>
                        <a:rPr dirty="0" err="1"/>
                        <a:t>rechercher</a:t>
                      </a:r>
                      <a:r>
                        <a:rPr dirty="0"/>
                        <a:t>() et exporter().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000" y="40000"/>
            <a:ext cx="8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Times New Roman"/>
              </a:rPr>
              <a:t>Scénarios associés au diagramme de classes — 2/2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0000" y="420000"/>
          <a:ext cx="86200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85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Scénario</a:t>
                      </a:r>
                    </a:p>
                  </a:txBody>
                  <a:tcPr marL="45000" marR="45000" marT="20000" marB="20000" anchor="ctr"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Classes principales impliquées</a:t>
                      </a:r>
                    </a:p>
                  </a:txBody>
                  <a:tcPr marL="45000" marR="45000" marT="20000" marB="20000" anchor="ctr"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Relation clé exercée</a:t>
                      </a:r>
                    </a:p>
                  </a:txBody>
                  <a:tcPr marL="45000" marR="45000" marT="20000" marB="20000" anchor="ctr">
                    <a:solidFill>
                      <a:srgbClr val="1A2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Déclencher un audit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Audit, LogEvenement, Rapport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Audit lit LogEvenement (« lit ») puis produit un Rapport (« produit »).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Déclencher une analyse de sécurité (SOC)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AnalyseSOC, LogEvenement, Alerte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AnalyseSOC exploite les journaux puis classe le résultat en Alerte.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Déclencher une mitigation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AnalyseSOC, Mitigation, ProfilAppArmor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Relation «extend» AnalyseSOC → Mitigation, puis Mitigation « met à jour » ProfilAppArmor.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Lancer une simulation d'attaque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Attaque, Application, LogEvenement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Attaque « cible » une Application protégée et « génère » un LogEvenement.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85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Consulter les statistiques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Dashboard, LogEvenement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Dashboard est « alimenté » par les journaux LogEvenement agrégés.</a:t>
                      </a:r>
                    </a:p>
                  </a:txBody>
                  <a:tcPr marL="45000" marR="45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285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Télécharger les rapports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Rapport, Audit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Utilisation directe de genererPDF() / genererCSV() sur la classe Rapport.</a:t>
                      </a:r>
                    </a:p>
                  </a:txBody>
                  <a:tcPr marL="45000" marR="45000" marT="20000" marB="20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9728" y="0"/>
            <a:ext cx="9034272" cy="4367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345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Séquence – Authentification Administrateur</a:t>
            </a:r>
            <a:endParaRPr lang="en-US" sz="22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BCE5A9C-7127-E094-D7D4-8E413C796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6728"/>
            <a:ext cx="9144000" cy="47067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305DA10-576B-78C6-CF55-8FE02F459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02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" y="40000"/>
            <a:ext cx="8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Times New Roman"/>
              </a:rPr>
              <a:t>Diagramme de séquence 3 — Lancer une simulation d'attaque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0000" y="380000"/>
            <a:ext cx="1550000" cy="33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0000" y="380000"/>
            <a:ext cx="1550000" cy="3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Administrateur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0000" y="380000"/>
            <a:ext cx="1550000" cy="330000"/>
          </a:xfrm>
          <a:prstGeom prst="rect">
            <a:avLst/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70000" y="380000"/>
            <a:ext cx="1550000" cy="3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GestionnaireWeb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0000" y="380000"/>
            <a:ext cx="1550000" cy="33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00000" y="380000"/>
            <a:ext cx="1550000" cy="3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Attaque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0000" y="380000"/>
            <a:ext cx="1550000" cy="330000"/>
          </a:xfrm>
          <a:prstGeom prst="rect">
            <a:avLst/>
          </a:prstGeom>
          <a:solidFill>
            <a:srgbClr val="1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0000" y="380000"/>
            <a:ext cx="1550000" cy="3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0000" y="380000"/>
            <a:ext cx="1550000" cy="3300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0000" y="380000"/>
            <a:ext cx="1550000" cy="3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LogEvenement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5000" y="710000"/>
            <a:ext cx="0" cy="3020000"/>
          </a:xfrm>
          <a:prstGeom prst="line">
            <a:avLst/>
          </a:prstGeom>
          <a:ln w="13970">
            <a:solidFill>
              <a:srgbClr val="DCE2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45000" y="710000"/>
            <a:ext cx="0" cy="3020000"/>
          </a:xfrm>
          <a:prstGeom prst="line">
            <a:avLst/>
          </a:prstGeom>
          <a:ln w="13970">
            <a:solidFill>
              <a:srgbClr val="DCE2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5000" y="710000"/>
            <a:ext cx="0" cy="3020000"/>
          </a:xfrm>
          <a:prstGeom prst="line">
            <a:avLst/>
          </a:prstGeom>
          <a:ln w="13970">
            <a:solidFill>
              <a:srgbClr val="DCE2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05000" y="710000"/>
            <a:ext cx="0" cy="3020000"/>
          </a:xfrm>
          <a:prstGeom prst="line">
            <a:avLst/>
          </a:prstGeom>
          <a:ln w="13970">
            <a:solidFill>
              <a:srgbClr val="DCE2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35000" y="710000"/>
            <a:ext cx="0" cy="3020000"/>
          </a:xfrm>
          <a:prstGeom prst="line">
            <a:avLst/>
          </a:prstGeom>
          <a:ln w="13970">
            <a:solidFill>
              <a:srgbClr val="DCE2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5000" y="840000"/>
            <a:ext cx="1730000" cy="0"/>
          </a:xfrm>
          <a:prstGeom prst="line">
            <a:avLst/>
          </a:prstGeom>
          <a:ln w="16510">
            <a:solidFill>
              <a:srgbClr val="0D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15000" y="640000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222222"/>
                </a:solidFill>
                <a:latin typeface="Times New Roman"/>
              </a:rPr>
              <a:t>1. lancerSimulation(scénario)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45000" y="1311666"/>
            <a:ext cx="1730000" cy="0"/>
          </a:xfrm>
          <a:prstGeom prst="line">
            <a:avLst/>
          </a:prstGeom>
          <a:ln w="16510">
            <a:solidFill>
              <a:srgbClr val="0D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45000" y="1111666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222222"/>
                </a:solidFill>
                <a:latin typeface="Times New Roman"/>
              </a:rPr>
              <a:t>2. lancer(scénario)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5000" y="1783333"/>
            <a:ext cx="1730000" cy="0"/>
          </a:xfrm>
          <a:prstGeom prst="line">
            <a:avLst/>
          </a:prstGeom>
          <a:ln w="16510">
            <a:solidFill>
              <a:srgbClr val="0D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5000" y="1583333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222222"/>
                </a:solidFill>
                <a:latin typeface="Times New Roman"/>
              </a:rPr>
              <a:t>3. exécuter tentative simulée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05000" y="2255000"/>
            <a:ext cx="1730000" cy="0"/>
          </a:xfrm>
          <a:prstGeom prst="line">
            <a:avLst/>
          </a:prstGeom>
          <a:ln w="16510">
            <a:solidFill>
              <a:srgbClr val="0D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05000" y="2055000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222222"/>
                </a:solidFill>
                <a:latin typeface="Times New Roman"/>
              </a:rPr>
              <a:t>4. enregistrer(résultat AppArmor)</a:t>
            </a:r>
          </a:p>
        </p:txBody>
      </p:sp>
      <p:cxnSp>
        <p:nvCxnSpPr>
          <p:cNvPr id="28" name="Connector 27"/>
          <p:cNvCxnSpPr>
            <a:cxnSpLocks/>
          </p:cNvCxnSpPr>
          <p:nvPr/>
        </p:nvCxnSpPr>
        <p:spPr>
          <a:xfrm>
            <a:off x="4572000" y="2815771"/>
            <a:ext cx="3381829" cy="0"/>
          </a:xfrm>
          <a:prstGeom prst="line">
            <a:avLst/>
          </a:prstGeom>
          <a:ln w="16510">
            <a:solidFill>
              <a:srgbClr val="63707D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5000" y="2526666"/>
            <a:ext cx="346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1">
                <a:solidFill>
                  <a:srgbClr val="222222"/>
                </a:solidFill>
                <a:latin typeface="Times New Roman"/>
              </a:rPr>
              <a:t>5. confirmation d'enregistrement</a:t>
            </a: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2910114" y="3280229"/>
            <a:ext cx="1658887" cy="0"/>
          </a:xfrm>
          <a:prstGeom prst="line">
            <a:avLst/>
          </a:prstGeom>
          <a:ln w="16510">
            <a:solidFill>
              <a:srgbClr val="63707D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845000" y="2998333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1">
                <a:solidFill>
                  <a:srgbClr val="222222"/>
                </a:solidFill>
                <a:latin typeface="Times New Roman"/>
              </a:rPr>
              <a:t>6. résultat (bloqué / autorisé)</a:t>
            </a:r>
          </a:p>
        </p:txBody>
      </p:sp>
      <p:cxnSp>
        <p:nvCxnSpPr>
          <p:cNvPr id="32" name="Connector 31"/>
          <p:cNvCxnSpPr>
            <a:cxnSpLocks/>
          </p:cNvCxnSpPr>
          <p:nvPr/>
        </p:nvCxnSpPr>
        <p:spPr>
          <a:xfrm>
            <a:off x="1108999" y="3670000"/>
            <a:ext cx="1736001" cy="0"/>
          </a:xfrm>
          <a:prstGeom prst="line">
            <a:avLst/>
          </a:prstGeom>
          <a:ln w="16510">
            <a:solidFill>
              <a:srgbClr val="63707D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15000" y="3470000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1">
                <a:solidFill>
                  <a:srgbClr val="222222"/>
                </a:solidFill>
                <a:latin typeface="Times New Roman"/>
              </a:rPr>
              <a:t>7. afficher résultat simulation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0000" y="3790000"/>
            <a:ext cx="8650000" cy="90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0000" y="3810000"/>
            <a:ext cx="560000" cy="41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0000" y="3810000"/>
            <a:ext cx="560000" cy="4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alt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000" y="3810000"/>
            <a:ext cx="7990000" cy="4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222222"/>
                </a:solidFill>
                <a:latin typeface="Times New Roman"/>
              </a:rPr>
              <a:t>[profil en mode Enforce] → tentative interceptée et bloquée par AppArmor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0000" y="4260000"/>
            <a:ext cx="560000" cy="41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0000" y="4260000"/>
            <a:ext cx="560000" cy="4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opt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000" y="4260000"/>
            <a:ext cx="7990000" cy="4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222222"/>
                </a:solidFill>
                <a:latin typeface="Times New Roman"/>
              </a:rPr>
              <a:t>[profil en mode Complain] → tentative autorisée mais journalisée comme violation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" y="40000"/>
            <a:ext cx="8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2222"/>
                </a:solidFill>
                <a:latin typeface="Times New Roman"/>
              </a:rPr>
              <a:t>Diagramme de séquence 4 — Chaîne complète : Audit, Analyse SOC et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0000" y="380000"/>
            <a:ext cx="1550000" cy="33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0000" y="380000"/>
            <a:ext cx="1550000" cy="3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Administrateur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0000" y="380000"/>
            <a:ext cx="1550000" cy="330000"/>
          </a:xfrm>
          <a:prstGeom prst="rect">
            <a:avLst/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70000" y="380000"/>
            <a:ext cx="1550000" cy="3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GestionnaireWeb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0000" y="380000"/>
            <a:ext cx="1550000" cy="33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00000" y="380000"/>
            <a:ext cx="1550000" cy="3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AnalyseSOC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0000" y="380000"/>
            <a:ext cx="1550000" cy="33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0000" y="380000"/>
            <a:ext cx="1550000" cy="3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Mitigation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0000" y="380000"/>
            <a:ext cx="1550000" cy="330000"/>
          </a:xfrm>
          <a:prstGeom prst="rect">
            <a:avLst/>
          </a:prstGeom>
          <a:solidFill>
            <a:srgbClr val="1E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0000" y="380000"/>
            <a:ext cx="1550000" cy="33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ProfilAppArmor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5000" y="710000"/>
            <a:ext cx="0" cy="3020000"/>
          </a:xfrm>
          <a:prstGeom prst="line">
            <a:avLst/>
          </a:prstGeom>
          <a:ln w="13970">
            <a:solidFill>
              <a:srgbClr val="DCE2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45000" y="710000"/>
            <a:ext cx="0" cy="3020000"/>
          </a:xfrm>
          <a:prstGeom prst="line">
            <a:avLst/>
          </a:prstGeom>
          <a:ln w="13970">
            <a:solidFill>
              <a:srgbClr val="DCE2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5000" y="710000"/>
            <a:ext cx="0" cy="3020000"/>
          </a:xfrm>
          <a:prstGeom prst="line">
            <a:avLst/>
          </a:prstGeom>
          <a:ln w="13970">
            <a:solidFill>
              <a:srgbClr val="DCE2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05000" y="710000"/>
            <a:ext cx="0" cy="3020000"/>
          </a:xfrm>
          <a:prstGeom prst="line">
            <a:avLst/>
          </a:prstGeom>
          <a:ln w="13970">
            <a:solidFill>
              <a:srgbClr val="DCE2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35000" y="710000"/>
            <a:ext cx="0" cy="3020000"/>
          </a:xfrm>
          <a:prstGeom prst="line">
            <a:avLst/>
          </a:prstGeom>
          <a:ln w="13970">
            <a:solidFill>
              <a:srgbClr val="DCE2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5000" y="840000"/>
            <a:ext cx="1730000" cy="0"/>
          </a:xfrm>
          <a:prstGeom prst="line">
            <a:avLst/>
          </a:prstGeom>
          <a:ln w="16510">
            <a:solidFill>
              <a:srgbClr val="0D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15000" y="640000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222222"/>
                </a:solidFill>
                <a:latin typeface="Times New Roman"/>
              </a:rPr>
              <a:t>1. lancerAnalyse()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45000" y="1193750"/>
            <a:ext cx="1730000" cy="0"/>
          </a:xfrm>
          <a:prstGeom prst="line">
            <a:avLst/>
          </a:prstGeom>
          <a:ln w="16510">
            <a:solidFill>
              <a:srgbClr val="0D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45000" y="993750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222222"/>
                </a:solidFill>
                <a:latin typeface="Times New Roman"/>
              </a:rPr>
              <a:t>2. detecterComportement()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5000" y="1547500"/>
            <a:ext cx="420000" cy="0"/>
          </a:xfrm>
          <a:prstGeom prst="line">
            <a:avLst/>
          </a:prstGeom>
          <a:ln w="16510">
            <a:solidFill>
              <a:srgbClr val="0D7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95000" y="1547500"/>
            <a:ext cx="0" cy="90000"/>
          </a:xfrm>
          <a:prstGeom prst="line">
            <a:avLst/>
          </a:prstGeom>
          <a:ln w="16510">
            <a:solidFill>
              <a:srgbClr val="0D7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575000" y="1637500"/>
            <a:ext cx="420000" cy="0"/>
          </a:xfrm>
          <a:prstGeom prst="line">
            <a:avLst/>
          </a:prstGeom>
          <a:ln w="16510">
            <a:solidFill>
              <a:srgbClr val="0D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05000" y="1347500"/>
            <a:ext cx="137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22222"/>
                </a:solidFill>
                <a:latin typeface="Times New Roman"/>
              </a:rPr>
              <a:t>3. classer + calculer risque</a:t>
            </a:r>
          </a:p>
        </p:txBody>
      </p:sp>
      <p:cxnSp>
        <p:nvCxnSpPr>
          <p:cNvPr id="28" name="Connector 27"/>
          <p:cNvCxnSpPr>
            <a:cxnSpLocks/>
          </p:cNvCxnSpPr>
          <p:nvPr/>
        </p:nvCxnSpPr>
        <p:spPr>
          <a:xfrm>
            <a:off x="2845000" y="1959429"/>
            <a:ext cx="1730000" cy="0"/>
          </a:xfrm>
          <a:prstGeom prst="line">
            <a:avLst/>
          </a:prstGeom>
          <a:ln w="16510">
            <a:solidFill>
              <a:srgbClr val="63707D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45000" y="1701250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1">
                <a:solidFill>
                  <a:srgbClr val="222222"/>
                </a:solidFill>
                <a:latin typeface="Times New Roman"/>
              </a:rPr>
              <a:t>4. niveau de risque + alertes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45000" y="2255000"/>
            <a:ext cx="3460000" cy="0"/>
          </a:xfrm>
          <a:prstGeom prst="line">
            <a:avLst/>
          </a:prstGeom>
          <a:ln w="16510">
            <a:solidFill>
              <a:srgbClr val="0D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845000" y="2055000"/>
            <a:ext cx="346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222222"/>
                </a:solidFill>
                <a:latin typeface="Times New Roman"/>
              </a:rPr>
              <a:t>5. executer()  «extend» si risque critique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05000" y="2608750"/>
            <a:ext cx="1730000" cy="0"/>
          </a:xfrm>
          <a:prstGeom prst="line">
            <a:avLst/>
          </a:prstGeom>
          <a:ln w="16510">
            <a:solidFill>
              <a:srgbClr val="0D7E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05000" y="2408750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222222"/>
                </a:solidFill>
                <a:latin typeface="Times New Roman"/>
              </a:rPr>
              <a:t>6. mettreAJour(regles)</a:t>
            </a:r>
          </a:p>
        </p:txBody>
      </p:sp>
      <p:cxnSp>
        <p:nvCxnSpPr>
          <p:cNvPr id="34" name="Connector 33"/>
          <p:cNvCxnSpPr>
            <a:cxnSpLocks/>
          </p:cNvCxnSpPr>
          <p:nvPr/>
        </p:nvCxnSpPr>
        <p:spPr>
          <a:xfrm>
            <a:off x="6305000" y="3048000"/>
            <a:ext cx="1730000" cy="0"/>
          </a:xfrm>
          <a:prstGeom prst="line">
            <a:avLst/>
          </a:prstGeom>
          <a:ln w="16510">
            <a:solidFill>
              <a:srgbClr val="63707D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05000" y="2762500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1">
                <a:solidFill>
                  <a:srgbClr val="222222"/>
                </a:solidFill>
                <a:latin typeface="Times New Roman"/>
              </a:rPr>
              <a:t>7. profil mis à jour</a:t>
            </a:r>
          </a:p>
        </p:txBody>
      </p:sp>
      <p:cxnSp>
        <p:nvCxnSpPr>
          <p:cNvPr id="36" name="Connector 35"/>
          <p:cNvCxnSpPr>
            <a:cxnSpLocks/>
          </p:cNvCxnSpPr>
          <p:nvPr/>
        </p:nvCxnSpPr>
        <p:spPr>
          <a:xfrm>
            <a:off x="2845000" y="3389086"/>
            <a:ext cx="3460000" cy="0"/>
          </a:xfrm>
          <a:prstGeom prst="line">
            <a:avLst/>
          </a:prstGeom>
          <a:ln w="16510">
            <a:solidFill>
              <a:srgbClr val="63707D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845000" y="3116250"/>
            <a:ext cx="346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1">
                <a:solidFill>
                  <a:srgbClr val="222222"/>
                </a:solidFill>
                <a:latin typeface="Times New Roman"/>
              </a:rPr>
              <a:t>8. contre-mesure appliquée</a:t>
            </a:r>
          </a:p>
        </p:txBody>
      </p:sp>
      <p:cxnSp>
        <p:nvCxnSpPr>
          <p:cNvPr id="38" name="Connector 37"/>
          <p:cNvCxnSpPr>
            <a:cxnSpLocks/>
          </p:cNvCxnSpPr>
          <p:nvPr/>
        </p:nvCxnSpPr>
        <p:spPr>
          <a:xfrm>
            <a:off x="1115000" y="3670000"/>
            <a:ext cx="1730000" cy="0"/>
          </a:xfrm>
          <a:prstGeom prst="line">
            <a:avLst/>
          </a:prstGeom>
          <a:ln w="16510">
            <a:solidFill>
              <a:srgbClr val="63707D"/>
            </a:solidFill>
            <a:prstDash val="dash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15000" y="3470000"/>
            <a:ext cx="173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i="1">
                <a:solidFill>
                  <a:srgbClr val="222222"/>
                </a:solidFill>
                <a:latin typeface="Times New Roman"/>
              </a:rPr>
              <a:t>9. afficher alertes et mitigation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0000" y="3790000"/>
            <a:ext cx="8650000" cy="90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0000" y="3810000"/>
            <a:ext cx="560000" cy="41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0000" y="3810000"/>
            <a:ext cx="560000" cy="4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alt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000" y="3810000"/>
            <a:ext cx="7990000" cy="4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222222"/>
                </a:solidFill>
                <a:latin typeface="Times New Roman"/>
              </a:rPr>
              <a:t>[risque critique] → déclenchement automatique de « Déclencher une mitigation 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0000" y="4260000"/>
            <a:ext cx="560000" cy="41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0000" y="4260000"/>
            <a:ext cx="560000" cy="4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imes New Roman"/>
              </a:rPr>
              <a:t>opt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0000" y="4260000"/>
            <a:ext cx="7990000" cy="41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222222"/>
                </a:solidFill>
                <a:latin typeface="Times New Roman"/>
              </a:rPr>
              <a:t>[risque faible] → alertes affichées, aucune action automatique déclenchée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000" y="40000"/>
            <a:ext cx="8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22222"/>
                </a:solidFill>
                <a:latin typeface="Times New Roman"/>
              </a:rPr>
              <a:t>Scénarios associés aux diagrammes de séquence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0000" y="460000"/>
          <a:ext cx="862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Diagramme</a:t>
                      </a:r>
                    </a:p>
                  </a:txBody>
                  <a:tcPr marL="50000" marR="50000" marT="25000" marB="25000" anchor="ctr"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Événement déclencheur</a:t>
                      </a:r>
                    </a:p>
                  </a:txBody>
                  <a:tcPr marL="50000" marR="50000" marT="25000" marB="25000" anchor="ctr"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Précondition principale</a:t>
                      </a:r>
                    </a:p>
                  </a:txBody>
                  <a:tcPr marL="50000" marR="50000" marT="25000" marB="25000" anchor="ctr"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Résultat obtenu</a:t>
                      </a:r>
                    </a:p>
                  </a:txBody>
                  <a:tcPr marL="50000" marR="50000" marT="25000" marB="25000" anchor="ctr">
                    <a:solidFill>
                      <a:srgbClr val="1A2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1. Authentification</a:t>
                      </a:r>
                    </a:p>
                  </a:txBody>
                  <a:tcPr marL="50000" marR="5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L'administrateur saisit ses identifiants sur l'interface web.</a:t>
                      </a:r>
                    </a:p>
                  </a:txBody>
                  <a:tcPr marL="50000" marR="5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Compte valide et non verrouillé.</a:t>
                      </a:r>
                    </a:p>
                  </a:txBody>
                  <a:tcPr marL="50000" marR="5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Session sécurisée créée ; connexion journalisée.</a:t>
                      </a:r>
                    </a:p>
                  </a:txBody>
                  <a:tcPr marL="50000" marR="50000" marT="25000" marB="2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2. Créer et déployer un profil</a:t>
                      </a:r>
                    </a:p>
                  </a:txBody>
                  <a:tcPr marL="50000" marR="50000" marT="25000" marB="25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L'administrateur soumet un nouveau profil puis le déploie.</a:t>
                      </a:r>
                    </a:p>
                  </a:txBody>
                  <a:tcPr marL="50000" marR="50000" marT="25000" marB="25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Administrateur authentifié ; syntaxe du profil valide.</a:t>
                      </a:r>
                    </a:p>
                  </a:txBody>
                  <a:tcPr marL="50000" marR="50000" marT="25000" marB="25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Profil créé, transféré et actif sur les serveurs cibles.</a:t>
                      </a:r>
                    </a:p>
                  </a:txBody>
                  <a:tcPr marL="50000" marR="50000" marT="25000" marB="25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3. Simulation d'attaque</a:t>
                      </a:r>
                    </a:p>
                  </a:txBody>
                  <a:tcPr marL="50000" marR="5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L'administrateur choisit un scénario d'attaque à rejouer.</a:t>
                      </a:r>
                    </a:p>
                  </a:txBody>
                  <a:tcPr marL="50000" marR="5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Un profil est actif (Enforce ou Complain) sur l'application ciblée.</a:t>
                      </a:r>
                    </a:p>
                  </a:txBody>
                  <a:tcPr marL="50000" marR="5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Événement de sécurité généré, exploitable par l'audit et l'analyse SOC.</a:t>
                      </a:r>
                    </a:p>
                  </a:txBody>
                  <a:tcPr marL="50000" marR="50000" marT="25000" marB="2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4. Chaîne Audit → SOC → Mitigation</a:t>
                      </a:r>
                    </a:p>
                  </a:txBody>
                  <a:tcPr marL="50000" marR="50000" marT="25000" marB="25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L'administrateur déclenche une analyse de sécurité.</a:t>
                      </a:r>
                    </a:p>
                  </a:txBody>
                  <a:tcPr marL="50000" marR="50000" marT="25000" marB="25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Des journaux récents existent pour l'analyse.</a:t>
                      </a:r>
                    </a:p>
                  </a:txBody>
                  <a:tcPr marL="50000" marR="50000" marT="25000" marB="25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Alertes classées ; mitigation appliquée automatiquement si le risque est critique.</a:t>
                      </a:r>
                    </a:p>
                  </a:txBody>
                  <a:tcPr marL="50000" marR="50000" marT="25000" marB="25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0000" y="4420000"/>
            <a:ext cx="86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dirty="0" err="1">
                <a:latin typeface="Times New Roman"/>
              </a:rPr>
              <a:t>l'authentification</a:t>
            </a:r>
            <a:r>
              <a:rPr sz="900" b="0" dirty="0">
                <a:latin typeface="Times New Roman"/>
              </a:rPr>
              <a:t>  </a:t>
            </a:r>
            <a:r>
              <a:rPr sz="900" b="0" dirty="0" err="1">
                <a:latin typeface="Times New Roman"/>
              </a:rPr>
              <a:t>conditionne</a:t>
            </a:r>
            <a:r>
              <a:rPr sz="900" b="0" dirty="0">
                <a:latin typeface="Times New Roman"/>
              </a:rPr>
              <a:t> </a:t>
            </a:r>
            <a:r>
              <a:rPr sz="900" b="0" dirty="0" err="1">
                <a:latin typeface="Times New Roman"/>
              </a:rPr>
              <a:t>l'accès</a:t>
            </a:r>
            <a:r>
              <a:rPr sz="900" b="0" dirty="0">
                <a:latin typeface="Times New Roman"/>
              </a:rPr>
              <a:t> à la gestion des </a:t>
            </a:r>
            <a:r>
              <a:rPr sz="900" b="0" dirty="0" err="1">
                <a:latin typeface="Times New Roman"/>
              </a:rPr>
              <a:t>profils</a:t>
            </a:r>
            <a:r>
              <a:rPr sz="900" b="0" dirty="0">
                <a:latin typeface="Times New Roman"/>
              </a:rPr>
              <a:t>; la simulation </a:t>
            </a:r>
            <a:r>
              <a:rPr sz="900" b="0" dirty="0" err="1">
                <a:latin typeface="Times New Roman"/>
              </a:rPr>
              <a:t>d'attaque</a:t>
            </a:r>
            <a:r>
              <a:rPr sz="900" b="0" dirty="0">
                <a:latin typeface="Times New Roman"/>
              </a:rPr>
              <a:t> </a:t>
            </a:r>
            <a:r>
              <a:rPr sz="900" b="0" dirty="0" err="1">
                <a:latin typeface="Times New Roman"/>
              </a:rPr>
              <a:t>alimente</a:t>
            </a:r>
            <a:r>
              <a:rPr sz="900" b="0" dirty="0">
                <a:latin typeface="Times New Roman"/>
              </a:rPr>
              <a:t> les </a:t>
            </a:r>
            <a:r>
              <a:rPr sz="900" b="0" dirty="0" err="1">
                <a:latin typeface="Times New Roman"/>
              </a:rPr>
              <a:t>journaux</a:t>
            </a:r>
            <a:r>
              <a:rPr sz="900" b="0" dirty="0">
                <a:latin typeface="Times New Roman"/>
              </a:rPr>
              <a:t> </a:t>
            </a:r>
            <a:r>
              <a:rPr sz="900" b="0" dirty="0" err="1">
                <a:latin typeface="Times New Roman"/>
              </a:rPr>
              <a:t>exploités</a:t>
            </a:r>
            <a:r>
              <a:rPr sz="900" b="0" dirty="0">
                <a:latin typeface="Times New Roman"/>
              </a:rPr>
              <a:t> par la </a:t>
            </a:r>
            <a:r>
              <a:rPr sz="900" b="0" dirty="0" err="1">
                <a:latin typeface="Times New Roman"/>
              </a:rPr>
              <a:t>chaîne</a:t>
            </a:r>
            <a:r>
              <a:rPr sz="900" b="0" dirty="0">
                <a:latin typeface="Times New Roman"/>
              </a:rPr>
              <a:t> de </a:t>
            </a:r>
            <a:r>
              <a:rPr sz="900" b="0" dirty="0" err="1">
                <a:latin typeface="Times New Roman"/>
              </a:rPr>
              <a:t>détection</a:t>
            </a:r>
            <a:r>
              <a:rPr sz="900" b="0" dirty="0">
                <a:latin typeface="Times New Roman"/>
              </a:rPr>
              <a:t> et de </a:t>
            </a:r>
            <a:r>
              <a:rPr sz="900" b="0" dirty="0" err="1">
                <a:latin typeface="Times New Roman"/>
              </a:rPr>
              <a:t>réponse</a:t>
            </a:r>
            <a:r>
              <a:rPr sz="900" b="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· Contraintes &amp; Solutions AppArmor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1005840"/>
            <a:ext cx="4251960" cy="1280160"/>
          </a:xfrm>
          <a:prstGeom prst="rect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Shape 5"/>
          <p:cNvSpPr/>
          <p:nvPr/>
        </p:nvSpPr>
        <p:spPr>
          <a:xfrm>
            <a:off x="182880" y="1005840"/>
            <a:ext cx="10058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Text 6"/>
          <p:cNvSpPr/>
          <p:nvPr/>
        </p:nvSpPr>
        <p:spPr>
          <a:xfrm>
            <a:off x="182880" y="1005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</a:t>
            </a:r>
            <a:endParaRPr lang="en-US" sz="750" u="sng" dirty="0"/>
          </a:p>
        </p:txBody>
      </p:sp>
      <p:sp>
        <p:nvSpPr>
          <p:cNvPr id="10" name="Text 7"/>
          <p:cNvSpPr/>
          <p:nvPr/>
        </p:nvSpPr>
        <p:spPr>
          <a:xfrm>
            <a:off x="274320" y="12984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Accès root requis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156362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AppArmor exige des privilèges élevés pour appliquer les profils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4320" y="1892808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Utilisation de scripts sudoers dédiés + isolation de la couche système via un service backend sécurisé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4251960" cy="1280160"/>
          </a:xfrm>
          <a:prstGeom prst="rect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6" name="Text 13"/>
          <p:cNvSpPr/>
          <p:nvPr/>
        </p:nvSpPr>
        <p:spPr>
          <a:xfrm>
            <a:off x="4617720" y="1005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</a:t>
            </a:r>
            <a:endParaRPr lang="en-US" sz="750" u="sng" dirty="0"/>
          </a:p>
        </p:txBody>
      </p:sp>
      <p:sp>
        <p:nvSpPr>
          <p:cNvPr id="17" name="Text 14"/>
          <p:cNvSpPr/>
          <p:nvPr/>
        </p:nvSpPr>
        <p:spPr>
          <a:xfrm>
            <a:off x="4709160" y="12984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Sécurisation de l'interface web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09160" y="156362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L'interface elle-même peut être vecteur d'attaque (XSS, CSRF, injection)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9160" y="1892808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HTTPS/TLS, tokens CSRF, validation des entrées, hashage bcrypt, headers de sécurité HTTP stricts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82880" y="2395728"/>
            <a:ext cx="4251960" cy="1280160"/>
          </a:xfrm>
          <a:prstGeom prst="rect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3" name="Text 20"/>
          <p:cNvSpPr/>
          <p:nvPr/>
        </p:nvSpPr>
        <p:spPr>
          <a:xfrm>
            <a:off x="182880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750" u="sng" dirty="0"/>
          </a:p>
        </p:txBody>
      </p:sp>
      <p:sp>
        <p:nvSpPr>
          <p:cNvPr id="24" name="Text 21"/>
          <p:cNvSpPr/>
          <p:nvPr/>
        </p:nvSpPr>
        <p:spPr>
          <a:xfrm>
            <a:off x="274320" y="268833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Temps réel des logs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74320" y="295351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Lecture en continu des logs syslog sans surcharge du système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274320" y="3282696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Polling optimisé + WebSocket optionnel. Cache en mémoire des 100 derniers événements.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617720" y="2395728"/>
            <a:ext cx="4251960" cy="1280160"/>
          </a:xfrm>
          <a:prstGeom prst="rect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0" name="Text 27"/>
          <p:cNvSpPr/>
          <p:nvPr/>
        </p:nvSpPr>
        <p:spPr>
          <a:xfrm>
            <a:off x="4617720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</a:t>
            </a:r>
            <a:endParaRPr lang="en-US" sz="750" u="sng" dirty="0"/>
          </a:p>
        </p:txBody>
      </p:sp>
      <p:sp>
        <p:nvSpPr>
          <p:cNvPr id="31" name="Text 28"/>
          <p:cNvSpPr/>
          <p:nvPr/>
        </p:nvSpPr>
        <p:spPr>
          <a:xfrm>
            <a:off x="4709160" y="268833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Dépendance Ubuntu uniquement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09160" y="295351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AppArmor est natif Ubuntu ; portabilité limitée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709160" y="3282696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Architecture découplée avec interface abstraite (AppArmorService) permettant extension future (SELinux, etc.)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82880" y="3785616"/>
            <a:ext cx="4251960" cy="1280160"/>
          </a:xfrm>
          <a:prstGeom prst="rect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7" name="Text 34"/>
          <p:cNvSpPr/>
          <p:nvPr/>
        </p:nvSpPr>
        <p:spPr>
          <a:xfrm>
            <a:off x="182880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Organisationnel</a:t>
            </a:r>
            <a:endParaRPr lang="en-US" sz="750" u="sng" dirty="0"/>
          </a:p>
        </p:txBody>
      </p:sp>
      <p:sp>
        <p:nvSpPr>
          <p:cNvPr id="42" name="Shape 39"/>
          <p:cNvSpPr/>
          <p:nvPr/>
        </p:nvSpPr>
        <p:spPr>
          <a:xfrm>
            <a:off x="4617720" y="3785616"/>
            <a:ext cx="4251960" cy="1280160"/>
          </a:xfrm>
          <a:prstGeom prst="rect">
            <a:avLst/>
          </a:prstGeom>
          <a:noFill/>
          <a:ln w="1524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44" name="Text 41"/>
          <p:cNvSpPr/>
          <p:nvPr/>
        </p:nvSpPr>
        <p:spPr>
          <a:xfrm>
            <a:off x="4617720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u="sng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Fonctionnel</a:t>
            </a:r>
            <a:endParaRPr lang="en-US" sz="750" u="sng" dirty="0"/>
          </a:p>
        </p:txBody>
      </p:sp>
      <p:sp>
        <p:nvSpPr>
          <p:cNvPr id="45" name="Text 42"/>
          <p:cNvSpPr/>
          <p:nvPr/>
        </p:nvSpPr>
        <p:spPr>
          <a:xfrm>
            <a:off x="4709160" y="407822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Syntaxe complexe des profils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709160" y="43434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 profil AppArmor mal rédigé peut bloquer des applications légitimes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709160" y="4672584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Éditeur avec validation syntaxique temps réel + mode COMPLAIN pour test avant ENFORCE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· Modes de Sécurité Intégrés à la Conception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82880" y="987552"/>
            <a:ext cx="4251960" cy="1920240"/>
          </a:xfrm>
          <a:prstGeom prst="rect">
            <a:avLst/>
          </a:prstGeom>
          <a:noFill/>
          <a:ln w="254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8" name="Shape 5"/>
          <p:cNvSpPr/>
          <p:nvPr/>
        </p:nvSpPr>
        <p:spPr>
          <a:xfrm>
            <a:off x="182880" y="987552"/>
            <a:ext cx="42519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9" name="Text 6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 ENFORCE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74320" y="1508760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Applique strictement les politiques AppArmor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Toute action non autorisée est BLOQUÉE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Journalisation des violations dans syslog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Déclenchement automatique des alertes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Mode recommandé pour la PRODUCTION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987552"/>
            <a:ext cx="4251960" cy="1920240"/>
          </a:xfrm>
          <a:prstGeom prst="rect">
            <a:avLst/>
          </a:prstGeom>
          <a:noFill/>
          <a:ln w="254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2" name="Shape 9"/>
          <p:cNvSpPr/>
          <p:nvPr/>
        </p:nvSpPr>
        <p:spPr>
          <a:xfrm>
            <a:off x="4709160" y="987552"/>
            <a:ext cx="425196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3" name="Text 10"/>
          <p:cNvSpPr/>
          <p:nvPr/>
        </p:nvSpPr>
        <p:spPr>
          <a:xfrm>
            <a:off x="480060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 COMPLAIN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800600" y="1508760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Surveille sans bloquer les actions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Journalise les violations (sans les stopper)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Idéal pour TESTER un nouveau profil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Permet d'identifier les règles manquantes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Mode recommandé en phase de DÉVELOPPEMENT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82880" y="297180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Couches de Sécurité Complémentaires Intégrées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82880" y="3383280"/>
            <a:ext cx="283464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8" name="Text 15"/>
          <p:cNvSpPr/>
          <p:nvPr/>
        </p:nvSpPr>
        <p:spPr>
          <a:xfrm>
            <a:off x="274320" y="3694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Hachage sécurisé des mots de passe (work factor 12)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154680" y="3383280"/>
            <a:ext cx="283464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1" name="Text 18"/>
          <p:cNvSpPr/>
          <p:nvPr/>
        </p:nvSpPr>
        <p:spPr>
          <a:xfrm>
            <a:off x="3246120" y="3694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Chiffrement de toutes les communications réseau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126480" y="3383280"/>
            <a:ext cx="283464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4" name="Text 21"/>
          <p:cNvSpPr/>
          <p:nvPr/>
        </p:nvSpPr>
        <p:spPr>
          <a:xfrm>
            <a:off x="6217920" y="3694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Tokens CSRF sur chaque formulaire critique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82880" y="4169664"/>
            <a:ext cx="283464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27" name="Text 24"/>
          <p:cNvSpPr/>
          <p:nvPr/>
        </p:nvSpPr>
        <p:spPr>
          <a:xfrm>
            <a:off x="27432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Sanitisation des entrées, protection injection SQL/XSS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154680" y="4169664"/>
            <a:ext cx="283464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0" name="Text 27"/>
          <p:cNvSpPr/>
          <p:nvPr/>
        </p:nvSpPr>
        <p:spPr>
          <a:xfrm>
            <a:off x="324612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Journalisation de toutes les actions administrateur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126480" y="4169664"/>
            <a:ext cx="283464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33" name="Text 30"/>
          <p:cNvSpPr/>
          <p:nvPr/>
        </p:nvSpPr>
        <p:spPr>
          <a:xfrm>
            <a:off x="621792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des tentatives d'authentification (3 max)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· Synthèse de la Conception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20040" y="10515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conception repose sur une architecture MVC 3-tiers, des modèles UML rigoureux et des choix technologiques open source garantissant sécurité, performance et maintenabilité.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6032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Modèles Réalisés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7472" y="211226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Diagramme de classes (8 entités)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7472" y="284378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Diagramme de séquence (3 scénarios clés)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47472" y="357530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Cas d'utilisation (6 fonctionnalités)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47472" y="430682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Architecture 3-tiers documentée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24612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Décisions Architecturales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337560" y="211226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Pattern MVC pour séparation des responsabilités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337560" y="284378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Repository pattern pour la couche données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337560" y="357530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Service AppArmorManager centralisé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337560" y="430682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Interface abstraite pour extensibilité future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236208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Sécurité par Conception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327648" y="211226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Principe du moindre privilège appliqué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327648" y="284378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Gestion des modes ENFORCE / COMPLAIN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327648" y="357530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Couche d'audit et journalisation totale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327648" y="430682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Protection contre les vecteurs web (XSS, CSRF, injection)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274320" y="4829660"/>
            <a:ext cx="8503920" cy="31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classes métiers  ·  3 scénarios UML  ·  3 couches architecture  ·  6 modes de sécurité  ·  100% open source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· Transition vers la Réalisation &amp; Perspectives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" y="9418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 livrables de conception constituent la feuille de route directe vers l'implémentation.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335024"/>
            <a:ext cx="877824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fr-CM"/>
          </a:p>
        </p:txBody>
      </p:sp>
      <p:sp>
        <p:nvSpPr>
          <p:cNvPr id="11" name="Text 8"/>
          <p:cNvSpPr/>
          <p:nvPr/>
        </p:nvSpPr>
        <p:spPr>
          <a:xfrm>
            <a:off x="749808" y="136245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Initialisation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87168" y="1362456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Mise en place de l'environnement Ubuntu, installation Flask, configuration AppArmor, base de données.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49808" y="198424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Authentification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487168" y="1984248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login, bcrypt, gestion des sessions JWT, middleware de sécurité.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49808" y="260604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Gestion des Profils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487168" y="2606040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CRUD profils AppArmor, interface édition, intégration aa-enforce/aa-disable.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22860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49808" y="3227832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&amp; Logs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487168" y="3227832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Tableau de bord temps réel, collecte syslog, filtres, visualisation graphique.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2860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49808" y="3849624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Détection &amp; Mitigation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487168" y="3849624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Moteur de corrélation d'événements, système d'alertes, actions de mitigation automatiques.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228600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49808" y="447141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Tests &amp; Démo Attaque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487168" y="4471416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Scénarios d'attaques simulées, validation avant/après protection, rapport final.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· Conclusion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 projet de Gestionnaire Web Sécurisé pour l'Administration des Profils AppArmor </a:t>
            </a:r>
            <a:r>
              <a:rPr lang="en-US" sz="1100" dirty="0" err="1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représente</a:t>
            </a: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une réponse concrète et complète aux enjeux de sécurité des systèmes Linux modernes.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 dossier d'analyse à ce dossier de conception, nous avons progressivement construit une vision claire et cohérente du système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Périmètre parfaitement défini avec des exigences fonctionnelles et non-fonctionnelles précises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368296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Architecture MVC 3-tiers — garantissant séparation, modularité et extensibilité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889504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Sécurité intégrée dès la conception — modes AppArmor, authentification, audit, protection web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41071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Modèles UML complets — classes, séquences et scénarios documentant chaque interaction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5020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 conclusion, la phase de conception constitue le pont indispensable entre l'analyse des besoins et la réalisation concrète. 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065172" y="731768"/>
            <a:ext cx="1679740" cy="1647173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762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fr-CM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Merci pour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votre attention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00E801FF-9CBE-627C-3C4B-282FDFE8FBB9}"/>
              </a:ext>
            </a:extLst>
          </p:cNvPr>
          <p:cNvSpPr/>
          <p:nvPr/>
        </p:nvSpPr>
        <p:spPr>
          <a:xfrm>
            <a:off x="3494681" y="688676"/>
            <a:ext cx="1679740" cy="1647173"/>
          </a:xfrm>
          <a:prstGeom prst="ellipse">
            <a:avLst/>
          </a:prstGeom>
          <a:solidFill>
            <a:srgbClr val="FF0000"/>
          </a:solidFill>
          <a:ln w="762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fr-CM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FDE956B1-2373-C5B3-9E9B-8C5214631EE8}"/>
              </a:ext>
            </a:extLst>
          </p:cNvPr>
          <p:cNvSpPr/>
          <p:nvPr/>
        </p:nvSpPr>
        <p:spPr>
          <a:xfrm>
            <a:off x="4924190" y="743857"/>
            <a:ext cx="1679740" cy="1647173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762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fr-CM"/>
          </a:p>
        </p:txBody>
      </p:sp>
      <p:sp>
        <p:nvSpPr>
          <p:cNvPr id="16" name="Étoile : 5 branches 15">
            <a:extLst>
              <a:ext uri="{FF2B5EF4-FFF2-40B4-BE49-F238E27FC236}">
                <a16:creationId xmlns:a16="http://schemas.microsoft.com/office/drawing/2014/main" id="{E4C46FB7-9E3A-560D-01EE-3FC7CA6BB583}"/>
              </a:ext>
            </a:extLst>
          </p:cNvPr>
          <p:cNvSpPr/>
          <p:nvPr/>
        </p:nvSpPr>
        <p:spPr>
          <a:xfrm>
            <a:off x="4133589" y="1280472"/>
            <a:ext cx="438411" cy="375781"/>
          </a:xfrm>
          <a:prstGeom prst="star5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1768</Words>
  <Application>Microsoft Office PowerPoint</Application>
  <PresentationFormat>Affichage à l'écran (16:9)</PresentationFormat>
  <Paragraphs>293</Paragraphs>
  <Slides>19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Conception – AppArmor</dc:title>
  <dc:subject>PptxGenJS Presentation</dc:subject>
  <dc:creator>PptxGenJS</dc:creator>
  <cp:lastModifiedBy>yannick simo</cp:lastModifiedBy>
  <cp:revision>4</cp:revision>
  <dcterms:created xsi:type="dcterms:W3CDTF">2026-05-22T00:17:38Z</dcterms:created>
  <dcterms:modified xsi:type="dcterms:W3CDTF">2026-07-11T06:13:00Z</dcterms:modified>
</cp:coreProperties>
</file>