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jpeg" ContentType="image/jpeg"/>
  <Override PartName="/ppt/media/image4.png" ContentType="image/png"/>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fr-FR" sz="1800" spc="-1" strike="noStrike">
                <a:solidFill>
                  <a:schemeClr val="dk1"/>
                </a:solidFill>
                <a:latin typeface="Calibri"/>
              </a:rPr>
              <a:t>Cliquez pour déplacer la diapo</a:t>
            </a:r>
            <a:endParaRPr b="0" lang="fr-FR"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fr-FR" sz="2000" spc="-1" strike="noStrike">
                <a:solidFill>
                  <a:srgbClr val="000000"/>
                </a:solidFill>
                <a:latin typeface="Arial"/>
              </a:rPr>
              <a:t>Cliquez pour modifier le format des notes</a:t>
            </a:r>
            <a:endParaRPr b="0" lang="fr-FR"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pc="-1" strike="noStrike">
                <a:solidFill>
                  <a:srgbClr val="000000"/>
                </a:solidFill>
                <a:latin typeface="Times New Roman"/>
              </a:rPr>
              <a:t>&lt;en-tête&gt;</a:t>
            </a:r>
            <a:endParaRPr b="0" lang="fr-FR"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Times New Roman"/>
              </a:defRPr>
            </a:lvl1pPr>
          </a:lstStyle>
          <a:p>
            <a:pPr indent="0" algn="r">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pc="-1" strike="noStrike">
                <a:solidFill>
                  <a:srgbClr val="000000"/>
                </a:solidFill>
                <a:latin typeface="Times New Roman"/>
              </a:defRPr>
            </a:lvl1pPr>
          </a:lstStyle>
          <a:p>
            <a:pPr indent="0" algn="r">
              <a:buNone/>
            </a:pPr>
            <a:fld id="{5783A365-990C-4C0E-944B-F4EED82731A6}"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sldImg"/>
          </p:nvPr>
        </p:nvSpPr>
        <p:spPr>
          <a:xfrm>
            <a:off x="0" y="0"/>
            <a:ext cx="0" cy="0"/>
          </a:xfrm>
          <a:prstGeom prst="rect">
            <a:avLst/>
          </a:prstGeom>
          <a:ln w="0">
            <a:noFill/>
          </a:ln>
        </p:spPr>
      </p:sp>
      <p:sp>
        <p:nvSpPr>
          <p:cNvPr id="24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fr-FR" sz="1800" spc="-1" strike="noStrike">
              <a:solidFill>
                <a:srgbClr val="000000"/>
              </a:solidFill>
              <a:latin typeface="Arial"/>
            </a:endParaRPr>
          </a:p>
        </p:txBody>
      </p:sp>
      <p:sp>
        <p:nvSpPr>
          <p:cNvPr id="242"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08651DA5-7D5C-4677-A991-985162134C8F}" type="slidenum">
              <a:rPr b="0" lang="en-US" sz="1800" spc="-1" strike="noStrike">
                <a:solidFill>
                  <a:schemeClr val="dk1"/>
                </a:solidFill>
                <a:latin typeface="+mn-lt"/>
                <a:ea typeface="+mn-ea"/>
              </a:rPr>
              <a:t>&lt;numéro&gt;</a:t>
            </a:fld>
            <a:endParaRPr b="0" lang="fr-FR" sz="18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sldImg"/>
          </p:nvPr>
        </p:nvSpPr>
        <p:spPr>
          <a:xfrm>
            <a:off x="0" y="0"/>
            <a:ext cx="0" cy="0"/>
          </a:xfrm>
          <a:prstGeom prst="rect">
            <a:avLst/>
          </a:prstGeom>
          <a:ln w="0">
            <a:noFill/>
          </a:ln>
        </p:spPr>
      </p:sp>
      <p:sp>
        <p:nvSpPr>
          <p:cNvPr id="24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fr-FR" sz="1800" spc="-1" strike="noStrike">
              <a:solidFill>
                <a:srgbClr val="000000"/>
              </a:solidFill>
              <a:latin typeface="Arial"/>
            </a:endParaRPr>
          </a:p>
        </p:txBody>
      </p:sp>
      <p:sp>
        <p:nvSpPr>
          <p:cNvPr id="245"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0A31283F-B94B-4C7C-87FE-EAA5B528DDC7}" type="slidenum">
              <a:rPr b="0" lang="en-US" sz="1800" spc="-1" strike="noStrike">
                <a:solidFill>
                  <a:schemeClr val="dk1"/>
                </a:solidFill>
                <a:latin typeface="+mn-lt"/>
                <a:ea typeface="+mn-ea"/>
              </a:rPr>
              <a:t>&lt;numéro&gt;</a:t>
            </a:fld>
            <a:endParaRPr b="0" lang="fr-FR" sz="18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sldImg"/>
          </p:nvPr>
        </p:nvSpPr>
        <p:spPr>
          <a:xfrm>
            <a:off x="0" y="0"/>
            <a:ext cx="0" cy="0"/>
          </a:xfrm>
          <a:prstGeom prst="rect">
            <a:avLst/>
          </a:prstGeom>
          <a:ln w="0">
            <a:noFill/>
          </a:ln>
        </p:spPr>
      </p:sp>
      <p:sp>
        <p:nvSpPr>
          <p:cNvPr id="24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fr-FR" sz="1800" spc="-1" strike="noStrike">
              <a:solidFill>
                <a:srgbClr val="000000"/>
              </a:solidFill>
              <a:latin typeface="Arial"/>
            </a:endParaRPr>
          </a:p>
        </p:txBody>
      </p:sp>
      <p:sp>
        <p:nvSpPr>
          <p:cNvPr id="248"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8A25B41B-51CC-46D0-965C-0A544334BD9F}" type="slidenum">
              <a:rPr b="0" lang="en-US" sz="1800" spc="-1" strike="noStrike">
                <a:solidFill>
                  <a:schemeClr val="dk1"/>
                </a:solidFill>
                <a:latin typeface="+mn-lt"/>
                <a:ea typeface="+mn-ea"/>
              </a:rPr>
              <a:t>&lt;numéro&gt;</a:t>
            </a:fld>
            <a:endParaRPr b="0" lang="fr-FR" sz="18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sldImg"/>
          </p:nvPr>
        </p:nvSpPr>
        <p:spPr>
          <a:xfrm>
            <a:off x="0" y="0"/>
            <a:ext cx="0" cy="0"/>
          </a:xfrm>
          <a:prstGeom prst="rect">
            <a:avLst/>
          </a:prstGeom>
          <a:ln w="0">
            <a:noFill/>
          </a:ln>
        </p:spPr>
      </p:sp>
      <p:sp>
        <p:nvSpPr>
          <p:cNvPr id="25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fr-FR" sz="1800" spc="-1" strike="noStrike">
              <a:solidFill>
                <a:srgbClr val="000000"/>
              </a:solidFill>
              <a:latin typeface="Arial"/>
            </a:endParaRPr>
          </a:p>
        </p:txBody>
      </p:sp>
      <p:sp>
        <p:nvSpPr>
          <p:cNvPr id="251"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EB27FD9C-4FFB-4F0E-B26E-82C304F90401}" type="slidenum">
              <a:rPr b="0" lang="en-US" sz="1800" spc="-1" strike="noStrike">
                <a:solidFill>
                  <a:schemeClr val="dk1"/>
                </a:solidFill>
                <a:latin typeface="+mn-lt"/>
                <a:ea typeface="+mn-ea"/>
              </a:rPr>
              <a:t>&lt;numéro&gt;</a:t>
            </a:fld>
            <a:endParaRPr b="0" lang="fr-FR" sz="18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sldImg"/>
          </p:nvPr>
        </p:nvSpPr>
        <p:spPr>
          <a:xfrm>
            <a:off x="0" y="0"/>
            <a:ext cx="0" cy="0"/>
          </a:xfrm>
          <a:prstGeom prst="rect">
            <a:avLst/>
          </a:prstGeom>
          <a:ln w="0">
            <a:noFill/>
          </a:ln>
        </p:spPr>
      </p:sp>
      <p:sp>
        <p:nvSpPr>
          <p:cNvPr id="25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fr-FR" sz="1800" spc="-1" strike="noStrike">
              <a:solidFill>
                <a:srgbClr val="000000"/>
              </a:solidFill>
              <a:latin typeface="Arial"/>
            </a:endParaRPr>
          </a:p>
        </p:txBody>
      </p:sp>
      <p:sp>
        <p:nvSpPr>
          <p:cNvPr id="254"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504DD51D-BB44-4C6B-B155-CB780361318E}" type="slidenum">
              <a:rPr b="0" lang="en-US" sz="1800" spc="-1" strike="noStrike">
                <a:solidFill>
                  <a:schemeClr val="dk1"/>
                </a:solidFill>
                <a:latin typeface="+mn-lt"/>
                <a:ea typeface="+mn-ea"/>
              </a:rPr>
              <a:t>&lt;numéro&gt;</a:t>
            </a:fld>
            <a:endParaRPr b="0" lang="fr-FR" sz="18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sldImg"/>
          </p:nvPr>
        </p:nvSpPr>
        <p:spPr>
          <a:xfrm>
            <a:off x="0" y="0"/>
            <a:ext cx="0" cy="0"/>
          </a:xfrm>
          <a:prstGeom prst="rect">
            <a:avLst/>
          </a:prstGeom>
          <a:ln w="0">
            <a:noFill/>
          </a:ln>
        </p:spPr>
      </p:sp>
      <p:sp>
        <p:nvSpPr>
          <p:cNvPr id="25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fr-FR" sz="1800" spc="-1" strike="noStrike">
              <a:solidFill>
                <a:srgbClr val="000000"/>
              </a:solidFill>
              <a:latin typeface="Arial"/>
            </a:endParaRPr>
          </a:p>
        </p:txBody>
      </p:sp>
      <p:sp>
        <p:nvSpPr>
          <p:cNvPr id="257" name="PlaceHolder 3"/>
          <p:cNvSpPr>
            <a:spLocks noGrp="1"/>
          </p:cNvSpPr>
          <p:nvPr>
            <p:ph type="sldNum" idx="9"/>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428B1901-AABB-4890-BE09-6249B79F82F4}" type="slidenum">
              <a:rPr b="0" lang="en-US" sz="1800" spc="-1" strike="noStrike">
                <a:solidFill>
                  <a:schemeClr val="dk1"/>
                </a:solidFill>
                <a:latin typeface="+mn-lt"/>
                <a:ea typeface="+mn-ea"/>
              </a:rPr>
              <a:t>&lt;numéro&gt;</a:t>
            </a:fld>
            <a:endParaRPr b="0" lang="fr-FR" sz="18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sldImg"/>
          </p:nvPr>
        </p:nvSpPr>
        <p:spPr>
          <a:xfrm>
            <a:off x="0" y="0"/>
            <a:ext cx="0" cy="0"/>
          </a:xfrm>
          <a:prstGeom prst="rect">
            <a:avLst/>
          </a:prstGeom>
          <a:ln w="0">
            <a:noFill/>
          </a:ln>
        </p:spPr>
      </p:sp>
      <p:sp>
        <p:nvSpPr>
          <p:cNvPr id="25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fr-FR" sz="1800" spc="-1" strike="noStrike">
              <a:solidFill>
                <a:srgbClr val="000000"/>
              </a:solidFill>
              <a:latin typeface="Arial"/>
            </a:endParaRPr>
          </a:p>
        </p:txBody>
      </p:sp>
      <p:sp>
        <p:nvSpPr>
          <p:cNvPr id="260"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D2EF51CB-AFA3-4892-892A-7A281CE3D452}" type="slidenum">
              <a:rPr b="0" lang="en-US" sz="1800" spc="-1" strike="noStrike">
                <a:solidFill>
                  <a:schemeClr val="dk1"/>
                </a:solidFill>
                <a:latin typeface="+mn-lt"/>
                <a:ea typeface="+mn-ea"/>
              </a:rPr>
              <a:t>&lt;numéro&gt;</a:t>
            </a:fld>
            <a:endParaRPr b="0" lang="fr-FR" sz="18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0" y="0"/>
            <a:ext cx="0" cy="0"/>
          </a:xfrm>
          <a:prstGeom prst="rect">
            <a:avLst/>
          </a:prstGeom>
          <a:ln w="0">
            <a:noFill/>
          </a:ln>
        </p:spPr>
      </p:sp>
      <p:sp>
        <p:nvSpPr>
          <p:cNvPr id="26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fr-FR" sz="1800" spc="-1" strike="noStrike">
              <a:solidFill>
                <a:srgbClr val="000000"/>
              </a:solidFill>
              <a:latin typeface="Arial"/>
            </a:endParaRPr>
          </a:p>
        </p:txBody>
      </p:sp>
      <p:sp>
        <p:nvSpPr>
          <p:cNvPr id="263"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776D5D82-4B08-465A-B86D-49E1FCFB93F3}" type="slidenum">
              <a:rPr b="0" lang="en-US" sz="1800" spc="-1" strike="noStrike">
                <a:solidFill>
                  <a:schemeClr val="dk1"/>
                </a:solidFill>
                <a:latin typeface="+mn-lt"/>
                <a:ea typeface="+mn-ea"/>
              </a:rPr>
              <a:t>&lt;numéro&gt;</a:t>
            </a:fld>
            <a:endParaRPr b="0" lang="fr-FR" sz="18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0" y="0"/>
            <a:ext cx="0" cy="0"/>
          </a:xfrm>
          <a:prstGeom prst="rect">
            <a:avLst/>
          </a:prstGeom>
          <a:ln w="0">
            <a:noFill/>
          </a:ln>
        </p:spPr>
      </p:sp>
      <p:sp>
        <p:nvSpPr>
          <p:cNvPr id="26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fr-FR" sz="1800" spc="-1" strike="noStrike">
              <a:solidFill>
                <a:srgbClr val="000000"/>
              </a:solidFill>
              <a:latin typeface="Arial"/>
            </a:endParaRPr>
          </a:p>
        </p:txBody>
      </p:sp>
      <p:sp>
        <p:nvSpPr>
          <p:cNvPr id="266"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E4C84F4D-17AD-440A-B788-288DEE1706D3}" type="slidenum">
              <a:rPr b="0" lang="en-US" sz="1800" spc="-1" strike="noStrike">
                <a:solidFill>
                  <a:schemeClr val="dk1"/>
                </a:solidFill>
                <a:latin typeface="+mn-lt"/>
                <a:ea typeface="+mn-ea"/>
              </a:rPr>
              <a:t>&lt;numéro&gt;</a:t>
            </a:fld>
            <a:endParaRPr b="0" lang="fr-FR" sz="18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sldImg"/>
          </p:nvPr>
        </p:nvSpPr>
        <p:spPr>
          <a:xfrm>
            <a:off x="0" y="0"/>
            <a:ext cx="0" cy="0"/>
          </a:xfrm>
          <a:prstGeom prst="rect">
            <a:avLst/>
          </a:prstGeom>
          <a:ln w="0">
            <a:noFill/>
          </a:ln>
        </p:spPr>
      </p:sp>
      <p:sp>
        <p:nvSpPr>
          <p:cNvPr id="26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fr-FR" sz="1800" spc="-1" strike="noStrike">
              <a:solidFill>
                <a:srgbClr val="000000"/>
              </a:solidFill>
              <a:latin typeface="Arial"/>
            </a:endParaRPr>
          </a:p>
        </p:txBody>
      </p:sp>
      <p:sp>
        <p:nvSpPr>
          <p:cNvPr id="269"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38263282-E3CB-4FEC-B2A3-5DE880E59890}" type="slidenum">
              <a:rPr b="0" lang="en-US" sz="1800" spc="-1" strike="noStrike">
                <a:solidFill>
                  <a:schemeClr val="dk1"/>
                </a:solidFill>
                <a:latin typeface="+mn-lt"/>
                <a:ea typeface="+mn-ea"/>
              </a:rPr>
              <a:t>&lt;numéro&gt;</a:t>
            </a:fld>
            <a:endParaRPr b="0" lang="fr-FR" sz="18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sldImg"/>
          </p:nvPr>
        </p:nvSpPr>
        <p:spPr>
          <a:xfrm>
            <a:off x="0" y="0"/>
            <a:ext cx="0" cy="0"/>
          </a:xfrm>
          <a:prstGeom prst="rect">
            <a:avLst/>
          </a:prstGeom>
          <a:ln w="0">
            <a:noFill/>
          </a:ln>
        </p:spPr>
      </p:sp>
      <p:sp>
        <p:nvSpPr>
          <p:cNvPr id="27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fr-FR" sz="1800" spc="-1" strike="noStrike">
              <a:solidFill>
                <a:srgbClr val="000000"/>
              </a:solidFill>
              <a:latin typeface="Arial"/>
            </a:endParaRPr>
          </a:p>
        </p:txBody>
      </p:sp>
      <p:sp>
        <p:nvSpPr>
          <p:cNvPr id="272"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51A3C2A4-E785-4800-AFAA-8AC01122E356}" type="slidenum">
              <a:rPr b="0" lang="en-US" sz="1800" spc="-1" strike="noStrike">
                <a:solidFill>
                  <a:schemeClr val="dk1"/>
                </a:solidFill>
                <a:latin typeface="+mn-lt"/>
                <a:ea typeface="+mn-ea"/>
              </a:rPr>
              <a:t>&lt;numéro&gt;</a:t>
            </a:fld>
            <a:endParaRPr b="0" lang="fr-FR" sz="18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fr-FR" sz="1800" spc="-1" strike="noStrike">
                <a:solidFill>
                  <a:schemeClr val="dk1"/>
                </a:solidFill>
                <a:latin typeface="Calibri"/>
              </a:rPr>
              <a:t>Cliquez pour éditer le format du texte-titre</a:t>
            </a:r>
            <a:endParaRPr b="0" lang="fr-FR"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fontScale="89053"/>
          </a:bodyPr>
          <a:p>
            <a:pPr marL="432000" indent="-324000">
              <a:spcBef>
                <a:spcPts val="1417"/>
              </a:spcBef>
              <a:buClr>
                <a:srgbClr val="000000"/>
              </a:buClr>
              <a:buSzPct val="45000"/>
              <a:buFont typeface="Wingdings" charset="2"/>
              <a:buChar char=""/>
            </a:pPr>
            <a:r>
              <a:rPr b="0" lang="fr-FR" sz="3200" spc="-1" strike="noStrike">
                <a:solidFill>
                  <a:schemeClr val="dk1"/>
                </a:solidFill>
                <a:latin typeface="Calibri"/>
              </a:rPr>
              <a:t>Cliquez pour éditer le format du plan de texte</a:t>
            </a:r>
            <a:endParaRPr b="0" lang="fr-FR"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fr-FR" sz="2400" spc="-1" strike="noStrike">
                <a:solidFill>
                  <a:schemeClr val="dk1"/>
                </a:solidFill>
                <a:latin typeface="Calibri"/>
              </a:rPr>
              <a:t>Second niveau de plan</a:t>
            </a:r>
            <a:endParaRPr b="0" lang="fr-FR"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fr-FR" sz="2000" spc="-1" strike="noStrike">
                <a:solidFill>
                  <a:schemeClr val="dk1"/>
                </a:solidFill>
                <a:latin typeface="Calibri"/>
              </a:rPr>
              <a:t>Troisième niveau de plan</a:t>
            </a:r>
            <a:endParaRPr b="0" lang="fr-FR"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fr-FR" sz="2000" spc="-1" strike="noStrike">
                <a:solidFill>
                  <a:schemeClr val="dk1"/>
                </a:solidFill>
                <a:latin typeface="Calibri"/>
              </a:rPr>
              <a:t>Quatrième niveau de plan</a:t>
            </a:r>
            <a:endParaRPr b="0" lang="fr-FR"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fr-FR" sz="2000" spc="-1" strike="noStrike">
                <a:solidFill>
                  <a:schemeClr val="dk1"/>
                </a:solidFill>
                <a:latin typeface="Calibri"/>
              </a:rPr>
              <a:t>Cinquième niveau de plan</a:t>
            </a:r>
            <a:endParaRPr b="0" lang="fr-FR"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fr-FR" sz="2000" spc="-1" strike="noStrike">
                <a:solidFill>
                  <a:schemeClr val="dk1"/>
                </a:solidFill>
                <a:latin typeface="Calibri"/>
              </a:rPr>
              <a:t>Sixième niveau de plan</a:t>
            </a:r>
            <a:endParaRPr b="0" lang="fr-FR"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fr-FR" sz="2000" spc="-1" strike="noStrike">
                <a:solidFill>
                  <a:schemeClr val="dk1"/>
                </a:solidFill>
                <a:latin typeface="Calibri"/>
              </a:rPr>
              <a:t>Septième niveau de plan</a:t>
            </a:r>
            <a:endParaRPr b="0" lang="fr-FR"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Shape 3"/>
          <p:cNvSpPr/>
          <p:nvPr/>
        </p:nvSpPr>
        <p:spPr>
          <a:xfrm>
            <a:off x="4509360" y="292680"/>
            <a:ext cx="4099320" cy="822600"/>
          </a:xfrm>
          <a:prstGeom prst="rect">
            <a:avLst/>
          </a:prstGeom>
          <a:solidFill>
            <a:schemeClr val="accent6">
              <a:lumMod val="75000"/>
            </a:schemeClr>
          </a:solidFill>
          <a:ln w="28575">
            <a:noFill/>
          </a:ln>
          <a:effectLst>
            <a:outerShdw algn="ctr" blurRad="44280" dir="5400000" dist="28080">
              <a:srgbClr val="000000">
                <a:alpha val="32000"/>
              </a:srgbClr>
            </a:out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9" name="Text 4"/>
          <p:cNvSpPr/>
          <p:nvPr/>
        </p:nvSpPr>
        <p:spPr>
          <a:xfrm>
            <a:off x="4556520" y="433080"/>
            <a:ext cx="4005360" cy="651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b2a4a"/>
                </a:solidFill>
                <a:latin typeface="Times New Roman"/>
                <a:ea typeface="Times New Roman"/>
              </a:rPr>
              <a:t>SÉCURITÉ DES SYSTÈMES D'EXPLOITATION</a:t>
            </a:r>
            <a:endParaRPr b="0" lang="fr-FR" sz="1400" spc="-1" strike="noStrike">
              <a:solidFill>
                <a:srgbClr val="000000"/>
              </a:solidFill>
              <a:latin typeface="Arial"/>
            </a:endParaRPr>
          </a:p>
          <a:p>
            <a:pPr algn="ctr" defTabSz="914400">
              <a:lnSpc>
                <a:spcPct val="100000"/>
              </a:lnSpc>
              <a:tabLst>
                <a:tab algn="l" pos="0"/>
              </a:tabLst>
            </a:pPr>
            <a:r>
              <a:rPr b="1" lang="en-US" sz="1400" spc="-1" strike="noStrike">
                <a:solidFill>
                  <a:schemeClr val="dk1"/>
                </a:solidFill>
                <a:latin typeface="Times New Roman"/>
                <a:ea typeface="Times New Roman"/>
              </a:rPr>
              <a:t>SYSTÈMES D'EXPLOITATION AVANCÉS</a:t>
            </a:r>
            <a:endParaRPr b="0" lang="fr-FR" sz="1400" spc="-1" strike="noStrike">
              <a:solidFill>
                <a:srgbClr val="000000"/>
              </a:solidFill>
              <a:latin typeface="Arial"/>
            </a:endParaRPr>
          </a:p>
          <a:p>
            <a:pPr algn="ctr" defTabSz="914400">
              <a:lnSpc>
                <a:spcPct val="100000"/>
              </a:lnSpc>
              <a:tabLst>
                <a:tab algn="l" pos="0"/>
              </a:tabLst>
            </a:pPr>
            <a:endParaRPr b="0" lang="fr-FR" sz="1200" spc="-1" strike="noStrike">
              <a:solidFill>
                <a:srgbClr val="000000"/>
              </a:solidFill>
              <a:latin typeface="Arial"/>
            </a:endParaRPr>
          </a:p>
        </p:txBody>
      </p:sp>
      <p:sp>
        <p:nvSpPr>
          <p:cNvPr id="10" name="Shape 5"/>
          <p:cNvSpPr/>
          <p:nvPr/>
        </p:nvSpPr>
        <p:spPr>
          <a:xfrm>
            <a:off x="2633040" y="1379520"/>
            <a:ext cx="2617560" cy="548280"/>
          </a:xfrm>
          <a:prstGeom prst="rect">
            <a:avLst/>
          </a:prstGeom>
          <a:solidFill>
            <a:srgbClr val="ff0000"/>
          </a:solidFill>
          <a:ln w="19050">
            <a:noFill/>
          </a:ln>
          <a:effectLst>
            <a:outerShdw algn="ctr" blurRad="44280" dir="5400000" dist="28080">
              <a:srgbClr val="000000">
                <a:alpha val="32000"/>
              </a:srgbClr>
            </a:out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1" name="Text 8"/>
          <p:cNvSpPr/>
          <p:nvPr/>
        </p:nvSpPr>
        <p:spPr>
          <a:xfrm>
            <a:off x="497160" y="2048760"/>
            <a:ext cx="5668920" cy="822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700" spc="-1" strike="noStrike">
                <a:solidFill>
                  <a:schemeClr val="dk1"/>
                </a:solidFill>
                <a:latin typeface="Times New Roman"/>
                <a:ea typeface="Times New Roman"/>
              </a:rPr>
              <a:t>Gestionnaire Web Sécurisé</a:t>
            </a:r>
            <a:endParaRPr b="0" lang="fr-FR" sz="1700" spc="-1" strike="noStrike">
              <a:solidFill>
                <a:srgbClr val="000000"/>
              </a:solidFill>
              <a:latin typeface="Arial"/>
            </a:endParaRPr>
          </a:p>
          <a:p>
            <a:pPr defTabSz="914400">
              <a:lnSpc>
                <a:spcPct val="100000"/>
              </a:lnSpc>
              <a:tabLst>
                <a:tab algn="l" pos="0"/>
              </a:tabLst>
            </a:pPr>
            <a:r>
              <a:rPr b="0" i="1" lang="en-US" sz="1700" spc="-1" strike="noStrike">
                <a:solidFill>
                  <a:schemeClr val="dk1"/>
                </a:solidFill>
                <a:latin typeface="Times New Roman"/>
                <a:ea typeface="Times New Roman"/>
              </a:rPr>
              <a:t>pour l'Administration et l’audit des Profils AppArmor</a:t>
            </a:r>
            <a:endParaRPr b="0" lang="fr-FR" sz="1700" spc="-1" strike="noStrike">
              <a:solidFill>
                <a:srgbClr val="000000"/>
              </a:solidFill>
              <a:latin typeface="Arial"/>
            </a:endParaRPr>
          </a:p>
        </p:txBody>
      </p:sp>
      <p:sp>
        <p:nvSpPr>
          <p:cNvPr id="12" name="Shape 9"/>
          <p:cNvSpPr/>
          <p:nvPr/>
        </p:nvSpPr>
        <p:spPr>
          <a:xfrm>
            <a:off x="497160" y="3364560"/>
            <a:ext cx="5028840" cy="73440"/>
          </a:xfrm>
          <a:prstGeom prst="rect">
            <a:avLst/>
          </a:prstGeom>
          <a:solidFill>
            <a:schemeClr val="accent5">
              <a:lumMod val="50000"/>
            </a:schemeClr>
          </a:solidFill>
          <a:ln w="28575">
            <a:noFill/>
          </a:ln>
          <a:effectLst>
            <a:outerShdw algn="ctr" blurRad="44280" dir="5400000" dist="28080">
              <a:srgbClr val="000000">
                <a:alpha val="32000"/>
              </a:srgbClr>
            </a:out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90000" rIns="90000" tIns="28800" bIns="28800" anchor="t">
            <a:noAutofit/>
          </a:bodyPr>
          <a:p>
            <a:pPr defTabSz="914400">
              <a:lnSpc>
                <a:spcPct val="100000"/>
              </a:lnSpc>
            </a:pPr>
            <a:endParaRPr b="0" lang="fr-CM" sz="1800" spc="-1" strike="noStrike">
              <a:solidFill>
                <a:schemeClr val="dk1"/>
              </a:solidFill>
              <a:latin typeface="Calibri"/>
            </a:endParaRPr>
          </a:p>
        </p:txBody>
      </p:sp>
      <p:sp>
        <p:nvSpPr>
          <p:cNvPr id="13" name="Text 12"/>
          <p:cNvSpPr/>
          <p:nvPr/>
        </p:nvSpPr>
        <p:spPr>
          <a:xfrm>
            <a:off x="472320" y="2746800"/>
            <a:ext cx="566892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chemeClr val="dk1"/>
                </a:solidFill>
                <a:latin typeface="Times New Roman"/>
                <a:ea typeface="Times New Roman"/>
              </a:rPr>
              <a:t>Détection &amp; Mitigation des Comportements Malveillants</a:t>
            </a:r>
            <a:endParaRPr b="0" lang="fr-FR" sz="1100" spc="-1" strike="noStrike">
              <a:solidFill>
                <a:srgbClr val="000000"/>
              </a:solidFill>
              <a:latin typeface="Arial"/>
            </a:endParaRPr>
          </a:p>
        </p:txBody>
      </p:sp>
      <p:sp>
        <p:nvSpPr>
          <p:cNvPr id="14" name="Shape 13"/>
          <p:cNvSpPr/>
          <p:nvPr/>
        </p:nvSpPr>
        <p:spPr>
          <a:xfrm>
            <a:off x="0" y="4480560"/>
            <a:ext cx="9143640" cy="662760"/>
          </a:xfrm>
          <a:prstGeom prst="rect">
            <a:avLst/>
          </a:prstGeom>
          <a:solidFill>
            <a:schemeClr val="accent4">
              <a:lumMod val="75000"/>
            </a:schemeClr>
          </a:solidFill>
          <a:ln w="38100">
            <a:noFill/>
          </a:ln>
          <a:effectLst>
            <a:outerShdw algn="ctr" blurRad="44280" dir="5400000" dist="28080">
              <a:srgbClr val="000000">
                <a:alpha val="32000"/>
              </a:srgbClr>
            </a:out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5" name="Text 14"/>
          <p:cNvSpPr/>
          <p:nvPr/>
        </p:nvSpPr>
        <p:spPr>
          <a:xfrm>
            <a:off x="274320" y="4498920"/>
            <a:ext cx="8595000" cy="228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chemeClr val="lt1"/>
                </a:solidFill>
                <a:latin typeface="Times New Roman"/>
                <a:ea typeface="Times New Roman"/>
              </a:rPr>
              <a:t>Groupe 6    Sécurité des Systèmes d'Information</a:t>
            </a:r>
            <a:endParaRPr b="0" lang="fr-FR" sz="950" spc="-1" strike="noStrike">
              <a:solidFill>
                <a:srgbClr val="000000"/>
              </a:solidFill>
              <a:latin typeface="Arial"/>
            </a:endParaRPr>
          </a:p>
        </p:txBody>
      </p:sp>
      <p:sp>
        <p:nvSpPr>
          <p:cNvPr id="16" name="Text 15"/>
          <p:cNvSpPr/>
          <p:nvPr/>
        </p:nvSpPr>
        <p:spPr>
          <a:xfrm>
            <a:off x="274320" y="4727520"/>
            <a:ext cx="8595000" cy="228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850" spc="-1" strike="noStrike">
                <a:solidFill>
                  <a:schemeClr val="lt1"/>
                </a:solidFill>
                <a:latin typeface="Times New Roman"/>
                <a:ea typeface="Times New Roman"/>
              </a:rPr>
              <a:t>Année 2025 – 2026</a:t>
            </a:r>
            <a:endParaRPr b="0" lang="fr-FR" sz="850" spc="-1" strike="noStrike">
              <a:solidFill>
                <a:srgbClr val="000000"/>
              </a:solidFill>
              <a:latin typeface="Arial"/>
            </a:endParaRPr>
          </a:p>
        </p:txBody>
      </p:sp>
      <p:sp>
        <p:nvSpPr>
          <p:cNvPr id="17" name="ZoneTexte 20"/>
          <p:cNvSpPr/>
          <p:nvPr/>
        </p:nvSpPr>
        <p:spPr>
          <a:xfrm>
            <a:off x="2706840" y="1500120"/>
            <a:ext cx="256500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pc="-1" strike="noStrike">
                <a:solidFill>
                  <a:schemeClr val="lt1"/>
                </a:solidFill>
                <a:latin typeface="Times New Roman"/>
              </a:rPr>
              <a:t>DOSSIER DE CONCEPTION </a:t>
            </a:r>
            <a:endParaRPr b="0" lang="fr-FR" sz="1400" spc="-1" strike="noStrike">
              <a:solidFill>
                <a:srgbClr val="000000"/>
              </a:solidFill>
              <a:latin typeface="Arial"/>
            </a:endParaRPr>
          </a:p>
        </p:txBody>
      </p:sp>
      <p:sp>
        <p:nvSpPr>
          <p:cNvPr id="18" name="ZoneTexte 21"/>
          <p:cNvSpPr/>
          <p:nvPr/>
        </p:nvSpPr>
        <p:spPr>
          <a:xfrm>
            <a:off x="5859720" y="2791440"/>
            <a:ext cx="3009600" cy="1186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pc="-1" strike="noStrike">
                <a:solidFill>
                  <a:srgbClr val="8899aa"/>
                </a:solidFill>
                <a:latin typeface="Times New Roman"/>
                <a:ea typeface="Times New Roman"/>
              </a:rPr>
              <a:t>.  </a:t>
            </a:r>
            <a:r>
              <a:rPr b="0" lang="en-US" sz="1200" spc="-1" strike="noStrike">
                <a:solidFill>
                  <a:schemeClr val="dk1"/>
                </a:solidFill>
                <a:latin typeface="Times New Roman"/>
                <a:ea typeface="Times New Roman"/>
              </a:rPr>
              <a:t>NANA NDIEUPE Emilie  </a:t>
            </a:r>
            <a:endParaRPr b="0" lang="fr-FR" sz="1200" spc="-1" strike="noStrike">
              <a:solidFill>
                <a:srgbClr val="000000"/>
              </a:solidFill>
              <a:latin typeface="Arial"/>
            </a:endParaRPr>
          </a:p>
          <a:p>
            <a:pPr defTabSz="914400">
              <a:lnSpc>
                <a:spcPct val="100000"/>
              </a:lnSpc>
            </a:pPr>
            <a:r>
              <a:rPr b="0" lang="en-US" sz="1200" spc="-1" strike="noStrike">
                <a:solidFill>
                  <a:schemeClr val="dk1"/>
                </a:solidFill>
                <a:latin typeface="Times New Roman"/>
                <a:ea typeface="Times New Roman"/>
              </a:rPr>
              <a:t>·  NSOE MARIE  </a:t>
            </a:r>
            <a:endParaRPr b="0" lang="fr-FR" sz="1200" spc="-1" strike="noStrike">
              <a:solidFill>
                <a:srgbClr val="000000"/>
              </a:solidFill>
              <a:latin typeface="Arial"/>
            </a:endParaRPr>
          </a:p>
          <a:p>
            <a:pPr defTabSz="914400">
              <a:lnSpc>
                <a:spcPct val="100000"/>
              </a:lnSpc>
            </a:pPr>
            <a:r>
              <a:rPr b="0" lang="en-US" sz="1200" spc="-1" strike="noStrike">
                <a:solidFill>
                  <a:schemeClr val="dk1"/>
                </a:solidFill>
                <a:latin typeface="Times New Roman"/>
                <a:ea typeface="Times New Roman"/>
              </a:rPr>
              <a:t>·  SIMO YANNICK </a:t>
            </a:r>
            <a:endParaRPr b="0" lang="fr-FR" sz="1200" spc="-1" strike="noStrike">
              <a:solidFill>
                <a:srgbClr val="000000"/>
              </a:solidFill>
              <a:latin typeface="Arial"/>
            </a:endParaRPr>
          </a:p>
          <a:p>
            <a:pPr defTabSz="914400">
              <a:lnSpc>
                <a:spcPct val="100000"/>
              </a:lnSpc>
            </a:pPr>
            <a:endParaRPr b="0" lang="fr-FR" sz="1200" spc="-1" strike="noStrike">
              <a:solidFill>
                <a:srgbClr val="000000"/>
              </a:solidFill>
              <a:latin typeface="Arial"/>
            </a:endParaRPr>
          </a:p>
          <a:p>
            <a:pPr defTabSz="914400">
              <a:lnSpc>
                <a:spcPct val="100000"/>
              </a:lnSpc>
            </a:pPr>
            <a:endParaRPr b="0" lang="fr-FR" sz="1200" spc="-1" strike="noStrike">
              <a:solidFill>
                <a:srgbClr val="000000"/>
              </a:solidFill>
              <a:latin typeface="Arial"/>
            </a:endParaRPr>
          </a:p>
          <a:p>
            <a:pPr defTabSz="914400">
              <a:lnSpc>
                <a:spcPct val="100000"/>
              </a:lnSpc>
            </a:pPr>
            <a:r>
              <a:rPr b="0" lang="en-US" sz="1200" spc="-1" strike="noStrike">
                <a:solidFill>
                  <a:schemeClr val="dk1"/>
                </a:solidFill>
                <a:latin typeface="Times New Roman"/>
                <a:ea typeface="Times New Roman"/>
              </a:rPr>
              <a:t>   </a:t>
            </a:r>
            <a:r>
              <a:rPr b="0" lang="en-US" sz="1200" spc="-1" strike="noStrike">
                <a:solidFill>
                  <a:schemeClr val="dk1"/>
                </a:solidFill>
                <a:latin typeface="Times New Roman"/>
                <a:ea typeface="Times New Roman"/>
              </a:rPr>
              <a:t>Supervisé par M. NGUIMBUS Emmanuel  </a:t>
            </a:r>
            <a:r>
              <a:rPr b="0" lang="en-US" sz="1200" spc="-1" strike="noStrike">
                <a:solidFill>
                  <a:srgbClr val="8899aa"/>
                </a:solidFill>
                <a:latin typeface="Times New Roman"/>
                <a:ea typeface="Times New Roman"/>
              </a:rPr>
              <a:t>|</a:t>
            </a:r>
            <a:endParaRPr b="0" lang="fr-FR" sz="1200" spc="-1" strike="noStrike">
              <a:solidFill>
                <a:srgbClr val="000000"/>
              </a:solidFill>
              <a:latin typeface="Arial"/>
            </a:endParaRPr>
          </a:p>
        </p:txBody>
      </p:sp>
      <p:pic>
        <p:nvPicPr>
          <p:cNvPr id="19" name="Image 23" descr="Une image contenant croquis, oiseau, dessin, Dessin au trait&#10;&#10;Le contenu généré par l’IA peut être incorrect."/>
          <p:cNvPicPr/>
          <p:nvPr/>
        </p:nvPicPr>
        <p:blipFill>
          <a:blip r:embed="rId1"/>
          <a:stretch/>
        </p:blipFill>
        <p:spPr>
          <a:xfrm>
            <a:off x="703440" y="254160"/>
            <a:ext cx="1350360" cy="118008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0" name="Text 1"/>
          <p:cNvSpPr/>
          <p:nvPr/>
        </p:nvSpPr>
        <p:spPr>
          <a:xfrm>
            <a:off x="457200" y="274320"/>
            <a:ext cx="8229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chemeClr val="dk1"/>
                </a:solidFill>
                <a:latin typeface="Times New Roman"/>
                <a:ea typeface="Times New Roman"/>
              </a:rPr>
              <a:t>SOMMAIRE</a:t>
            </a:r>
            <a:endParaRPr b="0" lang="fr-FR" sz="3000" spc="-1" strike="noStrike">
              <a:solidFill>
                <a:srgbClr val="000000"/>
              </a:solidFill>
              <a:latin typeface="Arial"/>
            </a:endParaRPr>
          </a:p>
        </p:txBody>
      </p:sp>
      <p:sp>
        <p:nvSpPr>
          <p:cNvPr id="21" name="Shape 4"/>
          <p:cNvSpPr/>
          <p:nvPr/>
        </p:nvSpPr>
        <p:spPr>
          <a:xfrm>
            <a:off x="365760" y="1261800"/>
            <a:ext cx="502560" cy="411120"/>
          </a:xfrm>
          <a:prstGeom prst="rect">
            <a:avLst/>
          </a:prstGeom>
          <a:solidFill>
            <a:schemeClr val="accent6">
              <a:lumMod val="75000"/>
            </a:schemeClr>
          </a:solidFill>
          <a:ln w="12700">
            <a:solidFill>
              <a:srgbClr val="70ad47">
                <a:lumMod val="75000"/>
              </a:srgbClr>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22" name="Text 5"/>
          <p:cNvSpPr/>
          <p:nvPr/>
        </p:nvSpPr>
        <p:spPr>
          <a:xfrm>
            <a:off x="365760" y="1261800"/>
            <a:ext cx="50256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2a4a"/>
                </a:solidFill>
                <a:latin typeface="Times New Roman"/>
                <a:ea typeface="Times New Roman"/>
              </a:rPr>
              <a:t>01</a:t>
            </a:r>
            <a:endParaRPr b="0" lang="fr-FR" sz="1300" spc="-1" strike="noStrike">
              <a:solidFill>
                <a:srgbClr val="000000"/>
              </a:solidFill>
              <a:latin typeface="Arial"/>
            </a:endParaRPr>
          </a:p>
        </p:txBody>
      </p:sp>
      <p:sp>
        <p:nvSpPr>
          <p:cNvPr id="23" name="Text 6"/>
          <p:cNvSpPr/>
          <p:nvPr/>
        </p:nvSpPr>
        <p:spPr>
          <a:xfrm>
            <a:off x="960120" y="1280160"/>
            <a:ext cx="338292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chemeClr val="dk1"/>
                </a:solidFill>
                <a:latin typeface="Times New Roman"/>
                <a:ea typeface="Times New Roman"/>
              </a:rPr>
              <a:t>Contexte &amp; Objectif du Projet</a:t>
            </a:r>
            <a:endParaRPr b="0" lang="fr-FR" sz="1100" spc="-1" strike="noStrike">
              <a:solidFill>
                <a:srgbClr val="000000"/>
              </a:solidFill>
              <a:latin typeface="Arial"/>
            </a:endParaRPr>
          </a:p>
        </p:txBody>
      </p:sp>
      <p:sp>
        <p:nvSpPr>
          <p:cNvPr id="24" name="Shape 7"/>
          <p:cNvSpPr/>
          <p:nvPr/>
        </p:nvSpPr>
        <p:spPr>
          <a:xfrm>
            <a:off x="365760" y="1929240"/>
            <a:ext cx="502560" cy="411120"/>
          </a:xfrm>
          <a:prstGeom prst="rect">
            <a:avLst/>
          </a:prstGeom>
          <a:solidFill>
            <a:schemeClr val="accent6">
              <a:lumMod val="75000"/>
            </a:schemeClr>
          </a:solidFill>
          <a:ln w="12700">
            <a:solidFill>
              <a:srgbClr val="70ad47">
                <a:lumMod val="75000"/>
              </a:srgbClr>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25" name="Text 8"/>
          <p:cNvSpPr/>
          <p:nvPr/>
        </p:nvSpPr>
        <p:spPr>
          <a:xfrm>
            <a:off x="365760" y="1929240"/>
            <a:ext cx="50256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2a4a"/>
                </a:solidFill>
                <a:latin typeface="Times New Roman"/>
                <a:ea typeface="Times New Roman"/>
              </a:rPr>
              <a:t>02</a:t>
            </a:r>
            <a:endParaRPr b="0" lang="fr-FR" sz="1300" spc="-1" strike="noStrike">
              <a:solidFill>
                <a:srgbClr val="000000"/>
              </a:solidFill>
              <a:latin typeface="Arial"/>
            </a:endParaRPr>
          </a:p>
        </p:txBody>
      </p:sp>
      <p:sp>
        <p:nvSpPr>
          <p:cNvPr id="26" name="Text 9"/>
          <p:cNvSpPr/>
          <p:nvPr/>
        </p:nvSpPr>
        <p:spPr>
          <a:xfrm>
            <a:off x="960120" y="1947600"/>
            <a:ext cx="338292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chemeClr val="dk1"/>
                </a:solidFill>
                <a:latin typeface="Times New Roman"/>
                <a:ea typeface="Times New Roman"/>
              </a:rPr>
              <a:t>Démarche de Conception &amp; Architecture Globale</a:t>
            </a:r>
            <a:endParaRPr b="0" lang="fr-FR" sz="1100" spc="-1" strike="noStrike">
              <a:solidFill>
                <a:srgbClr val="000000"/>
              </a:solidFill>
              <a:latin typeface="Arial"/>
            </a:endParaRPr>
          </a:p>
        </p:txBody>
      </p:sp>
      <p:sp>
        <p:nvSpPr>
          <p:cNvPr id="27" name="Shape 10"/>
          <p:cNvSpPr/>
          <p:nvPr/>
        </p:nvSpPr>
        <p:spPr>
          <a:xfrm>
            <a:off x="365760" y="2597040"/>
            <a:ext cx="502560" cy="411120"/>
          </a:xfrm>
          <a:prstGeom prst="rect">
            <a:avLst/>
          </a:prstGeom>
          <a:solidFill>
            <a:srgbClr val="ff0000"/>
          </a:solidFill>
          <a:ln w="12700">
            <a:solidFill>
              <a:srgbClr val="ff0000"/>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28" name="Text 11"/>
          <p:cNvSpPr/>
          <p:nvPr/>
        </p:nvSpPr>
        <p:spPr>
          <a:xfrm>
            <a:off x="365760" y="2597040"/>
            <a:ext cx="50256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2a4a"/>
                </a:solidFill>
                <a:latin typeface="Times New Roman"/>
                <a:ea typeface="Times New Roman"/>
              </a:rPr>
              <a:t>03</a:t>
            </a:r>
            <a:endParaRPr b="0" lang="fr-FR" sz="1300" spc="-1" strike="noStrike">
              <a:solidFill>
                <a:srgbClr val="000000"/>
              </a:solidFill>
              <a:latin typeface="Arial"/>
            </a:endParaRPr>
          </a:p>
        </p:txBody>
      </p:sp>
      <p:sp>
        <p:nvSpPr>
          <p:cNvPr id="29" name="Text 12"/>
          <p:cNvSpPr/>
          <p:nvPr/>
        </p:nvSpPr>
        <p:spPr>
          <a:xfrm>
            <a:off x="960120" y="2615040"/>
            <a:ext cx="338292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chemeClr val="dk1"/>
                </a:solidFill>
                <a:latin typeface="Times New Roman"/>
                <a:ea typeface="Times New Roman"/>
              </a:rPr>
              <a:t>Diagramme de Classes UML</a:t>
            </a:r>
            <a:endParaRPr b="0" lang="fr-FR" sz="1100" spc="-1" strike="noStrike">
              <a:solidFill>
                <a:srgbClr val="000000"/>
              </a:solidFill>
              <a:latin typeface="Arial"/>
            </a:endParaRPr>
          </a:p>
        </p:txBody>
      </p:sp>
      <p:sp>
        <p:nvSpPr>
          <p:cNvPr id="30" name="Shape 13"/>
          <p:cNvSpPr/>
          <p:nvPr/>
        </p:nvSpPr>
        <p:spPr>
          <a:xfrm>
            <a:off x="365760" y="3264480"/>
            <a:ext cx="502560" cy="411120"/>
          </a:xfrm>
          <a:prstGeom prst="rect">
            <a:avLst/>
          </a:prstGeom>
          <a:solidFill>
            <a:srgbClr val="c9a84c"/>
          </a:solidFill>
          <a:ln w="12700">
            <a:solidFill>
              <a:srgbClr val="c9a84c"/>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31" name="Text 14"/>
          <p:cNvSpPr/>
          <p:nvPr/>
        </p:nvSpPr>
        <p:spPr>
          <a:xfrm>
            <a:off x="365760" y="3264480"/>
            <a:ext cx="50256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2a4a"/>
                </a:solidFill>
                <a:latin typeface="Times New Roman"/>
                <a:ea typeface="Times New Roman"/>
              </a:rPr>
              <a:t>04</a:t>
            </a:r>
            <a:endParaRPr b="0" lang="fr-FR" sz="1300" spc="-1" strike="noStrike">
              <a:solidFill>
                <a:srgbClr val="000000"/>
              </a:solidFill>
              <a:latin typeface="Arial"/>
            </a:endParaRPr>
          </a:p>
        </p:txBody>
      </p:sp>
      <p:sp>
        <p:nvSpPr>
          <p:cNvPr id="32" name="Text 15"/>
          <p:cNvSpPr/>
          <p:nvPr/>
        </p:nvSpPr>
        <p:spPr>
          <a:xfrm>
            <a:off x="960120" y="3282840"/>
            <a:ext cx="338292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chemeClr val="dk1"/>
                </a:solidFill>
                <a:latin typeface="Times New Roman"/>
                <a:ea typeface="Times New Roman"/>
              </a:rPr>
              <a:t>Description des Classes &amp; Relations</a:t>
            </a:r>
            <a:endParaRPr b="0" lang="fr-FR" sz="1100" spc="-1" strike="noStrike">
              <a:solidFill>
                <a:srgbClr val="000000"/>
              </a:solidFill>
              <a:latin typeface="Arial"/>
            </a:endParaRPr>
          </a:p>
        </p:txBody>
      </p:sp>
      <p:sp>
        <p:nvSpPr>
          <p:cNvPr id="33" name="Shape 16"/>
          <p:cNvSpPr/>
          <p:nvPr/>
        </p:nvSpPr>
        <p:spPr>
          <a:xfrm>
            <a:off x="365760" y="3931920"/>
            <a:ext cx="502560" cy="411120"/>
          </a:xfrm>
          <a:prstGeom prst="rect">
            <a:avLst/>
          </a:prstGeom>
          <a:solidFill>
            <a:srgbClr val="c9a84c"/>
          </a:solidFill>
          <a:ln w="12700">
            <a:solidFill>
              <a:srgbClr val="c9a84c"/>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34" name="Text 17"/>
          <p:cNvSpPr/>
          <p:nvPr/>
        </p:nvSpPr>
        <p:spPr>
          <a:xfrm>
            <a:off x="365760" y="3931920"/>
            <a:ext cx="50256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b2a4a"/>
                </a:solidFill>
                <a:latin typeface="Times New Roman"/>
                <a:ea typeface="Times New Roman"/>
              </a:rPr>
              <a:t>05</a:t>
            </a:r>
            <a:endParaRPr b="0" lang="fr-FR" sz="1300" spc="-1" strike="noStrike">
              <a:solidFill>
                <a:srgbClr val="000000"/>
              </a:solidFill>
              <a:latin typeface="Arial"/>
            </a:endParaRPr>
          </a:p>
        </p:txBody>
      </p:sp>
      <p:sp>
        <p:nvSpPr>
          <p:cNvPr id="35" name="Text 18"/>
          <p:cNvSpPr/>
          <p:nvPr/>
        </p:nvSpPr>
        <p:spPr>
          <a:xfrm>
            <a:off x="960120" y="3950280"/>
            <a:ext cx="338292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chemeClr val="dk1"/>
                </a:solidFill>
                <a:latin typeface="Times New Roman"/>
                <a:ea typeface="Times New Roman"/>
              </a:rPr>
              <a:t>Diagramme de Séquence UML – Scénarios</a:t>
            </a:r>
            <a:endParaRPr b="0" lang="fr-FR" sz="1100" spc="-1" strike="noStrike">
              <a:solidFill>
                <a:srgbClr val="000000"/>
              </a:solidFill>
              <a:latin typeface="Arial"/>
            </a:endParaRPr>
          </a:p>
        </p:txBody>
      </p:sp>
      <p:sp>
        <p:nvSpPr>
          <p:cNvPr id="36" name="Shape 19"/>
          <p:cNvSpPr/>
          <p:nvPr/>
        </p:nvSpPr>
        <p:spPr>
          <a:xfrm>
            <a:off x="4754880" y="1261800"/>
            <a:ext cx="502560" cy="411120"/>
          </a:xfrm>
          <a:prstGeom prst="rect">
            <a:avLst/>
          </a:prstGeom>
          <a:solidFill>
            <a:schemeClr val="accent6">
              <a:lumMod val="75000"/>
            </a:schemeClr>
          </a:solidFill>
          <a:ln w="12700">
            <a:solidFill>
              <a:srgbClr val="70ad47">
                <a:lumMod val="75000"/>
              </a:srgbClr>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37" name="Text 20"/>
          <p:cNvSpPr/>
          <p:nvPr/>
        </p:nvSpPr>
        <p:spPr>
          <a:xfrm>
            <a:off x="4754880" y="1261800"/>
            <a:ext cx="50256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c9a84c"/>
                </a:solidFill>
                <a:latin typeface="Times New Roman"/>
                <a:ea typeface="Times New Roman"/>
              </a:rPr>
              <a:t>06</a:t>
            </a:r>
            <a:endParaRPr b="0" lang="fr-FR" sz="1300" spc="-1" strike="noStrike">
              <a:solidFill>
                <a:srgbClr val="000000"/>
              </a:solidFill>
              <a:latin typeface="Arial"/>
            </a:endParaRPr>
          </a:p>
        </p:txBody>
      </p:sp>
      <p:sp>
        <p:nvSpPr>
          <p:cNvPr id="38" name="Text 21"/>
          <p:cNvSpPr/>
          <p:nvPr/>
        </p:nvSpPr>
        <p:spPr>
          <a:xfrm>
            <a:off x="5349240" y="1280160"/>
            <a:ext cx="35658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chemeClr val="dk1"/>
                </a:solidFill>
                <a:latin typeface="Times New Roman"/>
                <a:ea typeface="Times New Roman"/>
              </a:rPr>
              <a:t>Contraintes &amp; Solutions AppArmor</a:t>
            </a:r>
            <a:endParaRPr b="0" lang="fr-FR" sz="1100" spc="-1" strike="noStrike">
              <a:solidFill>
                <a:srgbClr val="000000"/>
              </a:solidFill>
              <a:latin typeface="Arial"/>
            </a:endParaRPr>
          </a:p>
        </p:txBody>
      </p:sp>
      <p:sp>
        <p:nvSpPr>
          <p:cNvPr id="39" name="Shape 22"/>
          <p:cNvSpPr/>
          <p:nvPr/>
        </p:nvSpPr>
        <p:spPr>
          <a:xfrm>
            <a:off x="4754880" y="1929240"/>
            <a:ext cx="502560" cy="411120"/>
          </a:xfrm>
          <a:prstGeom prst="rect">
            <a:avLst/>
          </a:prstGeom>
          <a:solidFill>
            <a:schemeClr val="accent6">
              <a:lumMod val="75000"/>
            </a:schemeClr>
          </a:solidFill>
          <a:ln w="12700">
            <a:solidFill>
              <a:srgbClr val="70ad47">
                <a:lumMod val="75000"/>
              </a:srgbClr>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40" name="Text 23"/>
          <p:cNvSpPr/>
          <p:nvPr/>
        </p:nvSpPr>
        <p:spPr>
          <a:xfrm>
            <a:off x="4754880" y="1929240"/>
            <a:ext cx="50256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c9a84c"/>
                </a:solidFill>
                <a:latin typeface="Times New Roman"/>
                <a:ea typeface="Times New Roman"/>
              </a:rPr>
              <a:t>07</a:t>
            </a:r>
            <a:endParaRPr b="0" lang="fr-FR" sz="1300" spc="-1" strike="noStrike">
              <a:solidFill>
                <a:srgbClr val="000000"/>
              </a:solidFill>
              <a:latin typeface="Arial"/>
            </a:endParaRPr>
          </a:p>
        </p:txBody>
      </p:sp>
      <p:sp>
        <p:nvSpPr>
          <p:cNvPr id="41" name="Text 24"/>
          <p:cNvSpPr/>
          <p:nvPr/>
        </p:nvSpPr>
        <p:spPr>
          <a:xfrm>
            <a:off x="5349240" y="1947600"/>
            <a:ext cx="35658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chemeClr val="dk1"/>
                </a:solidFill>
                <a:latin typeface="Times New Roman"/>
                <a:ea typeface="Times New Roman"/>
              </a:rPr>
              <a:t>Modes de Sécurité Intégrés</a:t>
            </a:r>
            <a:endParaRPr b="0" lang="fr-FR" sz="1100" spc="-1" strike="noStrike">
              <a:solidFill>
                <a:srgbClr val="000000"/>
              </a:solidFill>
              <a:latin typeface="Arial"/>
            </a:endParaRPr>
          </a:p>
        </p:txBody>
      </p:sp>
      <p:sp>
        <p:nvSpPr>
          <p:cNvPr id="42" name="Shape 25"/>
          <p:cNvSpPr/>
          <p:nvPr/>
        </p:nvSpPr>
        <p:spPr>
          <a:xfrm>
            <a:off x="4754880" y="2597040"/>
            <a:ext cx="502560" cy="411120"/>
          </a:xfrm>
          <a:prstGeom prst="rect">
            <a:avLst/>
          </a:prstGeom>
          <a:solidFill>
            <a:srgbClr val="ff0000"/>
          </a:solidFill>
          <a:ln w="12700">
            <a:solidFill>
              <a:srgbClr val="ff0000"/>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43" name="Text 26"/>
          <p:cNvSpPr/>
          <p:nvPr/>
        </p:nvSpPr>
        <p:spPr>
          <a:xfrm>
            <a:off x="4754880" y="2597040"/>
            <a:ext cx="50256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c9a84c"/>
                </a:solidFill>
                <a:latin typeface="Times New Roman"/>
                <a:ea typeface="Times New Roman"/>
              </a:rPr>
              <a:t>08</a:t>
            </a:r>
            <a:endParaRPr b="0" lang="fr-FR" sz="1300" spc="-1" strike="noStrike">
              <a:solidFill>
                <a:srgbClr val="000000"/>
              </a:solidFill>
              <a:latin typeface="Arial"/>
            </a:endParaRPr>
          </a:p>
        </p:txBody>
      </p:sp>
      <p:sp>
        <p:nvSpPr>
          <p:cNvPr id="44" name="Text 27"/>
          <p:cNvSpPr/>
          <p:nvPr/>
        </p:nvSpPr>
        <p:spPr>
          <a:xfrm>
            <a:off x="5349240" y="2615040"/>
            <a:ext cx="35658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chemeClr val="dk1"/>
                </a:solidFill>
                <a:latin typeface="Times New Roman"/>
                <a:ea typeface="Times New Roman"/>
              </a:rPr>
              <a:t>Synthèse de la Conception</a:t>
            </a:r>
            <a:endParaRPr b="0" lang="fr-FR" sz="1100" spc="-1" strike="noStrike">
              <a:solidFill>
                <a:srgbClr val="000000"/>
              </a:solidFill>
              <a:latin typeface="Arial"/>
            </a:endParaRPr>
          </a:p>
        </p:txBody>
      </p:sp>
      <p:sp>
        <p:nvSpPr>
          <p:cNvPr id="45" name="Shape 28"/>
          <p:cNvSpPr/>
          <p:nvPr/>
        </p:nvSpPr>
        <p:spPr>
          <a:xfrm>
            <a:off x="4754880" y="3264480"/>
            <a:ext cx="502560" cy="411120"/>
          </a:xfrm>
          <a:prstGeom prst="rect">
            <a:avLst/>
          </a:prstGeom>
          <a:solidFill>
            <a:schemeClr val="accent4">
              <a:lumMod val="75000"/>
            </a:schemeClr>
          </a:solidFill>
          <a:ln w="12700">
            <a:solidFill>
              <a:srgbClr val="c9a84c"/>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46" name="Text 29"/>
          <p:cNvSpPr/>
          <p:nvPr/>
        </p:nvSpPr>
        <p:spPr>
          <a:xfrm>
            <a:off x="4754880" y="3264480"/>
            <a:ext cx="50256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c9a84c"/>
                </a:solidFill>
                <a:latin typeface="Times New Roman"/>
                <a:ea typeface="Times New Roman"/>
              </a:rPr>
              <a:t>09</a:t>
            </a:r>
            <a:endParaRPr b="0" lang="fr-FR" sz="1300" spc="-1" strike="noStrike">
              <a:solidFill>
                <a:srgbClr val="000000"/>
              </a:solidFill>
              <a:latin typeface="Arial"/>
            </a:endParaRPr>
          </a:p>
        </p:txBody>
      </p:sp>
      <p:sp>
        <p:nvSpPr>
          <p:cNvPr id="47" name="Text 30"/>
          <p:cNvSpPr/>
          <p:nvPr/>
        </p:nvSpPr>
        <p:spPr>
          <a:xfrm>
            <a:off x="5349240" y="3264480"/>
            <a:ext cx="35658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chemeClr val="dk1"/>
                </a:solidFill>
                <a:latin typeface="Times New Roman"/>
                <a:ea typeface="Times New Roman"/>
              </a:rPr>
              <a:t>Transition vers la Réalisation</a:t>
            </a:r>
            <a:endParaRPr b="0" lang="fr-FR" sz="1100" spc="-1" strike="noStrike">
              <a:solidFill>
                <a:srgbClr val="000000"/>
              </a:solidFill>
              <a:latin typeface="Arial"/>
            </a:endParaRPr>
          </a:p>
        </p:txBody>
      </p:sp>
      <p:sp>
        <p:nvSpPr>
          <p:cNvPr id="48" name="Shape 31"/>
          <p:cNvSpPr/>
          <p:nvPr/>
        </p:nvSpPr>
        <p:spPr>
          <a:xfrm>
            <a:off x="4754880" y="3931920"/>
            <a:ext cx="502560" cy="411120"/>
          </a:xfrm>
          <a:prstGeom prst="rect">
            <a:avLst/>
          </a:prstGeom>
          <a:solidFill>
            <a:schemeClr val="accent4">
              <a:lumMod val="75000"/>
            </a:schemeClr>
          </a:solidFill>
          <a:ln w="12700">
            <a:solidFill>
              <a:srgbClr val="c9a84c"/>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49" name="Text 32"/>
          <p:cNvSpPr/>
          <p:nvPr/>
        </p:nvSpPr>
        <p:spPr>
          <a:xfrm>
            <a:off x="4754880" y="3931920"/>
            <a:ext cx="50256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c9a84c"/>
                </a:solidFill>
                <a:latin typeface="Times New Roman"/>
                <a:ea typeface="Times New Roman"/>
              </a:rPr>
              <a:t>10</a:t>
            </a:r>
            <a:endParaRPr b="0" lang="fr-FR" sz="1300" spc="-1" strike="noStrike">
              <a:solidFill>
                <a:srgbClr val="000000"/>
              </a:solidFill>
              <a:latin typeface="Arial"/>
            </a:endParaRPr>
          </a:p>
        </p:txBody>
      </p:sp>
      <p:sp>
        <p:nvSpPr>
          <p:cNvPr id="50" name="Text 33"/>
          <p:cNvSpPr/>
          <p:nvPr/>
        </p:nvSpPr>
        <p:spPr>
          <a:xfrm>
            <a:off x="5349240" y="3950280"/>
            <a:ext cx="35658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chemeClr val="dk1"/>
                </a:solidFill>
                <a:latin typeface="Times New Roman"/>
                <a:ea typeface="Times New Roman"/>
              </a:rPr>
              <a:t>Conclusions</a:t>
            </a:r>
            <a:endParaRPr b="0" lang="fr-F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1" name="Shape 1"/>
          <p:cNvSpPr/>
          <p:nvPr/>
        </p:nvSpPr>
        <p:spPr>
          <a:xfrm>
            <a:off x="109800" y="0"/>
            <a:ext cx="9033840" cy="914040"/>
          </a:xfrm>
          <a:prstGeom prst="rect">
            <a:avLst/>
          </a:prstGeom>
          <a:solidFill>
            <a:schemeClr val="accent1">
              <a:lumMod val="60000"/>
              <a:lumOff val="40000"/>
            </a:schemeClr>
          </a:solidFill>
          <a:ln w="12700">
            <a:solidFill>
              <a:srgbClr val="243558"/>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52" name="Text 3"/>
          <p:cNvSpPr/>
          <p:nvPr/>
        </p:nvSpPr>
        <p:spPr>
          <a:xfrm>
            <a:off x="914400" y="91440"/>
            <a:ext cx="7314840" cy="712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chemeClr val="dk1"/>
                </a:solidFill>
                <a:latin typeface="Times New Roman"/>
                <a:ea typeface="Times New Roman"/>
              </a:rPr>
              <a:t>01 · Contexte &amp; Objectif du Projet</a:t>
            </a:r>
            <a:endParaRPr b="0" lang="fr-FR" sz="2200" spc="-1" strike="noStrike">
              <a:solidFill>
                <a:srgbClr val="000000"/>
              </a:solidFill>
              <a:latin typeface="Arial"/>
            </a:endParaRPr>
          </a:p>
        </p:txBody>
      </p:sp>
      <p:sp>
        <p:nvSpPr>
          <p:cNvPr id="53" name="Text 5"/>
          <p:cNvSpPr/>
          <p:nvPr/>
        </p:nvSpPr>
        <p:spPr>
          <a:xfrm>
            <a:off x="1005840" y="1143000"/>
            <a:ext cx="301716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600" spc="-1" strike="noStrike">
                <a:solidFill>
                  <a:schemeClr val="dk1"/>
                </a:solidFill>
                <a:latin typeface="Times New Roman"/>
                <a:ea typeface="Times New Roman"/>
              </a:rPr>
              <a:t>Contexte</a:t>
            </a:r>
            <a:endParaRPr b="0" lang="fr-FR" sz="1600" spc="-1" strike="noStrike">
              <a:solidFill>
                <a:srgbClr val="000000"/>
              </a:solidFill>
              <a:latin typeface="Arial"/>
            </a:endParaRPr>
          </a:p>
        </p:txBody>
      </p:sp>
      <p:sp>
        <p:nvSpPr>
          <p:cNvPr id="54" name="Text 6"/>
          <p:cNvSpPr/>
          <p:nvPr/>
        </p:nvSpPr>
        <p:spPr>
          <a:xfrm>
            <a:off x="365760" y="1554480"/>
            <a:ext cx="3840120" cy="244584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r>
              <a:rPr b="0" lang="fr-FR" sz="1100" spc="-1" strike="noStrike">
                <a:solidFill>
                  <a:schemeClr val="dk1"/>
                </a:solidFill>
                <a:latin typeface="Times New Roman"/>
              </a:rPr>
              <a:t>Aujourd'hui, la sécurité des systèmes Linux repose en grande partie sur des mécanismes de contrôle d'accès obligatoires comme </a:t>
            </a:r>
            <a:r>
              <a:rPr b="1" lang="fr-FR" sz="1100" spc="-1" strike="noStrike">
                <a:solidFill>
                  <a:schemeClr val="dk1"/>
                </a:solidFill>
                <a:latin typeface="Times New Roman"/>
              </a:rPr>
              <a:t>AppArmor</a:t>
            </a:r>
            <a:r>
              <a:rPr b="0" lang="fr-FR" sz="1100" spc="-1" strike="noStrike">
                <a:solidFill>
                  <a:schemeClr val="dk1"/>
                </a:solidFill>
                <a:latin typeface="Times New Roman"/>
              </a:rPr>
              <a:t>, qui permettent de confiner les applications et de limiter leurs privilèges. Cependant, la configuration et le suivi de ces profils de sécurité se font traditionnellement en ligne de commande, ce qui s'avère complexe, fastidieux et source d'erreurs pour les administrateurs système. De plus, face à des cyberattaques de plus en plus sophistiquées, la simple restriction des droits ne suffit plus : il devient crucial de surveiller l'activité du système en continu. Actuellement, l'analyse des journaux d'audit (logs) générés par AppArmor est souvent manuelle et déconnectée de la gestion des profils, empêchant une réaction rapide en cas d'intrusion</a:t>
            </a:r>
            <a:endParaRPr b="0" lang="fr-FR" sz="1100" spc="-1" strike="noStrike">
              <a:solidFill>
                <a:srgbClr val="000000"/>
              </a:solidFill>
              <a:latin typeface="Arial"/>
            </a:endParaRPr>
          </a:p>
        </p:txBody>
      </p:sp>
      <p:sp>
        <p:nvSpPr>
          <p:cNvPr id="55" name="Text 8"/>
          <p:cNvSpPr/>
          <p:nvPr/>
        </p:nvSpPr>
        <p:spPr>
          <a:xfrm>
            <a:off x="5394960" y="1143000"/>
            <a:ext cx="320004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600" spc="-1" strike="noStrike">
                <a:solidFill>
                  <a:schemeClr val="dk1"/>
                </a:solidFill>
                <a:latin typeface="Times New Roman"/>
                <a:ea typeface="Times New Roman"/>
              </a:rPr>
              <a:t>Objectifs</a:t>
            </a:r>
            <a:endParaRPr b="0" lang="fr-FR" sz="1600" spc="-1" strike="noStrike">
              <a:solidFill>
                <a:srgbClr val="000000"/>
              </a:solidFill>
              <a:latin typeface="Arial"/>
            </a:endParaRPr>
          </a:p>
        </p:txBody>
      </p:sp>
      <p:sp>
        <p:nvSpPr>
          <p:cNvPr id="56" name="Shape 9"/>
          <p:cNvSpPr/>
          <p:nvPr/>
        </p:nvSpPr>
        <p:spPr>
          <a:xfrm>
            <a:off x="4754880" y="1691640"/>
            <a:ext cx="4023000" cy="502560"/>
          </a:xfrm>
          <a:prstGeom prst="rect">
            <a:avLst/>
          </a:prstGeom>
          <a:noFill/>
          <a:ln w="12700">
            <a:solidFill>
              <a:srgbClr val="70ad47">
                <a:lumMod val="75000"/>
              </a:srgbClr>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57" name="Text 10"/>
          <p:cNvSpPr/>
          <p:nvPr/>
        </p:nvSpPr>
        <p:spPr>
          <a:xfrm>
            <a:off x="4800600" y="1728360"/>
            <a:ext cx="3931560" cy="429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endParaRPr b="0" lang="en-US" sz="1050" spc="-1" strike="noStrike">
              <a:solidFill>
                <a:schemeClr val="dk1"/>
              </a:solidFill>
              <a:latin typeface="Calibri"/>
            </a:endParaRPr>
          </a:p>
        </p:txBody>
      </p:sp>
      <p:sp>
        <p:nvSpPr>
          <p:cNvPr id="58" name="Shape 11"/>
          <p:cNvSpPr/>
          <p:nvPr/>
        </p:nvSpPr>
        <p:spPr>
          <a:xfrm>
            <a:off x="4754880" y="2313360"/>
            <a:ext cx="4023000" cy="502560"/>
          </a:xfrm>
          <a:prstGeom prst="rect">
            <a:avLst/>
          </a:prstGeom>
          <a:noFill/>
          <a:ln w="12700">
            <a:solidFill>
              <a:srgbClr val="70ad47">
                <a:lumMod val="75000"/>
              </a:srgbClr>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59" name="Text 12"/>
          <p:cNvSpPr/>
          <p:nvPr/>
        </p:nvSpPr>
        <p:spPr>
          <a:xfrm>
            <a:off x="4800600" y="2350080"/>
            <a:ext cx="3931560" cy="429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chemeClr val="dk1"/>
                </a:solidFill>
                <a:latin typeface="Times New Roman"/>
                <a:ea typeface="Times New Roman"/>
              </a:rPr>
              <a:t>  </a:t>
            </a:r>
            <a:r>
              <a:rPr b="0" lang="en-US" sz="1050" spc="-1" strike="noStrike">
                <a:solidFill>
                  <a:schemeClr val="dk1"/>
                </a:solidFill>
                <a:latin typeface="Times New Roman"/>
                <a:ea typeface="Times New Roman"/>
              </a:rPr>
              <a:t>Détecter &amp; analyser les comportements malveillants</a:t>
            </a:r>
            <a:endParaRPr b="0" lang="fr-FR" sz="1050" spc="-1" strike="noStrike">
              <a:solidFill>
                <a:srgbClr val="000000"/>
              </a:solidFill>
              <a:latin typeface="Arial"/>
            </a:endParaRPr>
          </a:p>
        </p:txBody>
      </p:sp>
      <p:sp>
        <p:nvSpPr>
          <p:cNvPr id="60" name="Shape 13"/>
          <p:cNvSpPr/>
          <p:nvPr/>
        </p:nvSpPr>
        <p:spPr>
          <a:xfrm>
            <a:off x="4754880" y="2918160"/>
            <a:ext cx="4023000" cy="502560"/>
          </a:xfrm>
          <a:prstGeom prst="rect">
            <a:avLst/>
          </a:prstGeom>
          <a:noFill/>
          <a:ln w="12700">
            <a:solidFill>
              <a:srgbClr val="ff0000"/>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61" name="Text 14"/>
          <p:cNvSpPr/>
          <p:nvPr/>
        </p:nvSpPr>
        <p:spPr>
          <a:xfrm>
            <a:off x="4800600" y="2971800"/>
            <a:ext cx="3931560" cy="429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chemeClr val="dk1"/>
                </a:solidFill>
                <a:latin typeface="Times New Roman"/>
                <a:ea typeface="Times New Roman"/>
              </a:rPr>
              <a:t>Visualiser les logs et métriques en temps réel</a:t>
            </a:r>
            <a:endParaRPr b="0" lang="fr-FR" sz="1050" spc="-1" strike="noStrike">
              <a:solidFill>
                <a:srgbClr val="000000"/>
              </a:solidFill>
              <a:latin typeface="Arial"/>
            </a:endParaRPr>
          </a:p>
        </p:txBody>
      </p:sp>
      <p:sp>
        <p:nvSpPr>
          <p:cNvPr id="62" name="Shape 15"/>
          <p:cNvSpPr/>
          <p:nvPr/>
        </p:nvSpPr>
        <p:spPr>
          <a:xfrm>
            <a:off x="4754880" y="3557160"/>
            <a:ext cx="4023000" cy="502560"/>
          </a:xfrm>
          <a:prstGeom prst="rect">
            <a:avLst/>
          </a:prstGeom>
          <a:noFill/>
          <a:ln w="12700">
            <a:solidFill>
              <a:srgbClr val="ffc000">
                <a:lumMod val="75000"/>
              </a:srgbClr>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63" name="Text 16"/>
          <p:cNvSpPr/>
          <p:nvPr/>
        </p:nvSpPr>
        <p:spPr>
          <a:xfrm>
            <a:off x="4800600" y="3593520"/>
            <a:ext cx="3931560" cy="429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chemeClr val="dk1"/>
                </a:solidFill>
                <a:latin typeface="Times New Roman"/>
                <a:ea typeface="Times New Roman"/>
              </a:rPr>
              <a:t>  </a:t>
            </a:r>
            <a:r>
              <a:rPr b="0" lang="en-US" sz="1050" spc="-1" strike="noStrike">
                <a:solidFill>
                  <a:schemeClr val="dk1"/>
                </a:solidFill>
                <a:latin typeface="Times New Roman"/>
                <a:ea typeface="Times New Roman"/>
              </a:rPr>
              <a:t>Simuler des attaques et démontrer la défense</a:t>
            </a:r>
            <a:endParaRPr b="0" lang="fr-FR" sz="1050" spc="-1" strike="noStrike">
              <a:solidFill>
                <a:srgbClr val="000000"/>
              </a:solidFill>
              <a:latin typeface="Arial"/>
            </a:endParaRPr>
          </a:p>
        </p:txBody>
      </p:sp>
      <p:sp>
        <p:nvSpPr>
          <p:cNvPr id="64" name="Shape 17"/>
          <p:cNvSpPr/>
          <p:nvPr/>
        </p:nvSpPr>
        <p:spPr>
          <a:xfrm>
            <a:off x="4754880" y="4178880"/>
            <a:ext cx="4023000" cy="502560"/>
          </a:xfrm>
          <a:prstGeom prst="rect">
            <a:avLst/>
          </a:prstGeom>
          <a:noFill/>
          <a:ln w="12700">
            <a:solidFill>
              <a:srgbClr val="ffc000">
                <a:lumMod val="75000"/>
              </a:srgbClr>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65" name="Text 18"/>
          <p:cNvSpPr/>
          <p:nvPr/>
        </p:nvSpPr>
        <p:spPr>
          <a:xfrm>
            <a:off x="4800600" y="4215240"/>
            <a:ext cx="3931560" cy="429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chemeClr val="dk1"/>
                </a:solidFill>
                <a:latin typeface="Times New Roman"/>
                <a:ea typeface="Times New Roman"/>
              </a:rPr>
              <a:t>  </a:t>
            </a:r>
            <a:r>
              <a:rPr b="0" lang="en-US" sz="1050" spc="-1" strike="noStrike">
                <a:solidFill>
                  <a:schemeClr val="dk1"/>
                </a:solidFill>
                <a:latin typeface="Times New Roman"/>
                <a:ea typeface="Times New Roman"/>
              </a:rPr>
              <a:t>Garantir la sécurité de l'interface (HTTPS, auth)</a:t>
            </a:r>
            <a:endParaRPr b="0" lang="fr-FR"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4f8"/>
        </a:solidFill>
      </p:bgPr>
    </p:bg>
    <p:spTree>
      <p:nvGrpSpPr>
        <p:cNvPr id="1" name=""/>
        <p:cNvGrpSpPr/>
        <p:nvPr/>
      </p:nvGrpSpPr>
      <p:grpSpPr>
        <a:xfrm>
          <a:off x="0" y="0"/>
          <a:ext cx="0" cy="0"/>
          <a:chOff x="0" y="0"/>
          <a:chExt cx="0" cy="0"/>
        </a:xfrm>
      </p:grpSpPr>
      <p:sp>
        <p:nvSpPr>
          <p:cNvPr id="66" name="Shape 1"/>
          <p:cNvSpPr/>
          <p:nvPr/>
        </p:nvSpPr>
        <p:spPr>
          <a:xfrm>
            <a:off x="109800" y="0"/>
            <a:ext cx="9033840" cy="914040"/>
          </a:xfrm>
          <a:prstGeom prst="rect">
            <a:avLst/>
          </a:prstGeom>
          <a:solidFill>
            <a:schemeClr val="accent1">
              <a:lumMod val="60000"/>
              <a:lumOff val="40000"/>
            </a:schemeClr>
          </a:solidFill>
          <a:ln w="12700">
            <a:solidFill>
              <a:srgbClr val="243558"/>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67" name="Text 3"/>
          <p:cNvSpPr/>
          <p:nvPr/>
        </p:nvSpPr>
        <p:spPr>
          <a:xfrm>
            <a:off x="914400" y="91440"/>
            <a:ext cx="7314840" cy="712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chemeClr val="dk1"/>
                </a:solidFill>
                <a:latin typeface="Times New Roman"/>
                <a:ea typeface="Times New Roman"/>
              </a:rPr>
              <a:t>02 · Démarche de Conception Adoptée</a:t>
            </a:r>
            <a:endParaRPr b="0" lang="fr-FR" sz="2200" spc="-1" strike="noStrike">
              <a:solidFill>
                <a:srgbClr val="000000"/>
              </a:solidFill>
              <a:latin typeface="Arial"/>
            </a:endParaRPr>
          </a:p>
        </p:txBody>
      </p:sp>
      <p:sp>
        <p:nvSpPr>
          <p:cNvPr id="68" name="Text 6"/>
          <p:cNvSpPr/>
          <p:nvPr/>
        </p:nvSpPr>
        <p:spPr>
          <a:xfrm>
            <a:off x="274320" y="1417320"/>
            <a:ext cx="100548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400" spc="-1" strike="noStrike">
                <a:solidFill>
                  <a:srgbClr val="1b2a4a"/>
                </a:solidFill>
                <a:latin typeface="Times New Roman"/>
              </a:rPr>
              <a:t>2</a:t>
            </a:r>
            <a:endParaRPr b="0" lang="fr-FR" sz="2400" spc="-1" strike="noStrike">
              <a:solidFill>
                <a:srgbClr val="000000"/>
              </a:solidFill>
              <a:latin typeface="Arial"/>
            </a:endParaRPr>
          </a:p>
        </p:txBody>
      </p:sp>
      <p:sp>
        <p:nvSpPr>
          <p:cNvPr id="69" name="Text 7"/>
          <p:cNvSpPr/>
          <p:nvPr/>
        </p:nvSpPr>
        <p:spPr>
          <a:xfrm>
            <a:off x="91440" y="251460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1b2a4a"/>
                </a:solidFill>
                <a:latin typeface="Times New Roman"/>
                <a:ea typeface="Times New Roman"/>
              </a:rPr>
              <a:t>Analyse</a:t>
            </a:r>
            <a:endParaRPr b="0" lang="fr-FR" sz="1100" spc="-1" strike="noStrike">
              <a:solidFill>
                <a:srgbClr val="000000"/>
              </a:solidFill>
              <a:latin typeface="Arial"/>
            </a:endParaRPr>
          </a:p>
        </p:txBody>
      </p:sp>
      <p:sp>
        <p:nvSpPr>
          <p:cNvPr id="70" name="Text 8"/>
          <p:cNvSpPr/>
          <p:nvPr/>
        </p:nvSpPr>
        <p:spPr>
          <a:xfrm>
            <a:off x="45720" y="2834640"/>
            <a:ext cx="1462680" cy="502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334455"/>
                </a:solidFill>
                <a:latin typeface="Times New Roman"/>
                <a:ea typeface="Times New Roman"/>
              </a:rPr>
              <a:t>Exigences fonctionnelles &amp; non-fonctionnelles</a:t>
            </a:r>
            <a:endParaRPr b="0" lang="fr-FR" sz="900" spc="-1" strike="noStrike">
              <a:solidFill>
                <a:srgbClr val="000000"/>
              </a:solidFill>
              <a:latin typeface="Arial"/>
            </a:endParaRPr>
          </a:p>
        </p:txBody>
      </p:sp>
      <p:sp>
        <p:nvSpPr>
          <p:cNvPr id="71" name="Shape 9"/>
          <p:cNvSpPr/>
          <p:nvPr/>
        </p:nvSpPr>
        <p:spPr>
          <a:xfrm>
            <a:off x="1280160" y="1920240"/>
            <a:ext cx="731520" cy="360"/>
          </a:xfrm>
          <a:prstGeom prst="line">
            <a:avLst/>
          </a:prstGeom>
          <a:ln w="25400">
            <a:solidFill>
              <a:srgbClr val="1b2a4a"/>
            </a:solidFill>
            <a:round/>
          </a:ln>
        </p:spPr>
        <p:style>
          <a:lnRef idx="0"/>
          <a:fillRef idx="0"/>
          <a:effectRef idx="0"/>
          <a:fontRef idx="minor"/>
        </p:style>
        <p:txBody>
          <a:bodyPr lIns="90000" rIns="90000" tIns="-44640" bIns="-44640" anchor="t">
            <a:noAutofit/>
          </a:bodyPr>
          <a:p>
            <a:endParaRPr b="0" lang="fr-CM" sz="1800" spc="-1" strike="noStrike">
              <a:solidFill>
                <a:schemeClr val="dk1"/>
              </a:solidFill>
              <a:latin typeface="Calibri"/>
            </a:endParaRPr>
          </a:p>
        </p:txBody>
      </p:sp>
      <p:sp>
        <p:nvSpPr>
          <p:cNvPr id="72" name="Text 11"/>
          <p:cNvSpPr/>
          <p:nvPr/>
        </p:nvSpPr>
        <p:spPr>
          <a:xfrm>
            <a:off x="2011680" y="1417320"/>
            <a:ext cx="100548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400" spc="-1" strike="noStrike">
                <a:solidFill>
                  <a:srgbClr val="1b2a4a"/>
                </a:solidFill>
                <a:latin typeface="Times New Roman"/>
              </a:rPr>
              <a:t>3</a:t>
            </a:r>
            <a:endParaRPr b="0" lang="fr-FR" sz="2400" spc="-1" strike="noStrike">
              <a:solidFill>
                <a:srgbClr val="000000"/>
              </a:solidFill>
              <a:latin typeface="Arial"/>
            </a:endParaRPr>
          </a:p>
        </p:txBody>
      </p:sp>
      <p:sp>
        <p:nvSpPr>
          <p:cNvPr id="73" name="Text 12"/>
          <p:cNvSpPr/>
          <p:nvPr/>
        </p:nvSpPr>
        <p:spPr>
          <a:xfrm>
            <a:off x="1828800" y="251460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1b2a4a"/>
                </a:solidFill>
                <a:latin typeface="Times New Roman"/>
                <a:ea typeface="Times New Roman"/>
              </a:rPr>
              <a:t>Conception</a:t>
            </a:r>
            <a:endParaRPr b="0" lang="fr-FR" sz="1100" spc="-1" strike="noStrike">
              <a:solidFill>
                <a:srgbClr val="000000"/>
              </a:solidFill>
              <a:latin typeface="Arial"/>
            </a:endParaRPr>
          </a:p>
        </p:txBody>
      </p:sp>
      <p:sp>
        <p:nvSpPr>
          <p:cNvPr id="74" name="Text 13"/>
          <p:cNvSpPr/>
          <p:nvPr/>
        </p:nvSpPr>
        <p:spPr>
          <a:xfrm>
            <a:off x="1783080" y="2834640"/>
            <a:ext cx="1462680" cy="502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334455"/>
                </a:solidFill>
                <a:latin typeface="Times New Roman"/>
                <a:ea typeface="Times New Roman"/>
              </a:rPr>
              <a:t>Modélisation UML : classes, séquences</a:t>
            </a:r>
            <a:endParaRPr b="0" lang="fr-FR" sz="900" spc="-1" strike="noStrike">
              <a:solidFill>
                <a:srgbClr val="000000"/>
              </a:solidFill>
              <a:latin typeface="Arial"/>
            </a:endParaRPr>
          </a:p>
        </p:txBody>
      </p:sp>
      <p:sp>
        <p:nvSpPr>
          <p:cNvPr id="75" name="Shape 14"/>
          <p:cNvSpPr/>
          <p:nvPr/>
        </p:nvSpPr>
        <p:spPr>
          <a:xfrm>
            <a:off x="3017520" y="1920240"/>
            <a:ext cx="731520" cy="360"/>
          </a:xfrm>
          <a:prstGeom prst="line">
            <a:avLst/>
          </a:prstGeom>
          <a:ln w="25400">
            <a:solidFill>
              <a:srgbClr val="1b2a4a"/>
            </a:solidFill>
            <a:round/>
          </a:ln>
        </p:spPr>
        <p:style>
          <a:lnRef idx="0"/>
          <a:fillRef idx="0"/>
          <a:effectRef idx="0"/>
          <a:fontRef idx="minor"/>
        </p:style>
        <p:txBody>
          <a:bodyPr lIns="90000" rIns="90000" tIns="-44640" bIns="-44640" anchor="t">
            <a:noAutofit/>
          </a:bodyPr>
          <a:p>
            <a:endParaRPr b="0" lang="fr-CM" sz="1800" spc="-1" strike="noStrike">
              <a:solidFill>
                <a:schemeClr val="dk1"/>
              </a:solidFill>
              <a:latin typeface="Calibri"/>
            </a:endParaRPr>
          </a:p>
        </p:txBody>
      </p:sp>
      <p:sp>
        <p:nvSpPr>
          <p:cNvPr id="76" name="Text 16"/>
          <p:cNvSpPr/>
          <p:nvPr/>
        </p:nvSpPr>
        <p:spPr>
          <a:xfrm>
            <a:off x="3749040" y="1417320"/>
            <a:ext cx="100548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400" spc="-1" strike="noStrike">
                <a:solidFill>
                  <a:srgbClr val="1b2a4a"/>
                </a:solidFill>
                <a:latin typeface="Times New Roman"/>
              </a:rPr>
              <a:t>4</a:t>
            </a:r>
            <a:endParaRPr b="0" lang="fr-FR" sz="2400" spc="-1" strike="noStrike">
              <a:solidFill>
                <a:srgbClr val="000000"/>
              </a:solidFill>
              <a:latin typeface="Arial"/>
            </a:endParaRPr>
          </a:p>
        </p:txBody>
      </p:sp>
      <p:sp>
        <p:nvSpPr>
          <p:cNvPr id="77" name="Text 17"/>
          <p:cNvSpPr/>
          <p:nvPr/>
        </p:nvSpPr>
        <p:spPr>
          <a:xfrm>
            <a:off x="3566160" y="251460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1b2a4a"/>
                </a:solidFill>
                <a:latin typeface="Times New Roman"/>
                <a:ea typeface="Times New Roman"/>
              </a:rPr>
              <a:t>Réalisation</a:t>
            </a:r>
            <a:endParaRPr b="0" lang="fr-FR" sz="1100" spc="-1" strike="noStrike">
              <a:solidFill>
                <a:srgbClr val="000000"/>
              </a:solidFill>
              <a:latin typeface="Arial"/>
            </a:endParaRPr>
          </a:p>
        </p:txBody>
      </p:sp>
      <p:sp>
        <p:nvSpPr>
          <p:cNvPr id="78" name="Text 18"/>
          <p:cNvSpPr/>
          <p:nvPr/>
        </p:nvSpPr>
        <p:spPr>
          <a:xfrm>
            <a:off x="3520440" y="2834640"/>
            <a:ext cx="1462680" cy="502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334455"/>
                </a:solidFill>
                <a:latin typeface="Times New Roman"/>
                <a:ea typeface="Times New Roman"/>
              </a:rPr>
              <a:t>Développement &amp; intégration</a:t>
            </a:r>
            <a:endParaRPr b="0" lang="fr-FR" sz="900" spc="-1" strike="noStrike">
              <a:solidFill>
                <a:srgbClr val="000000"/>
              </a:solidFill>
              <a:latin typeface="Arial"/>
            </a:endParaRPr>
          </a:p>
        </p:txBody>
      </p:sp>
      <p:sp>
        <p:nvSpPr>
          <p:cNvPr id="79" name="Shape 19"/>
          <p:cNvSpPr/>
          <p:nvPr/>
        </p:nvSpPr>
        <p:spPr>
          <a:xfrm>
            <a:off x="4754880" y="1920240"/>
            <a:ext cx="731520" cy="360"/>
          </a:xfrm>
          <a:prstGeom prst="line">
            <a:avLst/>
          </a:prstGeom>
          <a:ln w="25400">
            <a:solidFill>
              <a:srgbClr val="1b2a4a"/>
            </a:solidFill>
            <a:round/>
          </a:ln>
        </p:spPr>
        <p:style>
          <a:lnRef idx="0"/>
          <a:fillRef idx="0"/>
          <a:effectRef idx="0"/>
          <a:fontRef idx="minor"/>
        </p:style>
        <p:txBody>
          <a:bodyPr lIns="90000" rIns="90000" tIns="-44640" bIns="-44640" anchor="t">
            <a:noAutofit/>
          </a:bodyPr>
          <a:p>
            <a:endParaRPr b="0" lang="fr-CM" sz="1800" spc="-1" strike="noStrike">
              <a:solidFill>
                <a:schemeClr val="dk1"/>
              </a:solidFill>
              <a:latin typeface="Calibri"/>
            </a:endParaRPr>
          </a:p>
        </p:txBody>
      </p:sp>
      <p:sp>
        <p:nvSpPr>
          <p:cNvPr id="80" name="Text 21"/>
          <p:cNvSpPr/>
          <p:nvPr/>
        </p:nvSpPr>
        <p:spPr>
          <a:xfrm>
            <a:off x="5486400" y="1417320"/>
            <a:ext cx="100548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400" spc="-1" strike="noStrike">
                <a:solidFill>
                  <a:srgbClr val="1b2a4a"/>
                </a:solidFill>
                <a:latin typeface="Times New Roman"/>
              </a:rPr>
              <a:t>5</a:t>
            </a:r>
            <a:endParaRPr b="0" lang="fr-FR" sz="2400" spc="-1" strike="noStrike">
              <a:solidFill>
                <a:srgbClr val="000000"/>
              </a:solidFill>
              <a:latin typeface="Arial"/>
            </a:endParaRPr>
          </a:p>
        </p:txBody>
      </p:sp>
      <p:sp>
        <p:nvSpPr>
          <p:cNvPr id="81" name="Text 22"/>
          <p:cNvSpPr/>
          <p:nvPr/>
        </p:nvSpPr>
        <p:spPr>
          <a:xfrm>
            <a:off x="5303520" y="251460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1b2a4a"/>
                </a:solidFill>
                <a:latin typeface="Times New Roman"/>
                <a:ea typeface="Times New Roman"/>
              </a:rPr>
              <a:t>Tests</a:t>
            </a:r>
            <a:endParaRPr b="0" lang="fr-FR" sz="1100" spc="-1" strike="noStrike">
              <a:solidFill>
                <a:srgbClr val="000000"/>
              </a:solidFill>
              <a:latin typeface="Arial"/>
            </a:endParaRPr>
          </a:p>
        </p:txBody>
      </p:sp>
      <p:sp>
        <p:nvSpPr>
          <p:cNvPr id="82" name="Text 23"/>
          <p:cNvSpPr/>
          <p:nvPr/>
        </p:nvSpPr>
        <p:spPr>
          <a:xfrm>
            <a:off x="5257800" y="2834640"/>
            <a:ext cx="1462680" cy="502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334455"/>
                </a:solidFill>
                <a:latin typeface="Times New Roman"/>
                <a:ea typeface="Times New Roman"/>
              </a:rPr>
              <a:t>Validation fonctionnelle &amp; sécurité</a:t>
            </a:r>
            <a:endParaRPr b="0" lang="fr-FR" sz="900" spc="-1" strike="noStrike">
              <a:solidFill>
                <a:srgbClr val="000000"/>
              </a:solidFill>
              <a:latin typeface="Arial"/>
            </a:endParaRPr>
          </a:p>
        </p:txBody>
      </p:sp>
      <p:sp>
        <p:nvSpPr>
          <p:cNvPr id="83" name="Shape 24"/>
          <p:cNvSpPr/>
          <p:nvPr/>
        </p:nvSpPr>
        <p:spPr>
          <a:xfrm>
            <a:off x="6492240" y="1920240"/>
            <a:ext cx="731520" cy="360"/>
          </a:xfrm>
          <a:prstGeom prst="line">
            <a:avLst/>
          </a:prstGeom>
          <a:ln w="25400">
            <a:solidFill>
              <a:srgbClr val="1b2a4a"/>
            </a:solidFill>
            <a:round/>
          </a:ln>
        </p:spPr>
        <p:style>
          <a:lnRef idx="0"/>
          <a:fillRef idx="0"/>
          <a:effectRef idx="0"/>
          <a:fontRef idx="minor"/>
        </p:style>
        <p:txBody>
          <a:bodyPr lIns="90000" rIns="90000" tIns="-44640" bIns="-44640" anchor="t">
            <a:noAutofit/>
          </a:bodyPr>
          <a:p>
            <a:endParaRPr b="0" lang="fr-CM" sz="1800" spc="-1" strike="noStrike">
              <a:solidFill>
                <a:schemeClr val="dk1"/>
              </a:solidFill>
              <a:latin typeface="Calibri"/>
            </a:endParaRPr>
          </a:p>
        </p:txBody>
      </p:sp>
      <p:sp>
        <p:nvSpPr>
          <p:cNvPr id="84" name="Text 26"/>
          <p:cNvSpPr/>
          <p:nvPr/>
        </p:nvSpPr>
        <p:spPr>
          <a:xfrm>
            <a:off x="7223760" y="1417320"/>
            <a:ext cx="1005480" cy="1005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400" spc="-1" strike="noStrike">
                <a:solidFill>
                  <a:srgbClr val="1b2a4a"/>
                </a:solidFill>
                <a:latin typeface="Times New Roman"/>
              </a:rPr>
              <a:t>6</a:t>
            </a:r>
            <a:endParaRPr b="0" lang="fr-FR" sz="2400" spc="-1" strike="noStrike">
              <a:solidFill>
                <a:srgbClr val="000000"/>
              </a:solidFill>
              <a:latin typeface="Arial"/>
            </a:endParaRPr>
          </a:p>
        </p:txBody>
      </p:sp>
      <p:sp>
        <p:nvSpPr>
          <p:cNvPr id="85" name="Text 27"/>
          <p:cNvSpPr/>
          <p:nvPr/>
        </p:nvSpPr>
        <p:spPr>
          <a:xfrm>
            <a:off x="7040880" y="251460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1b2a4a"/>
                </a:solidFill>
                <a:latin typeface="Times New Roman"/>
                <a:ea typeface="Times New Roman"/>
              </a:rPr>
              <a:t>Déploiement</a:t>
            </a:r>
            <a:endParaRPr b="0" lang="fr-FR" sz="1100" spc="-1" strike="noStrike">
              <a:solidFill>
                <a:srgbClr val="000000"/>
              </a:solidFill>
              <a:latin typeface="Arial"/>
            </a:endParaRPr>
          </a:p>
        </p:txBody>
      </p:sp>
      <p:sp>
        <p:nvSpPr>
          <p:cNvPr id="86" name="Text 28"/>
          <p:cNvSpPr/>
          <p:nvPr/>
        </p:nvSpPr>
        <p:spPr>
          <a:xfrm>
            <a:off x="6995160" y="2834640"/>
            <a:ext cx="1462680" cy="502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334455"/>
                </a:solidFill>
                <a:latin typeface="Times New Roman"/>
                <a:ea typeface="Times New Roman"/>
              </a:rPr>
              <a:t>Mise en production &amp; audit</a:t>
            </a:r>
            <a:endParaRPr b="0" lang="fr-FR" sz="900" spc="-1" strike="noStrike">
              <a:solidFill>
                <a:srgbClr val="000000"/>
              </a:solidFill>
              <a:latin typeface="Arial"/>
            </a:endParaRPr>
          </a:p>
        </p:txBody>
      </p:sp>
      <p:sp>
        <p:nvSpPr>
          <p:cNvPr id="87" name="Text 30"/>
          <p:cNvSpPr/>
          <p:nvPr/>
        </p:nvSpPr>
        <p:spPr>
          <a:xfrm>
            <a:off x="1783080" y="1143000"/>
            <a:ext cx="137124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750" spc="-1" strike="noStrike">
                <a:solidFill>
                  <a:schemeClr val="accent6">
                    <a:lumMod val="75000"/>
                  </a:schemeClr>
                </a:solidFill>
                <a:latin typeface="Times New Roman"/>
                <a:ea typeface="Times New Roman"/>
              </a:rPr>
              <a:t>PHASE ACTUELLE</a:t>
            </a:r>
            <a:endParaRPr b="0" lang="fr-FR" sz="750" spc="-1" strike="noStrike">
              <a:solidFill>
                <a:srgbClr val="000000"/>
              </a:solidFill>
              <a:latin typeface="Arial"/>
            </a:endParaRPr>
          </a:p>
        </p:txBody>
      </p:sp>
      <p:sp>
        <p:nvSpPr>
          <p:cNvPr id="88" name="Shape 31"/>
          <p:cNvSpPr/>
          <p:nvPr/>
        </p:nvSpPr>
        <p:spPr>
          <a:xfrm>
            <a:off x="274320" y="3474720"/>
            <a:ext cx="8595000" cy="1462680"/>
          </a:xfrm>
          <a:prstGeom prst="rect">
            <a:avLst/>
          </a:prstGeom>
          <a:solidFill>
            <a:schemeClr val="accent4">
              <a:lumMod val="20000"/>
              <a:lumOff val="80000"/>
            </a:schemeClr>
          </a:solidFill>
          <a:ln w="12700">
            <a:solidFill>
              <a:srgbClr val="ff0000"/>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89" name="Text 32"/>
          <p:cNvSpPr/>
          <p:nvPr/>
        </p:nvSpPr>
        <p:spPr>
          <a:xfrm>
            <a:off x="457200" y="3547800"/>
            <a:ext cx="82292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chemeClr val="accent6">
                    <a:lumMod val="75000"/>
                  </a:schemeClr>
                </a:solidFill>
                <a:latin typeface="Times New Roman"/>
                <a:ea typeface="Times New Roman"/>
              </a:rPr>
              <a:t>Outils &amp; Méthodes de Modélisation</a:t>
            </a:r>
            <a:endParaRPr b="0" lang="fr-FR" sz="1300" spc="-1" strike="noStrike">
              <a:solidFill>
                <a:srgbClr val="000000"/>
              </a:solidFill>
              <a:latin typeface="Arial"/>
            </a:endParaRPr>
          </a:p>
        </p:txBody>
      </p:sp>
      <p:sp>
        <p:nvSpPr>
          <p:cNvPr id="90" name="Text 33"/>
          <p:cNvSpPr/>
          <p:nvPr/>
        </p:nvSpPr>
        <p:spPr>
          <a:xfrm>
            <a:off x="457200" y="3913560"/>
            <a:ext cx="41144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UML 2.x (diagrammes de classes &amp; séquences)</a:t>
            </a:r>
            <a:endParaRPr b="0" lang="fr-FR" sz="1000" spc="-1" strike="noStrike">
              <a:solidFill>
                <a:srgbClr val="000000"/>
              </a:solidFill>
              <a:latin typeface="Arial"/>
            </a:endParaRPr>
          </a:p>
        </p:txBody>
      </p:sp>
      <p:sp>
        <p:nvSpPr>
          <p:cNvPr id="91" name="Text 34"/>
          <p:cNvSpPr/>
          <p:nvPr/>
        </p:nvSpPr>
        <p:spPr>
          <a:xfrm>
            <a:off x="457200" y="4224600"/>
            <a:ext cx="41144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PowerAMC / Draw.io / StarUML pour la modélisation</a:t>
            </a:r>
            <a:endParaRPr b="0" lang="fr-FR" sz="1000" spc="-1" strike="noStrike">
              <a:solidFill>
                <a:srgbClr val="000000"/>
              </a:solidFill>
              <a:latin typeface="Arial"/>
            </a:endParaRPr>
          </a:p>
        </p:txBody>
      </p:sp>
      <p:sp>
        <p:nvSpPr>
          <p:cNvPr id="92" name="Text 35"/>
          <p:cNvSpPr/>
          <p:nvPr/>
        </p:nvSpPr>
        <p:spPr>
          <a:xfrm>
            <a:off x="457200" y="4535280"/>
            <a:ext cx="41144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Architecture MVC (Model-View-Controller)</a:t>
            </a:r>
            <a:endParaRPr b="0" lang="fr-FR" sz="1000" spc="-1" strike="noStrike">
              <a:solidFill>
                <a:srgbClr val="000000"/>
              </a:solidFill>
              <a:latin typeface="Arial"/>
            </a:endParaRPr>
          </a:p>
        </p:txBody>
      </p:sp>
      <p:sp>
        <p:nvSpPr>
          <p:cNvPr id="93" name="Text 36"/>
          <p:cNvSpPr/>
          <p:nvPr/>
        </p:nvSpPr>
        <p:spPr>
          <a:xfrm>
            <a:off x="4754880" y="3913560"/>
            <a:ext cx="41144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Pattern Repository pour la couche données</a:t>
            </a:r>
            <a:endParaRPr b="0" lang="fr-FR" sz="1000" spc="-1" strike="noStrike">
              <a:solidFill>
                <a:srgbClr val="000000"/>
              </a:solidFill>
              <a:latin typeface="Arial"/>
            </a:endParaRPr>
          </a:p>
        </p:txBody>
      </p:sp>
      <p:sp>
        <p:nvSpPr>
          <p:cNvPr id="94" name="Text 37"/>
          <p:cNvSpPr/>
          <p:nvPr/>
        </p:nvSpPr>
        <p:spPr>
          <a:xfrm>
            <a:off x="4754880" y="4224600"/>
            <a:ext cx="41144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Principe SOLID appliqué aux classes métiers</a:t>
            </a:r>
            <a:endParaRPr b="0" lang="fr-FR"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4f8"/>
        </a:solidFill>
      </p:bgPr>
    </p:bg>
    <p:spTree>
      <p:nvGrpSpPr>
        <p:cNvPr id="1" name=""/>
        <p:cNvGrpSpPr/>
        <p:nvPr/>
      </p:nvGrpSpPr>
      <p:grpSpPr>
        <a:xfrm>
          <a:off x="0" y="0"/>
          <a:ext cx="0" cy="0"/>
          <a:chOff x="0" y="0"/>
          <a:chExt cx="0" cy="0"/>
        </a:xfrm>
      </p:grpSpPr>
      <p:sp>
        <p:nvSpPr>
          <p:cNvPr id="95" name="Shape 1"/>
          <p:cNvSpPr/>
          <p:nvPr/>
        </p:nvSpPr>
        <p:spPr>
          <a:xfrm>
            <a:off x="109800" y="0"/>
            <a:ext cx="9033840" cy="914040"/>
          </a:xfrm>
          <a:prstGeom prst="rect">
            <a:avLst/>
          </a:prstGeom>
          <a:solidFill>
            <a:schemeClr val="accent1">
              <a:lumMod val="60000"/>
              <a:lumOff val="40000"/>
            </a:schemeClr>
          </a:solidFill>
          <a:ln w="12700">
            <a:solidFill>
              <a:srgbClr val="243558"/>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96" name="Text 3"/>
          <p:cNvSpPr/>
          <p:nvPr/>
        </p:nvSpPr>
        <p:spPr>
          <a:xfrm>
            <a:off x="914400" y="91440"/>
            <a:ext cx="7314840" cy="712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chemeClr val="dk1"/>
                </a:solidFill>
                <a:latin typeface="Times New Roman"/>
                <a:ea typeface="Times New Roman"/>
              </a:rPr>
              <a:t>02 · Architecture Globale – MVC 3-Tiers</a:t>
            </a:r>
            <a:endParaRPr b="0" lang="fr-FR" sz="2200" spc="-1" strike="noStrike">
              <a:solidFill>
                <a:srgbClr val="000000"/>
              </a:solidFill>
              <a:latin typeface="Arial"/>
            </a:endParaRPr>
          </a:p>
        </p:txBody>
      </p:sp>
      <p:sp>
        <p:nvSpPr>
          <p:cNvPr id="97" name="Shape 4"/>
          <p:cNvSpPr/>
          <p:nvPr/>
        </p:nvSpPr>
        <p:spPr>
          <a:xfrm>
            <a:off x="228600" y="1005840"/>
            <a:ext cx="2742840" cy="3885840"/>
          </a:xfrm>
          <a:prstGeom prst="rect">
            <a:avLst/>
          </a:prstGeom>
          <a:noFill/>
          <a:ln w="25400">
            <a:solidFill>
              <a:srgbClr val="70ad47">
                <a:lumMod val="75000"/>
              </a:srgbClr>
            </a:solidFill>
            <a:round/>
          </a:ln>
          <a:effectLst>
            <a:outerShdw algn="bl" blurRad="101520" dir="8100000" dist="37674" rotWithShape="0">
              <a:srgbClr val="000000">
                <a:alpha val="18000"/>
              </a:srgbClr>
            </a:outerShdw>
          </a:effectLst>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98" name="Shape 5"/>
          <p:cNvSpPr/>
          <p:nvPr/>
        </p:nvSpPr>
        <p:spPr>
          <a:xfrm>
            <a:off x="228600" y="1005840"/>
            <a:ext cx="2742840" cy="639720"/>
          </a:xfrm>
          <a:prstGeom prst="rect">
            <a:avLst/>
          </a:prstGeom>
          <a:solidFill>
            <a:schemeClr val="accent6">
              <a:lumMod val="75000"/>
            </a:schemeClr>
          </a:solidFill>
          <a:ln w="12700">
            <a:solidFill>
              <a:srgbClr val="70ad47">
                <a:lumMod val="75000"/>
              </a:srgbClr>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99" name="Text 6"/>
          <p:cNvSpPr/>
          <p:nvPr/>
        </p:nvSpPr>
        <p:spPr>
          <a:xfrm>
            <a:off x="777240" y="1005840"/>
            <a:ext cx="214848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1b2a4a"/>
                </a:solidFill>
                <a:latin typeface="Times New Roman"/>
                <a:ea typeface="Times New Roman"/>
              </a:rPr>
              <a:t>COUCHE PRÉSENTATION</a:t>
            </a:r>
            <a:endParaRPr b="0" lang="fr-FR" sz="800" spc="-1" strike="noStrike">
              <a:solidFill>
                <a:srgbClr val="000000"/>
              </a:solidFill>
              <a:latin typeface="Arial"/>
            </a:endParaRPr>
          </a:p>
        </p:txBody>
      </p:sp>
      <p:sp>
        <p:nvSpPr>
          <p:cNvPr id="100" name="Text 7"/>
          <p:cNvSpPr/>
          <p:nvPr/>
        </p:nvSpPr>
        <p:spPr>
          <a:xfrm>
            <a:off x="777240" y="1353240"/>
            <a:ext cx="21484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1b2a4a"/>
                </a:solidFill>
                <a:latin typeface="Times New Roman"/>
                <a:ea typeface="Times New Roman"/>
              </a:rPr>
              <a:t>Frontend Web</a:t>
            </a:r>
            <a:endParaRPr b="0" lang="fr-FR" sz="900" spc="-1" strike="noStrike">
              <a:solidFill>
                <a:srgbClr val="000000"/>
              </a:solidFill>
              <a:latin typeface="Arial"/>
            </a:endParaRPr>
          </a:p>
        </p:txBody>
      </p:sp>
      <p:sp>
        <p:nvSpPr>
          <p:cNvPr id="101" name="Text 9"/>
          <p:cNvSpPr/>
          <p:nvPr/>
        </p:nvSpPr>
        <p:spPr>
          <a:xfrm>
            <a:off x="411480" y="1801440"/>
            <a:ext cx="2377080" cy="493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Interface HTML/CSS/JS</a:t>
            </a:r>
            <a:endParaRPr b="0" lang="fr-FR" sz="1000" spc="-1" strike="noStrike">
              <a:solidFill>
                <a:srgbClr val="000000"/>
              </a:solidFill>
              <a:latin typeface="Arial"/>
            </a:endParaRPr>
          </a:p>
        </p:txBody>
      </p:sp>
      <p:sp>
        <p:nvSpPr>
          <p:cNvPr id="102" name="Text 11"/>
          <p:cNvSpPr/>
          <p:nvPr/>
        </p:nvSpPr>
        <p:spPr>
          <a:xfrm>
            <a:off x="411480" y="2459880"/>
            <a:ext cx="2377080" cy="493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Dashboard temps réel</a:t>
            </a:r>
            <a:endParaRPr b="0" lang="fr-FR" sz="1000" spc="-1" strike="noStrike">
              <a:solidFill>
                <a:srgbClr val="000000"/>
              </a:solidFill>
              <a:latin typeface="Arial"/>
            </a:endParaRPr>
          </a:p>
        </p:txBody>
      </p:sp>
      <p:sp>
        <p:nvSpPr>
          <p:cNvPr id="103" name="Text 13"/>
          <p:cNvSpPr/>
          <p:nvPr/>
        </p:nvSpPr>
        <p:spPr>
          <a:xfrm>
            <a:off x="411480" y="3117960"/>
            <a:ext cx="2377080" cy="493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Formulaires sécurisés</a:t>
            </a:r>
            <a:endParaRPr b="0" lang="fr-FR" sz="1000" spc="-1" strike="noStrike">
              <a:solidFill>
                <a:srgbClr val="000000"/>
              </a:solidFill>
              <a:latin typeface="Arial"/>
            </a:endParaRPr>
          </a:p>
        </p:txBody>
      </p:sp>
      <p:sp>
        <p:nvSpPr>
          <p:cNvPr id="104" name="Text 15"/>
          <p:cNvSpPr/>
          <p:nvPr/>
        </p:nvSpPr>
        <p:spPr>
          <a:xfrm>
            <a:off x="411480" y="3776400"/>
            <a:ext cx="2377080" cy="493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Alertes visuelles</a:t>
            </a:r>
            <a:endParaRPr b="0" lang="fr-FR" sz="1000" spc="-1" strike="noStrike">
              <a:solidFill>
                <a:srgbClr val="000000"/>
              </a:solidFill>
              <a:latin typeface="Arial"/>
            </a:endParaRPr>
          </a:p>
        </p:txBody>
      </p:sp>
      <p:sp>
        <p:nvSpPr>
          <p:cNvPr id="105" name="Text 17"/>
          <p:cNvSpPr/>
          <p:nvPr/>
        </p:nvSpPr>
        <p:spPr>
          <a:xfrm>
            <a:off x="2961720" y="2779560"/>
            <a:ext cx="22824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400" spc="-1" strike="noStrike">
                <a:solidFill>
                  <a:srgbClr val="c9a84c"/>
                </a:solidFill>
                <a:latin typeface="Times New Roman"/>
                <a:ea typeface="Times New Roman"/>
              </a:rPr>
              <a:t>⇄</a:t>
            </a:r>
            <a:endParaRPr b="0" lang="fr-FR" sz="1400" spc="-1" strike="noStrike">
              <a:solidFill>
                <a:srgbClr val="000000"/>
              </a:solidFill>
              <a:latin typeface="Arial"/>
            </a:endParaRPr>
          </a:p>
        </p:txBody>
      </p:sp>
      <p:sp>
        <p:nvSpPr>
          <p:cNvPr id="106" name="Shape 18"/>
          <p:cNvSpPr/>
          <p:nvPr/>
        </p:nvSpPr>
        <p:spPr>
          <a:xfrm>
            <a:off x="3200400" y="1005840"/>
            <a:ext cx="2742840" cy="3885840"/>
          </a:xfrm>
          <a:prstGeom prst="rect">
            <a:avLst/>
          </a:prstGeom>
          <a:noFill/>
          <a:ln w="25400">
            <a:solidFill>
              <a:srgbClr val="ff0000"/>
            </a:solidFill>
            <a:round/>
          </a:ln>
          <a:effectLst>
            <a:outerShdw algn="bl" blurRad="101520" dir="8100000" dist="37674" rotWithShape="0">
              <a:srgbClr val="000000">
                <a:alpha val="18000"/>
              </a:srgbClr>
            </a:outerShdw>
          </a:effectLst>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07" name="Shape 19"/>
          <p:cNvSpPr/>
          <p:nvPr/>
        </p:nvSpPr>
        <p:spPr>
          <a:xfrm>
            <a:off x="3200400" y="1005840"/>
            <a:ext cx="2742840" cy="639720"/>
          </a:xfrm>
          <a:prstGeom prst="rect">
            <a:avLst/>
          </a:prstGeom>
          <a:solidFill>
            <a:srgbClr val="ff0000"/>
          </a:solidFill>
          <a:ln w="12700">
            <a:solidFill>
              <a:srgbClr val="ff0000"/>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08" name="Text 20"/>
          <p:cNvSpPr/>
          <p:nvPr/>
        </p:nvSpPr>
        <p:spPr>
          <a:xfrm>
            <a:off x="3749040" y="1005840"/>
            <a:ext cx="214848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1b2a4a"/>
                </a:solidFill>
                <a:latin typeface="Times New Roman"/>
                <a:ea typeface="Times New Roman"/>
              </a:rPr>
              <a:t>COUCHE LOGIQUE MÉTIER</a:t>
            </a:r>
            <a:endParaRPr b="0" lang="fr-FR" sz="800" spc="-1" strike="noStrike">
              <a:solidFill>
                <a:srgbClr val="000000"/>
              </a:solidFill>
              <a:latin typeface="Arial"/>
            </a:endParaRPr>
          </a:p>
        </p:txBody>
      </p:sp>
      <p:sp>
        <p:nvSpPr>
          <p:cNvPr id="109" name="Text 21"/>
          <p:cNvSpPr/>
          <p:nvPr/>
        </p:nvSpPr>
        <p:spPr>
          <a:xfrm>
            <a:off x="3749040" y="1353240"/>
            <a:ext cx="21484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1b2a4a"/>
                </a:solidFill>
                <a:latin typeface="Times New Roman"/>
                <a:ea typeface="Times New Roman"/>
              </a:rPr>
              <a:t>Backend (Python/Flask)</a:t>
            </a:r>
            <a:endParaRPr b="0" lang="fr-FR" sz="900" spc="-1" strike="noStrike">
              <a:solidFill>
                <a:srgbClr val="000000"/>
              </a:solidFill>
              <a:latin typeface="Arial"/>
            </a:endParaRPr>
          </a:p>
        </p:txBody>
      </p:sp>
      <p:sp>
        <p:nvSpPr>
          <p:cNvPr id="110" name="Text 23"/>
          <p:cNvSpPr/>
          <p:nvPr/>
        </p:nvSpPr>
        <p:spPr>
          <a:xfrm>
            <a:off x="3383280" y="1801440"/>
            <a:ext cx="2377080" cy="493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Contrôleurs REST API</a:t>
            </a:r>
            <a:endParaRPr b="0" lang="fr-FR" sz="1000" spc="-1" strike="noStrike">
              <a:solidFill>
                <a:srgbClr val="000000"/>
              </a:solidFill>
              <a:latin typeface="Arial"/>
            </a:endParaRPr>
          </a:p>
        </p:txBody>
      </p:sp>
      <p:sp>
        <p:nvSpPr>
          <p:cNvPr id="111" name="Text 25"/>
          <p:cNvSpPr/>
          <p:nvPr/>
        </p:nvSpPr>
        <p:spPr>
          <a:xfrm>
            <a:off x="3383280" y="2459880"/>
            <a:ext cx="2377080" cy="493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Service AppArmor Manager</a:t>
            </a:r>
            <a:endParaRPr b="0" lang="fr-FR" sz="1000" spc="-1" strike="noStrike">
              <a:solidFill>
                <a:srgbClr val="000000"/>
              </a:solidFill>
              <a:latin typeface="Arial"/>
            </a:endParaRPr>
          </a:p>
        </p:txBody>
      </p:sp>
      <p:sp>
        <p:nvSpPr>
          <p:cNvPr id="112" name="Text 27"/>
          <p:cNvSpPr/>
          <p:nvPr/>
        </p:nvSpPr>
        <p:spPr>
          <a:xfrm>
            <a:off x="3383280" y="3117960"/>
            <a:ext cx="2377080" cy="493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Service de détection</a:t>
            </a:r>
            <a:endParaRPr b="0" lang="fr-FR" sz="1000" spc="-1" strike="noStrike">
              <a:solidFill>
                <a:srgbClr val="000000"/>
              </a:solidFill>
              <a:latin typeface="Arial"/>
            </a:endParaRPr>
          </a:p>
        </p:txBody>
      </p:sp>
      <p:sp>
        <p:nvSpPr>
          <p:cNvPr id="113" name="Text 29"/>
          <p:cNvSpPr/>
          <p:nvPr/>
        </p:nvSpPr>
        <p:spPr>
          <a:xfrm>
            <a:off x="3383280" y="3776400"/>
            <a:ext cx="2377080" cy="493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Moteur de mitigation</a:t>
            </a:r>
            <a:endParaRPr b="0" lang="fr-FR" sz="1000" spc="-1" strike="noStrike">
              <a:solidFill>
                <a:srgbClr val="000000"/>
              </a:solidFill>
              <a:latin typeface="Arial"/>
            </a:endParaRPr>
          </a:p>
        </p:txBody>
      </p:sp>
      <p:sp>
        <p:nvSpPr>
          <p:cNvPr id="114" name="Text 31"/>
          <p:cNvSpPr/>
          <p:nvPr/>
        </p:nvSpPr>
        <p:spPr>
          <a:xfrm>
            <a:off x="5938920" y="2779560"/>
            <a:ext cx="22824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400" spc="-1" strike="noStrike">
                <a:solidFill>
                  <a:srgbClr val="c9a84c"/>
                </a:solidFill>
                <a:latin typeface="Times New Roman"/>
                <a:ea typeface="Times New Roman"/>
              </a:rPr>
              <a:t>⇄</a:t>
            </a:r>
            <a:endParaRPr b="0" lang="fr-FR" sz="1400" spc="-1" strike="noStrike">
              <a:solidFill>
                <a:srgbClr val="000000"/>
              </a:solidFill>
              <a:latin typeface="Arial"/>
            </a:endParaRPr>
          </a:p>
        </p:txBody>
      </p:sp>
      <p:sp>
        <p:nvSpPr>
          <p:cNvPr id="115" name="Shape 32"/>
          <p:cNvSpPr/>
          <p:nvPr/>
        </p:nvSpPr>
        <p:spPr>
          <a:xfrm>
            <a:off x="6172200" y="1005840"/>
            <a:ext cx="2742840" cy="3885840"/>
          </a:xfrm>
          <a:prstGeom prst="rect">
            <a:avLst/>
          </a:prstGeom>
          <a:noFill/>
          <a:ln w="25400">
            <a:solidFill>
              <a:srgbClr val="ffc000">
                <a:lumMod val="75000"/>
              </a:srgbClr>
            </a:solidFill>
            <a:round/>
          </a:ln>
          <a:effectLst>
            <a:outerShdw algn="bl" blurRad="101520" dir="8100000" dist="37674" rotWithShape="0">
              <a:srgbClr val="000000">
                <a:alpha val="18000"/>
              </a:srgbClr>
            </a:outerShdw>
          </a:effectLst>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16" name="Shape 33"/>
          <p:cNvSpPr/>
          <p:nvPr/>
        </p:nvSpPr>
        <p:spPr>
          <a:xfrm>
            <a:off x="6172200" y="1005840"/>
            <a:ext cx="2742840" cy="639720"/>
          </a:xfrm>
          <a:prstGeom prst="rect">
            <a:avLst/>
          </a:prstGeom>
          <a:solidFill>
            <a:schemeClr val="accent4">
              <a:lumMod val="75000"/>
            </a:schemeClr>
          </a:solidFill>
          <a:ln w="12700">
            <a:solidFill>
              <a:srgbClr val="ffc000">
                <a:lumMod val="75000"/>
              </a:srgbClr>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17" name="Text 34"/>
          <p:cNvSpPr/>
          <p:nvPr/>
        </p:nvSpPr>
        <p:spPr>
          <a:xfrm>
            <a:off x="6720840" y="1005840"/>
            <a:ext cx="214848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1b2a4a"/>
                </a:solidFill>
                <a:latin typeface="Times New Roman"/>
                <a:ea typeface="Times New Roman"/>
              </a:rPr>
              <a:t>COUCHE DONNÉES</a:t>
            </a:r>
            <a:endParaRPr b="0" lang="fr-FR" sz="800" spc="-1" strike="noStrike">
              <a:solidFill>
                <a:srgbClr val="000000"/>
              </a:solidFill>
              <a:latin typeface="Arial"/>
            </a:endParaRPr>
          </a:p>
        </p:txBody>
      </p:sp>
      <p:sp>
        <p:nvSpPr>
          <p:cNvPr id="118" name="Text 35"/>
          <p:cNvSpPr/>
          <p:nvPr/>
        </p:nvSpPr>
        <p:spPr>
          <a:xfrm>
            <a:off x="6720840" y="1353240"/>
            <a:ext cx="21484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1b2a4a"/>
                </a:solidFill>
                <a:latin typeface="Times New Roman"/>
                <a:ea typeface="Times New Roman"/>
              </a:rPr>
              <a:t>Persistance &amp; Système</a:t>
            </a:r>
            <a:endParaRPr b="0" lang="fr-FR" sz="900" spc="-1" strike="noStrike">
              <a:solidFill>
                <a:srgbClr val="000000"/>
              </a:solidFill>
              <a:latin typeface="Arial"/>
            </a:endParaRPr>
          </a:p>
        </p:txBody>
      </p:sp>
      <p:sp>
        <p:nvSpPr>
          <p:cNvPr id="119" name="Text 37"/>
          <p:cNvSpPr/>
          <p:nvPr/>
        </p:nvSpPr>
        <p:spPr>
          <a:xfrm>
            <a:off x="6355080" y="1801440"/>
            <a:ext cx="2377080" cy="493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Base SQLite / MariaDB</a:t>
            </a:r>
            <a:endParaRPr b="0" lang="fr-FR" sz="1000" spc="-1" strike="noStrike">
              <a:solidFill>
                <a:srgbClr val="000000"/>
              </a:solidFill>
              <a:latin typeface="Arial"/>
            </a:endParaRPr>
          </a:p>
        </p:txBody>
      </p:sp>
      <p:sp>
        <p:nvSpPr>
          <p:cNvPr id="120" name="Text 39"/>
          <p:cNvSpPr/>
          <p:nvPr/>
        </p:nvSpPr>
        <p:spPr>
          <a:xfrm>
            <a:off x="6355080" y="2459880"/>
            <a:ext cx="2377080" cy="493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Logs AppArmor (syslog)</a:t>
            </a:r>
            <a:endParaRPr b="0" lang="fr-FR" sz="1000" spc="-1" strike="noStrike">
              <a:solidFill>
                <a:srgbClr val="000000"/>
              </a:solidFill>
              <a:latin typeface="Arial"/>
            </a:endParaRPr>
          </a:p>
        </p:txBody>
      </p:sp>
      <p:sp>
        <p:nvSpPr>
          <p:cNvPr id="121" name="Text 41"/>
          <p:cNvSpPr/>
          <p:nvPr/>
        </p:nvSpPr>
        <p:spPr>
          <a:xfrm>
            <a:off x="6355080" y="3117960"/>
            <a:ext cx="2377080" cy="493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Profils .conf AppArmor</a:t>
            </a:r>
            <a:endParaRPr b="0" lang="fr-FR" sz="1000" spc="-1" strike="noStrike">
              <a:solidFill>
                <a:srgbClr val="000000"/>
              </a:solidFill>
              <a:latin typeface="Arial"/>
            </a:endParaRPr>
          </a:p>
        </p:txBody>
      </p:sp>
      <p:sp>
        <p:nvSpPr>
          <p:cNvPr id="122" name="Text 43"/>
          <p:cNvSpPr/>
          <p:nvPr/>
        </p:nvSpPr>
        <p:spPr>
          <a:xfrm>
            <a:off x="6355080" y="3776400"/>
            <a:ext cx="2377080" cy="493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chemeClr val="dk1"/>
                </a:solidFill>
                <a:latin typeface="Times New Roman"/>
                <a:ea typeface="Times New Roman"/>
              </a:rPr>
              <a:t>• </a:t>
            </a:r>
            <a:r>
              <a:rPr b="0" lang="en-US" sz="1000" spc="-1" strike="noStrike">
                <a:solidFill>
                  <a:schemeClr val="dk1"/>
                </a:solidFill>
                <a:latin typeface="Times New Roman"/>
                <a:ea typeface="Times New Roman"/>
              </a:rPr>
              <a:t>Système fichiers Ubuntu</a:t>
            </a:r>
            <a:endParaRPr b="0" lang="fr-FR"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3" name="Image 2" descr=""/>
          <p:cNvPicPr/>
          <p:nvPr/>
        </p:nvPicPr>
        <p:blipFill>
          <a:blip r:embed="rId1"/>
          <a:stretch/>
        </p:blipFill>
        <p:spPr>
          <a:xfrm>
            <a:off x="0" y="0"/>
            <a:ext cx="9143640" cy="514332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4" name="Image 3" descr=""/>
          <p:cNvPicPr/>
          <p:nvPr/>
        </p:nvPicPr>
        <p:blipFill>
          <a:blip r:embed="rId1"/>
          <a:stretch/>
        </p:blipFill>
        <p:spPr>
          <a:xfrm>
            <a:off x="0" y="0"/>
            <a:ext cx="9143640" cy="51433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5" name="Image 3" descr=""/>
          <p:cNvPicPr/>
          <p:nvPr/>
        </p:nvPicPr>
        <p:blipFill>
          <a:blip r:embed="rId1"/>
          <a:stretch/>
        </p:blipFill>
        <p:spPr>
          <a:xfrm>
            <a:off x="0" y="0"/>
            <a:ext cx="9143640" cy="51433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4f8"/>
        </a:solidFill>
      </p:bgPr>
    </p:bg>
    <p:spTree>
      <p:nvGrpSpPr>
        <p:cNvPr id="1" name=""/>
        <p:cNvGrpSpPr/>
        <p:nvPr/>
      </p:nvGrpSpPr>
      <p:grpSpPr>
        <a:xfrm>
          <a:off x="0" y="0"/>
          <a:ext cx="0" cy="0"/>
          <a:chOff x="0" y="0"/>
          <a:chExt cx="0" cy="0"/>
        </a:xfrm>
      </p:grpSpPr>
      <p:sp>
        <p:nvSpPr>
          <p:cNvPr id="126" name="Shape 1"/>
          <p:cNvSpPr/>
          <p:nvPr/>
        </p:nvSpPr>
        <p:spPr>
          <a:xfrm>
            <a:off x="109800" y="0"/>
            <a:ext cx="9033840" cy="914040"/>
          </a:xfrm>
          <a:prstGeom prst="rect">
            <a:avLst/>
          </a:prstGeom>
          <a:solidFill>
            <a:schemeClr val="accent1">
              <a:lumMod val="60000"/>
              <a:lumOff val="40000"/>
            </a:schemeClr>
          </a:solidFill>
          <a:ln w="12700">
            <a:solidFill>
              <a:srgbClr val="4472c4">
                <a:lumMod val="50000"/>
              </a:srgbClr>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27" name="Text 3"/>
          <p:cNvSpPr/>
          <p:nvPr/>
        </p:nvSpPr>
        <p:spPr>
          <a:xfrm>
            <a:off x="914400" y="91440"/>
            <a:ext cx="7314840" cy="712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chemeClr val="dk1"/>
                </a:solidFill>
                <a:latin typeface="Times New Roman"/>
                <a:ea typeface="Times New Roman"/>
              </a:rPr>
              <a:t>05 · Scénarios, Acteurs &amp; Contraintes</a:t>
            </a:r>
            <a:endParaRPr b="0" lang="fr-FR" sz="2200" spc="-1" strike="noStrike">
              <a:solidFill>
                <a:srgbClr val="000000"/>
              </a:solidFill>
              <a:latin typeface="Arial"/>
            </a:endParaRPr>
          </a:p>
        </p:txBody>
      </p:sp>
      <p:sp>
        <p:nvSpPr>
          <p:cNvPr id="128" name="Shape 4"/>
          <p:cNvSpPr/>
          <p:nvPr/>
        </p:nvSpPr>
        <p:spPr>
          <a:xfrm>
            <a:off x="182880" y="1024200"/>
            <a:ext cx="8777880" cy="1234080"/>
          </a:xfrm>
          <a:prstGeom prst="rect">
            <a:avLst/>
          </a:prstGeom>
          <a:noFill/>
          <a:ln w="1905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29" name="Shape 5"/>
          <p:cNvSpPr/>
          <p:nvPr/>
        </p:nvSpPr>
        <p:spPr>
          <a:xfrm>
            <a:off x="201240" y="1033200"/>
            <a:ext cx="914040" cy="1225080"/>
          </a:xfrm>
          <a:prstGeom prst="rect">
            <a:avLst/>
          </a:prstGeom>
          <a:noFill/>
          <a:ln w="1270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30" name="Text 6"/>
          <p:cNvSpPr/>
          <p:nvPr/>
        </p:nvSpPr>
        <p:spPr>
          <a:xfrm>
            <a:off x="182880" y="1389960"/>
            <a:ext cx="9140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1b2a4a"/>
                </a:solidFill>
                <a:latin typeface="Times New Roman"/>
                <a:ea typeface="Times New Roman"/>
              </a:rPr>
              <a:t>01</a:t>
            </a:r>
            <a:endParaRPr b="0" lang="fr-FR" sz="1100" spc="-1" strike="noStrike">
              <a:solidFill>
                <a:srgbClr val="000000"/>
              </a:solidFill>
              <a:latin typeface="Arial"/>
            </a:endParaRPr>
          </a:p>
        </p:txBody>
      </p:sp>
      <p:sp>
        <p:nvSpPr>
          <p:cNvPr id="131" name="Text 7"/>
          <p:cNvSpPr/>
          <p:nvPr/>
        </p:nvSpPr>
        <p:spPr>
          <a:xfrm>
            <a:off x="1188720" y="1069920"/>
            <a:ext cx="758916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chemeClr val="dk1"/>
                </a:solidFill>
                <a:latin typeface="Times New Roman"/>
                <a:ea typeface="Times New Roman"/>
              </a:rPr>
              <a:t>Gestion de profil AppArmor</a:t>
            </a:r>
            <a:endParaRPr b="0" lang="fr-FR" sz="1200" spc="-1" strike="noStrike">
              <a:solidFill>
                <a:srgbClr val="000000"/>
              </a:solidFill>
              <a:latin typeface="Arial"/>
            </a:endParaRPr>
          </a:p>
        </p:txBody>
      </p:sp>
      <p:sp>
        <p:nvSpPr>
          <p:cNvPr id="132" name="Text 8"/>
          <p:cNvSpPr/>
          <p:nvPr/>
        </p:nvSpPr>
        <p:spPr>
          <a:xfrm>
            <a:off x="1188720" y="1344240"/>
            <a:ext cx="758916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1" strike="noStrike">
                <a:solidFill>
                  <a:schemeClr val="dk1"/>
                </a:solidFill>
                <a:latin typeface="Times New Roman"/>
                <a:ea typeface="Times New Roman"/>
              </a:rPr>
              <a:t>Objectif : Créer, modifier et appliquer un profil de sécurité au système Linux</a:t>
            </a:r>
            <a:endParaRPr b="0" lang="fr-FR" sz="900" spc="-1" strike="noStrike">
              <a:solidFill>
                <a:srgbClr val="000000"/>
              </a:solidFill>
              <a:latin typeface="Arial"/>
            </a:endParaRPr>
          </a:p>
        </p:txBody>
      </p:sp>
      <p:sp>
        <p:nvSpPr>
          <p:cNvPr id="133" name="Text 9"/>
          <p:cNvSpPr/>
          <p:nvPr/>
        </p:nvSpPr>
        <p:spPr>
          <a:xfrm>
            <a:off x="1188720" y="1572840"/>
            <a:ext cx="75891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1" strike="noStrike">
                <a:solidFill>
                  <a:schemeClr val="dk1"/>
                </a:solidFill>
                <a:latin typeface="Times New Roman"/>
                <a:ea typeface="Times New Roman"/>
              </a:rPr>
              <a:t>Acteurs : Administrateur, Système AppArmor (Ubuntu)</a:t>
            </a:r>
            <a:endParaRPr b="0" lang="fr-FR" sz="900" spc="-1" strike="noStrike">
              <a:solidFill>
                <a:srgbClr val="000000"/>
              </a:solidFill>
              <a:latin typeface="Arial"/>
            </a:endParaRPr>
          </a:p>
        </p:txBody>
      </p:sp>
      <p:sp>
        <p:nvSpPr>
          <p:cNvPr id="134" name="Text 10"/>
          <p:cNvSpPr/>
          <p:nvPr/>
        </p:nvSpPr>
        <p:spPr>
          <a:xfrm>
            <a:off x="1188720" y="1783080"/>
            <a:ext cx="75891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1" strike="noStrike">
                <a:solidFill>
                  <a:schemeClr val="dk1"/>
                </a:solidFill>
                <a:latin typeface="Times New Roman"/>
                <a:ea typeface="Times New Roman"/>
              </a:rPr>
              <a:t>Contrainte : Droits root requis. Profil syntaxiquement valide.</a:t>
            </a:r>
            <a:endParaRPr b="0" lang="fr-FR" sz="900" spc="-1" strike="noStrike">
              <a:solidFill>
                <a:srgbClr val="000000"/>
              </a:solidFill>
              <a:latin typeface="Arial"/>
            </a:endParaRPr>
          </a:p>
        </p:txBody>
      </p:sp>
      <p:sp>
        <p:nvSpPr>
          <p:cNvPr id="135" name="Text 11"/>
          <p:cNvSpPr/>
          <p:nvPr/>
        </p:nvSpPr>
        <p:spPr>
          <a:xfrm>
            <a:off x="1188720" y="1993320"/>
            <a:ext cx="758916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Étapes : 1. Admin accède à «Profils» → 2. Crée/édite le profil → 3. Choisit mode ENFORCE/COMPLAIN → 4. Système exécute aa-enforce → 5. Confirmation journalisée</a:t>
            </a:r>
            <a:endParaRPr b="0" lang="fr-FR" sz="850" spc="-1" strike="noStrike">
              <a:solidFill>
                <a:srgbClr val="000000"/>
              </a:solidFill>
              <a:latin typeface="Arial"/>
            </a:endParaRPr>
          </a:p>
        </p:txBody>
      </p:sp>
      <p:sp>
        <p:nvSpPr>
          <p:cNvPr id="136" name="Shape 12"/>
          <p:cNvSpPr/>
          <p:nvPr/>
        </p:nvSpPr>
        <p:spPr>
          <a:xfrm>
            <a:off x="182880" y="2377440"/>
            <a:ext cx="8777880" cy="1234080"/>
          </a:xfrm>
          <a:prstGeom prst="rect">
            <a:avLst/>
          </a:prstGeom>
          <a:noFill/>
          <a:ln w="1905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37" name="Shape 13"/>
          <p:cNvSpPr/>
          <p:nvPr/>
        </p:nvSpPr>
        <p:spPr>
          <a:xfrm>
            <a:off x="182880" y="2377440"/>
            <a:ext cx="914040" cy="1234080"/>
          </a:xfrm>
          <a:prstGeom prst="rect">
            <a:avLst/>
          </a:prstGeom>
          <a:noFill/>
          <a:ln w="1270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38" name="Text 14"/>
          <p:cNvSpPr/>
          <p:nvPr/>
        </p:nvSpPr>
        <p:spPr>
          <a:xfrm>
            <a:off x="182880" y="2743200"/>
            <a:ext cx="9140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1b2a4a"/>
                </a:solidFill>
                <a:latin typeface="Times New Roman"/>
                <a:ea typeface="Times New Roman"/>
              </a:rPr>
              <a:t>02</a:t>
            </a:r>
            <a:endParaRPr b="0" lang="fr-FR" sz="1100" spc="-1" strike="noStrike">
              <a:solidFill>
                <a:srgbClr val="000000"/>
              </a:solidFill>
              <a:latin typeface="Arial"/>
            </a:endParaRPr>
          </a:p>
        </p:txBody>
      </p:sp>
      <p:sp>
        <p:nvSpPr>
          <p:cNvPr id="139" name="Text 15"/>
          <p:cNvSpPr/>
          <p:nvPr/>
        </p:nvSpPr>
        <p:spPr>
          <a:xfrm>
            <a:off x="1188720" y="2423160"/>
            <a:ext cx="758916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chemeClr val="dk1"/>
                </a:solidFill>
                <a:latin typeface="Times New Roman"/>
                <a:ea typeface="Times New Roman"/>
              </a:rPr>
              <a:t>Détection &amp; Mitigation de menace</a:t>
            </a:r>
            <a:endParaRPr b="0" lang="fr-FR" sz="1200" spc="-1" strike="noStrike">
              <a:solidFill>
                <a:srgbClr val="000000"/>
              </a:solidFill>
              <a:latin typeface="Arial"/>
            </a:endParaRPr>
          </a:p>
        </p:txBody>
      </p:sp>
      <p:sp>
        <p:nvSpPr>
          <p:cNvPr id="140" name="Text 16"/>
          <p:cNvSpPr/>
          <p:nvPr/>
        </p:nvSpPr>
        <p:spPr>
          <a:xfrm>
            <a:off x="1188720" y="2697480"/>
            <a:ext cx="758916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1" strike="noStrike">
                <a:solidFill>
                  <a:schemeClr val="dk1"/>
                </a:solidFill>
                <a:latin typeface="Times New Roman"/>
                <a:ea typeface="Times New Roman"/>
              </a:rPr>
              <a:t>Objectif : Détecter une violation AppArmor et déclencher une réponse automatique</a:t>
            </a:r>
            <a:endParaRPr b="0" lang="fr-FR" sz="900" spc="-1" strike="noStrike">
              <a:solidFill>
                <a:srgbClr val="000000"/>
              </a:solidFill>
              <a:latin typeface="Arial"/>
            </a:endParaRPr>
          </a:p>
        </p:txBody>
      </p:sp>
      <p:sp>
        <p:nvSpPr>
          <p:cNvPr id="141" name="Text 17"/>
          <p:cNvSpPr/>
          <p:nvPr/>
        </p:nvSpPr>
        <p:spPr>
          <a:xfrm>
            <a:off x="1188720" y="2926080"/>
            <a:ext cx="75891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1" strike="noStrike">
                <a:solidFill>
                  <a:schemeClr val="dk1"/>
                </a:solidFill>
                <a:latin typeface="Times New Roman"/>
                <a:ea typeface="Times New Roman"/>
              </a:rPr>
              <a:t>Acteurs : Système (auto), Administrateur, AppArmor Kernel Module</a:t>
            </a:r>
            <a:endParaRPr b="0" lang="fr-FR" sz="900" spc="-1" strike="noStrike">
              <a:solidFill>
                <a:srgbClr val="000000"/>
              </a:solidFill>
              <a:latin typeface="Arial"/>
            </a:endParaRPr>
          </a:p>
        </p:txBody>
      </p:sp>
      <p:sp>
        <p:nvSpPr>
          <p:cNvPr id="142" name="Text 18"/>
          <p:cNvSpPr/>
          <p:nvPr/>
        </p:nvSpPr>
        <p:spPr>
          <a:xfrm>
            <a:off x="1188720" y="3136320"/>
            <a:ext cx="75891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1" strike="noStrike">
                <a:solidFill>
                  <a:schemeClr val="dk1"/>
                </a:solidFill>
                <a:latin typeface="Times New Roman"/>
                <a:ea typeface="Times New Roman"/>
              </a:rPr>
              <a:t>Contrainte : Mode ENFORCE actif. Règles correctement définies.</a:t>
            </a:r>
            <a:endParaRPr b="0" lang="fr-FR" sz="900" spc="-1" strike="noStrike">
              <a:solidFill>
                <a:srgbClr val="000000"/>
              </a:solidFill>
              <a:latin typeface="Arial"/>
            </a:endParaRPr>
          </a:p>
        </p:txBody>
      </p:sp>
      <p:sp>
        <p:nvSpPr>
          <p:cNvPr id="143" name="Text 19"/>
          <p:cNvSpPr/>
          <p:nvPr/>
        </p:nvSpPr>
        <p:spPr>
          <a:xfrm>
            <a:off x="1188720" y="3346560"/>
            <a:ext cx="758916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Étapes : 1. AppArmor logue une violation → 2. Système corrèle les événements → 3. Alerte générée sur dashboard → 4. Admin déclenche mitigation → 5. Processus bloqué/isolé</a:t>
            </a:r>
            <a:endParaRPr b="0" lang="fr-FR" sz="850" spc="-1" strike="noStrike">
              <a:solidFill>
                <a:srgbClr val="000000"/>
              </a:solidFill>
              <a:latin typeface="Arial"/>
            </a:endParaRPr>
          </a:p>
        </p:txBody>
      </p:sp>
      <p:sp>
        <p:nvSpPr>
          <p:cNvPr id="144" name="Shape 20"/>
          <p:cNvSpPr/>
          <p:nvPr/>
        </p:nvSpPr>
        <p:spPr>
          <a:xfrm>
            <a:off x="182880" y="3730680"/>
            <a:ext cx="8777880" cy="1234080"/>
          </a:xfrm>
          <a:prstGeom prst="rect">
            <a:avLst/>
          </a:prstGeom>
          <a:noFill/>
          <a:ln w="1905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45" name="Shape 21"/>
          <p:cNvSpPr/>
          <p:nvPr/>
        </p:nvSpPr>
        <p:spPr>
          <a:xfrm>
            <a:off x="182880" y="3730680"/>
            <a:ext cx="914040" cy="1234080"/>
          </a:xfrm>
          <a:prstGeom prst="rect">
            <a:avLst/>
          </a:prstGeom>
          <a:noFill/>
          <a:ln w="1270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46" name="Text 22"/>
          <p:cNvSpPr/>
          <p:nvPr/>
        </p:nvSpPr>
        <p:spPr>
          <a:xfrm>
            <a:off x="182880" y="4096440"/>
            <a:ext cx="91404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1b2a4a"/>
                </a:solidFill>
                <a:latin typeface="Times New Roman"/>
                <a:ea typeface="Times New Roman"/>
              </a:rPr>
              <a:t>SC-03</a:t>
            </a:r>
            <a:endParaRPr b="0" lang="fr-FR" sz="1100" spc="-1" strike="noStrike">
              <a:solidFill>
                <a:srgbClr val="000000"/>
              </a:solidFill>
              <a:latin typeface="Arial"/>
            </a:endParaRPr>
          </a:p>
        </p:txBody>
      </p:sp>
      <p:sp>
        <p:nvSpPr>
          <p:cNvPr id="147" name="Text 23"/>
          <p:cNvSpPr/>
          <p:nvPr/>
        </p:nvSpPr>
        <p:spPr>
          <a:xfrm>
            <a:off x="1188720" y="3776400"/>
            <a:ext cx="758916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chemeClr val="dk1"/>
                </a:solidFill>
                <a:latin typeface="Times New Roman"/>
                <a:ea typeface="Times New Roman"/>
              </a:rPr>
              <a:t>Consultation des logs temps réel</a:t>
            </a:r>
            <a:endParaRPr b="0" lang="fr-FR" sz="1200" spc="-1" strike="noStrike">
              <a:solidFill>
                <a:srgbClr val="000000"/>
              </a:solidFill>
              <a:latin typeface="Arial"/>
            </a:endParaRPr>
          </a:p>
        </p:txBody>
      </p:sp>
      <p:sp>
        <p:nvSpPr>
          <p:cNvPr id="148" name="Text 24"/>
          <p:cNvSpPr/>
          <p:nvPr/>
        </p:nvSpPr>
        <p:spPr>
          <a:xfrm>
            <a:off x="1188720" y="4050720"/>
            <a:ext cx="758916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1" strike="noStrike">
                <a:solidFill>
                  <a:schemeClr val="dk1"/>
                </a:solidFill>
                <a:latin typeface="Times New Roman"/>
                <a:ea typeface="Times New Roman"/>
              </a:rPr>
              <a:t>Objectif : Visualiser, filtrer et exporter les journaux AppArmor</a:t>
            </a:r>
            <a:endParaRPr b="0" lang="fr-FR" sz="900" spc="-1" strike="noStrike">
              <a:solidFill>
                <a:srgbClr val="000000"/>
              </a:solidFill>
              <a:latin typeface="Arial"/>
            </a:endParaRPr>
          </a:p>
        </p:txBody>
      </p:sp>
      <p:sp>
        <p:nvSpPr>
          <p:cNvPr id="149" name="Text 25"/>
          <p:cNvSpPr/>
          <p:nvPr/>
        </p:nvSpPr>
        <p:spPr>
          <a:xfrm>
            <a:off x="1188720" y="4279320"/>
            <a:ext cx="75891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1" strike="noStrike">
                <a:solidFill>
                  <a:schemeClr val="dk1"/>
                </a:solidFill>
                <a:latin typeface="Times New Roman"/>
                <a:ea typeface="Times New Roman"/>
              </a:rPr>
              <a:t>Acteurs : Auditeur / Administrateur</a:t>
            </a:r>
            <a:endParaRPr b="0" lang="fr-FR" sz="900" spc="-1" strike="noStrike">
              <a:solidFill>
                <a:srgbClr val="000000"/>
              </a:solidFill>
              <a:latin typeface="Arial"/>
            </a:endParaRPr>
          </a:p>
        </p:txBody>
      </p:sp>
      <p:sp>
        <p:nvSpPr>
          <p:cNvPr id="150" name="Text 26"/>
          <p:cNvSpPr/>
          <p:nvPr/>
        </p:nvSpPr>
        <p:spPr>
          <a:xfrm>
            <a:off x="1188720" y="4489560"/>
            <a:ext cx="7589160" cy="20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pc="-1" strike="noStrike">
                <a:solidFill>
                  <a:schemeClr val="dk1"/>
                </a:solidFill>
                <a:latin typeface="Times New Roman"/>
                <a:ea typeface="Times New Roman"/>
              </a:rPr>
              <a:t>Contrainte : Connexion active. Droits lecture logs système.</a:t>
            </a:r>
            <a:endParaRPr b="0" lang="fr-FR" sz="900" spc="-1" strike="noStrike">
              <a:solidFill>
                <a:srgbClr val="000000"/>
              </a:solidFill>
              <a:latin typeface="Arial"/>
            </a:endParaRPr>
          </a:p>
        </p:txBody>
      </p:sp>
      <p:sp>
        <p:nvSpPr>
          <p:cNvPr id="151" name="Text 27"/>
          <p:cNvSpPr/>
          <p:nvPr/>
        </p:nvSpPr>
        <p:spPr>
          <a:xfrm>
            <a:off x="1188720" y="4700160"/>
            <a:ext cx="758916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Étapes : 1. Accès section Logs → 2. Application de filtres (date, profil, type) → 3. Affichage temps réel </a:t>
            </a:r>
            <a:endParaRPr b="0" lang="fr-F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4f8"/>
        </a:solidFill>
      </p:bgPr>
    </p:bg>
    <p:spTree>
      <p:nvGrpSpPr>
        <p:cNvPr id="1" name=""/>
        <p:cNvGrpSpPr/>
        <p:nvPr/>
      </p:nvGrpSpPr>
      <p:grpSpPr>
        <a:xfrm>
          <a:off x="0" y="0"/>
          <a:ext cx="0" cy="0"/>
          <a:chOff x="0" y="0"/>
          <a:chExt cx="0" cy="0"/>
        </a:xfrm>
      </p:grpSpPr>
      <p:sp>
        <p:nvSpPr>
          <p:cNvPr id="152" name="Shape 1"/>
          <p:cNvSpPr/>
          <p:nvPr/>
        </p:nvSpPr>
        <p:spPr>
          <a:xfrm>
            <a:off x="109800" y="0"/>
            <a:ext cx="9033840" cy="914040"/>
          </a:xfrm>
          <a:prstGeom prst="rect">
            <a:avLst/>
          </a:prstGeom>
          <a:solidFill>
            <a:schemeClr val="accent1">
              <a:lumMod val="60000"/>
              <a:lumOff val="40000"/>
            </a:schemeClr>
          </a:solidFill>
          <a:ln w="12700">
            <a:solidFill>
              <a:srgbClr val="4472c4">
                <a:lumMod val="50000"/>
              </a:srgbClr>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53" name="Text 3"/>
          <p:cNvSpPr/>
          <p:nvPr/>
        </p:nvSpPr>
        <p:spPr>
          <a:xfrm>
            <a:off x="914400" y="91440"/>
            <a:ext cx="7314840" cy="712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chemeClr val="dk1"/>
                </a:solidFill>
                <a:latin typeface="Times New Roman"/>
                <a:ea typeface="Times New Roman"/>
              </a:rPr>
              <a:t>06 · Contraintes &amp; Solutions AppArmor</a:t>
            </a:r>
            <a:endParaRPr b="0" lang="fr-FR" sz="2200" spc="-1" strike="noStrike">
              <a:solidFill>
                <a:srgbClr val="000000"/>
              </a:solidFill>
              <a:latin typeface="Arial"/>
            </a:endParaRPr>
          </a:p>
        </p:txBody>
      </p:sp>
      <p:sp>
        <p:nvSpPr>
          <p:cNvPr id="154" name="Shape 4"/>
          <p:cNvSpPr/>
          <p:nvPr/>
        </p:nvSpPr>
        <p:spPr>
          <a:xfrm>
            <a:off x="182880" y="1005840"/>
            <a:ext cx="4251600" cy="1279800"/>
          </a:xfrm>
          <a:prstGeom prst="rect">
            <a:avLst/>
          </a:prstGeom>
          <a:noFill/>
          <a:ln w="1524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55" name="Shape 5"/>
          <p:cNvSpPr/>
          <p:nvPr/>
        </p:nvSpPr>
        <p:spPr>
          <a:xfrm>
            <a:off x="182880" y="1005840"/>
            <a:ext cx="1005480" cy="273960"/>
          </a:xfrm>
          <a:prstGeom prst="rect">
            <a:avLst/>
          </a:prstGeom>
          <a:noFill/>
          <a:ln w="1270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56" name="Text 6"/>
          <p:cNvSpPr/>
          <p:nvPr/>
        </p:nvSpPr>
        <p:spPr>
          <a:xfrm>
            <a:off x="182880" y="1005840"/>
            <a:ext cx="10054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50" spc="-1" strike="noStrike" u="sng">
                <a:solidFill>
                  <a:schemeClr val="dk1"/>
                </a:solidFill>
                <a:uFillTx/>
                <a:latin typeface="Times New Roman"/>
                <a:ea typeface="Times New Roman"/>
              </a:rPr>
              <a:t>Technique</a:t>
            </a:r>
            <a:endParaRPr b="0" lang="fr-FR" sz="750" spc="-1" strike="noStrike">
              <a:solidFill>
                <a:srgbClr val="000000"/>
              </a:solidFill>
              <a:latin typeface="Arial"/>
            </a:endParaRPr>
          </a:p>
        </p:txBody>
      </p:sp>
      <p:sp>
        <p:nvSpPr>
          <p:cNvPr id="157" name="Text 7"/>
          <p:cNvSpPr/>
          <p:nvPr/>
        </p:nvSpPr>
        <p:spPr>
          <a:xfrm>
            <a:off x="274320" y="1298520"/>
            <a:ext cx="406872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chemeClr val="dk1"/>
                </a:solidFill>
                <a:latin typeface="Times New Roman"/>
                <a:ea typeface="Times New Roman"/>
              </a:rPr>
              <a:t>Accès root requis</a:t>
            </a:r>
            <a:endParaRPr b="0" lang="fr-FR" sz="1000" spc="-1" strike="noStrike">
              <a:solidFill>
                <a:srgbClr val="000000"/>
              </a:solidFill>
              <a:latin typeface="Arial"/>
            </a:endParaRPr>
          </a:p>
        </p:txBody>
      </p:sp>
      <p:sp>
        <p:nvSpPr>
          <p:cNvPr id="158" name="Text 8"/>
          <p:cNvSpPr/>
          <p:nvPr/>
        </p:nvSpPr>
        <p:spPr>
          <a:xfrm>
            <a:off x="274320" y="1563480"/>
            <a:ext cx="406872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AppArmor exige des privilèges élevés pour appliquer les profils</a:t>
            </a:r>
            <a:endParaRPr b="0" lang="fr-FR" sz="850" spc="-1" strike="noStrike">
              <a:solidFill>
                <a:srgbClr val="000000"/>
              </a:solidFill>
              <a:latin typeface="Arial"/>
            </a:endParaRPr>
          </a:p>
        </p:txBody>
      </p:sp>
      <p:sp>
        <p:nvSpPr>
          <p:cNvPr id="159" name="Text 10"/>
          <p:cNvSpPr/>
          <p:nvPr/>
        </p:nvSpPr>
        <p:spPr>
          <a:xfrm>
            <a:off x="274320" y="1892880"/>
            <a:ext cx="40687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Utilisation de scripts sudoers dédiés + isolation de la couche système via un service backend sécurisé</a:t>
            </a:r>
            <a:endParaRPr b="0" lang="fr-FR" sz="850" spc="-1" strike="noStrike">
              <a:solidFill>
                <a:srgbClr val="000000"/>
              </a:solidFill>
              <a:latin typeface="Arial"/>
            </a:endParaRPr>
          </a:p>
        </p:txBody>
      </p:sp>
      <p:sp>
        <p:nvSpPr>
          <p:cNvPr id="160" name="Shape 11"/>
          <p:cNvSpPr/>
          <p:nvPr/>
        </p:nvSpPr>
        <p:spPr>
          <a:xfrm>
            <a:off x="4617720" y="1005840"/>
            <a:ext cx="4251600" cy="1279800"/>
          </a:xfrm>
          <a:prstGeom prst="rect">
            <a:avLst/>
          </a:prstGeom>
          <a:noFill/>
          <a:ln w="1524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61" name="Text 13"/>
          <p:cNvSpPr/>
          <p:nvPr/>
        </p:nvSpPr>
        <p:spPr>
          <a:xfrm>
            <a:off x="4617720" y="1005840"/>
            <a:ext cx="10054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50" spc="-1" strike="noStrike" u="sng">
                <a:solidFill>
                  <a:schemeClr val="dk1"/>
                </a:solidFill>
                <a:uFillTx/>
                <a:latin typeface="Times New Roman"/>
                <a:ea typeface="Times New Roman"/>
              </a:rPr>
              <a:t>Sécurité</a:t>
            </a:r>
            <a:endParaRPr b="0" lang="fr-FR" sz="750" spc="-1" strike="noStrike">
              <a:solidFill>
                <a:srgbClr val="000000"/>
              </a:solidFill>
              <a:latin typeface="Arial"/>
            </a:endParaRPr>
          </a:p>
        </p:txBody>
      </p:sp>
      <p:sp>
        <p:nvSpPr>
          <p:cNvPr id="162" name="Text 14"/>
          <p:cNvSpPr/>
          <p:nvPr/>
        </p:nvSpPr>
        <p:spPr>
          <a:xfrm>
            <a:off x="4709160" y="1298520"/>
            <a:ext cx="406872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chemeClr val="dk1"/>
                </a:solidFill>
                <a:latin typeface="Times New Roman"/>
                <a:ea typeface="Times New Roman"/>
              </a:rPr>
              <a:t> </a:t>
            </a:r>
            <a:r>
              <a:rPr b="1" lang="en-US" sz="1000" spc="-1" strike="noStrike">
                <a:solidFill>
                  <a:schemeClr val="dk1"/>
                </a:solidFill>
                <a:latin typeface="Times New Roman"/>
                <a:ea typeface="Times New Roman"/>
              </a:rPr>
              <a:t>Sécurisation de l'interface web</a:t>
            </a:r>
            <a:endParaRPr b="0" lang="fr-FR" sz="1000" spc="-1" strike="noStrike">
              <a:solidFill>
                <a:srgbClr val="000000"/>
              </a:solidFill>
              <a:latin typeface="Arial"/>
            </a:endParaRPr>
          </a:p>
        </p:txBody>
      </p:sp>
      <p:sp>
        <p:nvSpPr>
          <p:cNvPr id="163" name="Text 15"/>
          <p:cNvSpPr/>
          <p:nvPr/>
        </p:nvSpPr>
        <p:spPr>
          <a:xfrm>
            <a:off x="4709160" y="1563480"/>
            <a:ext cx="406872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L'interface elle-même peut être vecteur d'attaque (XSS, CSRF, injection)</a:t>
            </a:r>
            <a:endParaRPr b="0" lang="fr-FR" sz="850" spc="-1" strike="noStrike">
              <a:solidFill>
                <a:srgbClr val="000000"/>
              </a:solidFill>
              <a:latin typeface="Arial"/>
            </a:endParaRPr>
          </a:p>
        </p:txBody>
      </p:sp>
      <p:sp>
        <p:nvSpPr>
          <p:cNvPr id="164" name="Text 17"/>
          <p:cNvSpPr/>
          <p:nvPr/>
        </p:nvSpPr>
        <p:spPr>
          <a:xfrm>
            <a:off x="4709160" y="1892880"/>
            <a:ext cx="40687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HTTPS/TLS, tokens CSRF, validation des entrées, hashage bcrypt, headers de sécurité HTTP stricts</a:t>
            </a:r>
            <a:endParaRPr b="0" lang="fr-FR" sz="850" spc="-1" strike="noStrike">
              <a:solidFill>
                <a:srgbClr val="000000"/>
              </a:solidFill>
              <a:latin typeface="Arial"/>
            </a:endParaRPr>
          </a:p>
        </p:txBody>
      </p:sp>
      <p:sp>
        <p:nvSpPr>
          <p:cNvPr id="165" name="Shape 18"/>
          <p:cNvSpPr/>
          <p:nvPr/>
        </p:nvSpPr>
        <p:spPr>
          <a:xfrm>
            <a:off x="182880" y="2395800"/>
            <a:ext cx="4251600" cy="1279800"/>
          </a:xfrm>
          <a:prstGeom prst="rect">
            <a:avLst/>
          </a:prstGeom>
          <a:noFill/>
          <a:ln w="1524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66" name="Text 20"/>
          <p:cNvSpPr/>
          <p:nvPr/>
        </p:nvSpPr>
        <p:spPr>
          <a:xfrm>
            <a:off x="182880" y="2395800"/>
            <a:ext cx="10054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50" spc="-1" strike="noStrike" u="sng">
                <a:solidFill>
                  <a:schemeClr val="dk1"/>
                </a:solidFill>
                <a:uFillTx/>
                <a:latin typeface="Times New Roman"/>
                <a:ea typeface="Times New Roman"/>
              </a:rPr>
              <a:t>Performance</a:t>
            </a:r>
            <a:endParaRPr b="0" lang="fr-FR" sz="750" spc="-1" strike="noStrike">
              <a:solidFill>
                <a:srgbClr val="000000"/>
              </a:solidFill>
              <a:latin typeface="Arial"/>
            </a:endParaRPr>
          </a:p>
        </p:txBody>
      </p:sp>
      <p:sp>
        <p:nvSpPr>
          <p:cNvPr id="167" name="Text 21"/>
          <p:cNvSpPr/>
          <p:nvPr/>
        </p:nvSpPr>
        <p:spPr>
          <a:xfrm>
            <a:off x="274320" y="2688480"/>
            <a:ext cx="406872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chemeClr val="dk1"/>
                </a:solidFill>
                <a:latin typeface="Times New Roman"/>
                <a:ea typeface="Times New Roman"/>
              </a:rPr>
              <a:t>Temps réel des logs</a:t>
            </a:r>
            <a:endParaRPr b="0" lang="fr-FR" sz="1000" spc="-1" strike="noStrike">
              <a:solidFill>
                <a:srgbClr val="000000"/>
              </a:solidFill>
              <a:latin typeface="Arial"/>
            </a:endParaRPr>
          </a:p>
        </p:txBody>
      </p:sp>
      <p:sp>
        <p:nvSpPr>
          <p:cNvPr id="168" name="Text 22"/>
          <p:cNvSpPr/>
          <p:nvPr/>
        </p:nvSpPr>
        <p:spPr>
          <a:xfrm>
            <a:off x="274320" y="2953440"/>
            <a:ext cx="406872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850" spc="-1" strike="noStrike">
                <a:solidFill>
                  <a:schemeClr val="dk1"/>
                </a:solidFill>
                <a:latin typeface="Times New Roman"/>
                <a:ea typeface="Times New Roman"/>
              </a:rPr>
              <a:t>Lecture en continu des logs syslog sans surcharge du système</a:t>
            </a:r>
            <a:endParaRPr b="0" lang="fr-FR" sz="850" spc="-1" strike="noStrike">
              <a:solidFill>
                <a:srgbClr val="000000"/>
              </a:solidFill>
              <a:latin typeface="Arial"/>
            </a:endParaRPr>
          </a:p>
        </p:txBody>
      </p:sp>
      <p:sp>
        <p:nvSpPr>
          <p:cNvPr id="169" name="Text 24"/>
          <p:cNvSpPr/>
          <p:nvPr/>
        </p:nvSpPr>
        <p:spPr>
          <a:xfrm>
            <a:off x="274320" y="3282840"/>
            <a:ext cx="40687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 </a:t>
            </a:r>
            <a:r>
              <a:rPr b="0" lang="en-US" sz="850" spc="-1" strike="noStrike">
                <a:solidFill>
                  <a:schemeClr val="dk1"/>
                </a:solidFill>
                <a:latin typeface="Times New Roman"/>
                <a:ea typeface="Times New Roman"/>
              </a:rPr>
              <a:t>Polling optimisé + WebSocket optionnel. Cache en mémoire des 100 derniers événements.</a:t>
            </a:r>
            <a:endParaRPr b="0" lang="fr-FR" sz="850" spc="-1" strike="noStrike">
              <a:solidFill>
                <a:srgbClr val="000000"/>
              </a:solidFill>
              <a:latin typeface="Arial"/>
            </a:endParaRPr>
          </a:p>
        </p:txBody>
      </p:sp>
      <p:sp>
        <p:nvSpPr>
          <p:cNvPr id="170" name="Shape 25"/>
          <p:cNvSpPr/>
          <p:nvPr/>
        </p:nvSpPr>
        <p:spPr>
          <a:xfrm>
            <a:off x="4617720" y="2395800"/>
            <a:ext cx="4251600" cy="1279800"/>
          </a:xfrm>
          <a:prstGeom prst="rect">
            <a:avLst/>
          </a:prstGeom>
          <a:noFill/>
          <a:ln w="1524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71" name="Text 27"/>
          <p:cNvSpPr/>
          <p:nvPr/>
        </p:nvSpPr>
        <p:spPr>
          <a:xfrm>
            <a:off x="4617720" y="2395800"/>
            <a:ext cx="10054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50" spc="-1" strike="noStrike" u="sng">
                <a:solidFill>
                  <a:schemeClr val="dk1"/>
                </a:solidFill>
                <a:uFillTx/>
                <a:latin typeface="Times New Roman"/>
                <a:ea typeface="Times New Roman"/>
              </a:rPr>
              <a:t>Architecture</a:t>
            </a:r>
            <a:endParaRPr b="0" lang="fr-FR" sz="750" spc="-1" strike="noStrike">
              <a:solidFill>
                <a:srgbClr val="000000"/>
              </a:solidFill>
              <a:latin typeface="Arial"/>
            </a:endParaRPr>
          </a:p>
        </p:txBody>
      </p:sp>
      <p:sp>
        <p:nvSpPr>
          <p:cNvPr id="172" name="Text 28"/>
          <p:cNvSpPr/>
          <p:nvPr/>
        </p:nvSpPr>
        <p:spPr>
          <a:xfrm>
            <a:off x="4709160" y="2688480"/>
            <a:ext cx="406872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chemeClr val="dk1"/>
                </a:solidFill>
                <a:latin typeface="Times New Roman"/>
                <a:ea typeface="Times New Roman"/>
              </a:rPr>
              <a:t>Dépendance Ubuntu uniquement</a:t>
            </a:r>
            <a:endParaRPr b="0" lang="fr-FR" sz="1000" spc="-1" strike="noStrike">
              <a:solidFill>
                <a:srgbClr val="000000"/>
              </a:solidFill>
              <a:latin typeface="Arial"/>
            </a:endParaRPr>
          </a:p>
        </p:txBody>
      </p:sp>
      <p:sp>
        <p:nvSpPr>
          <p:cNvPr id="173" name="Text 29"/>
          <p:cNvSpPr/>
          <p:nvPr/>
        </p:nvSpPr>
        <p:spPr>
          <a:xfrm>
            <a:off x="4709160" y="2953440"/>
            <a:ext cx="406872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AppArmor est natif Ubuntu ; portabilité limitée</a:t>
            </a:r>
            <a:endParaRPr b="0" lang="fr-FR" sz="850" spc="-1" strike="noStrike">
              <a:solidFill>
                <a:srgbClr val="000000"/>
              </a:solidFill>
              <a:latin typeface="Arial"/>
            </a:endParaRPr>
          </a:p>
        </p:txBody>
      </p:sp>
      <p:sp>
        <p:nvSpPr>
          <p:cNvPr id="174" name="Text 31"/>
          <p:cNvSpPr/>
          <p:nvPr/>
        </p:nvSpPr>
        <p:spPr>
          <a:xfrm>
            <a:off x="4709160" y="3282840"/>
            <a:ext cx="40687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 </a:t>
            </a:r>
            <a:r>
              <a:rPr b="0" lang="en-US" sz="850" spc="-1" strike="noStrike">
                <a:solidFill>
                  <a:schemeClr val="dk1"/>
                </a:solidFill>
                <a:latin typeface="Times New Roman"/>
                <a:ea typeface="Times New Roman"/>
              </a:rPr>
              <a:t>Architecture découplée avec interface abstraite (AppArmorService) permettant extension future (SELinux, etc.)</a:t>
            </a:r>
            <a:endParaRPr b="0" lang="fr-FR" sz="850" spc="-1" strike="noStrike">
              <a:solidFill>
                <a:srgbClr val="000000"/>
              </a:solidFill>
              <a:latin typeface="Arial"/>
            </a:endParaRPr>
          </a:p>
        </p:txBody>
      </p:sp>
      <p:sp>
        <p:nvSpPr>
          <p:cNvPr id="175" name="Shape 32"/>
          <p:cNvSpPr/>
          <p:nvPr/>
        </p:nvSpPr>
        <p:spPr>
          <a:xfrm>
            <a:off x="182880" y="3785760"/>
            <a:ext cx="4251600" cy="1279800"/>
          </a:xfrm>
          <a:prstGeom prst="rect">
            <a:avLst/>
          </a:prstGeom>
          <a:noFill/>
          <a:ln w="1524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76" name="Text 34"/>
          <p:cNvSpPr/>
          <p:nvPr/>
        </p:nvSpPr>
        <p:spPr>
          <a:xfrm>
            <a:off x="182880" y="3785760"/>
            <a:ext cx="10054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50" spc="-1" strike="noStrike" u="sng">
                <a:solidFill>
                  <a:schemeClr val="dk1"/>
                </a:solidFill>
                <a:uFillTx/>
                <a:latin typeface="Times New Roman"/>
                <a:ea typeface="Times New Roman"/>
              </a:rPr>
              <a:t>Organisationnel</a:t>
            </a:r>
            <a:endParaRPr b="0" lang="fr-FR" sz="750" spc="-1" strike="noStrike">
              <a:solidFill>
                <a:srgbClr val="000000"/>
              </a:solidFill>
              <a:latin typeface="Arial"/>
            </a:endParaRPr>
          </a:p>
        </p:txBody>
      </p:sp>
      <p:sp>
        <p:nvSpPr>
          <p:cNvPr id="177" name="Text 35"/>
          <p:cNvSpPr/>
          <p:nvPr/>
        </p:nvSpPr>
        <p:spPr>
          <a:xfrm>
            <a:off x="274320" y="4078080"/>
            <a:ext cx="406872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chemeClr val="dk1"/>
                </a:solidFill>
                <a:latin typeface="Times New Roman"/>
                <a:ea typeface="Times New Roman"/>
              </a:rPr>
              <a:t> </a:t>
            </a:r>
            <a:r>
              <a:rPr b="1" lang="en-US" sz="1000" spc="-1" strike="noStrike">
                <a:solidFill>
                  <a:schemeClr val="dk1"/>
                </a:solidFill>
                <a:latin typeface="Times New Roman"/>
                <a:ea typeface="Times New Roman"/>
              </a:rPr>
              <a:t>Équipe réduite &amp; délais académiques</a:t>
            </a:r>
            <a:endParaRPr b="0" lang="fr-FR" sz="1000" spc="-1" strike="noStrike">
              <a:solidFill>
                <a:srgbClr val="000000"/>
              </a:solidFill>
              <a:latin typeface="Arial"/>
            </a:endParaRPr>
          </a:p>
        </p:txBody>
      </p:sp>
      <p:sp>
        <p:nvSpPr>
          <p:cNvPr id="178" name="Text 36"/>
          <p:cNvSpPr/>
          <p:nvPr/>
        </p:nvSpPr>
        <p:spPr>
          <a:xfrm>
            <a:off x="274320" y="4343400"/>
            <a:ext cx="406872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3 développeurs, contraintes de temps et de ressources</a:t>
            </a:r>
            <a:endParaRPr b="0" lang="fr-FR" sz="850" spc="-1" strike="noStrike">
              <a:solidFill>
                <a:srgbClr val="000000"/>
              </a:solidFill>
              <a:latin typeface="Arial"/>
            </a:endParaRPr>
          </a:p>
        </p:txBody>
      </p:sp>
      <p:sp>
        <p:nvSpPr>
          <p:cNvPr id="179" name="Text 38"/>
          <p:cNvSpPr/>
          <p:nvPr/>
        </p:nvSpPr>
        <p:spPr>
          <a:xfrm>
            <a:off x="274320" y="4672440"/>
            <a:ext cx="40687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 </a:t>
            </a:r>
            <a:r>
              <a:rPr b="0" lang="en-US" sz="850" spc="-1" strike="noStrike">
                <a:solidFill>
                  <a:schemeClr val="dk1"/>
                </a:solidFill>
                <a:latin typeface="Times New Roman"/>
                <a:ea typeface="Times New Roman"/>
              </a:rPr>
              <a:t>Architecture modulaire MVC, priorisation des fonctionnalités essentielles, documentation continue</a:t>
            </a:r>
            <a:endParaRPr b="0" lang="fr-FR" sz="850" spc="-1" strike="noStrike">
              <a:solidFill>
                <a:srgbClr val="000000"/>
              </a:solidFill>
              <a:latin typeface="Arial"/>
            </a:endParaRPr>
          </a:p>
        </p:txBody>
      </p:sp>
      <p:sp>
        <p:nvSpPr>
          <p:cNvPr id="180" name="Shape 39"/>
          <p:cNvSpPr/>
          <p:nvPr/>
        </p:nvSpPr>
        <p:spPr>
          <a:xfrm>
            <a:off x="4617720" y="3785760"/>
            <a:ext cx="4251600" cy="1279800"/>
          </a:xfrm>
          <a:prstGeom prst="rect">
            <a:avLst/>
          </a:prstGeom>
          <a:noFill/>
          <a:ln w="1524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81" name="Text 41"/>
          <p:cNvSpPr/>
          <p:nvPr/>
        </p:nvSpPr>
        <p:spPr>
          <a:xfrm>
            <a:off x="4617720" y="3785760"/>
            <a:ext cx="10054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50" spc="-1" strike="noStrike" u="sng">
                <a:solidFill>
                  <a:schemeClr val="dk1"/>
                </a:solidFill>
                <a:uFillTx/>
                <a:latin typeface="Times New Roman"/>
                <a:ea typeface="Times New Roman"/>
              </a:rPr>
              <a:t>Fonctionnel</a:t>
            </a:r>
            <a:endParaRPr b="0" lang="fr-FR" sz="750" spc="-1" strike="noStrike">
              <a:solidFill>
                <a:srgbClr val="000000"/>
              </a:solidFill>
              <a:latin typeface="Arial"/>
            </a:endParaRPr>
          </a:p>
        </p:txBody>
      </p:sp>
      <p:sp>
        <p:nvSpPr>
          <p:cNvPr id="182" name="Text 42"/>
          <p:cNvSpPr/>
          <p:nvPr/>
        </p:nvSpPr>
        <p:spPr>
          <a:xfrm>
            <a:off x="4709160" y="4078080"/>
            <a:ext cx="406872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chemeClr val="dk1"/>
                </a:solidFill>
                <a:latin typeface="Times New Roman"/>
                <a:ea typeface="Times New Roman"/>
              </a:rPr>
              <a:t> </a:t>
            </a:r>
            <a:r>
              <a:rPr b="1" lang="en-US" sz="1000" spc="-1" strike="noStrike">
                <a:solidFill>
                  <a:schemeClr val="dk1"/>
                </a:solidFill>
                <a:latin typeface="Times New Roman"/>
                <a:ea typeface="Times New Roman"/>
              </a:rPr>
              <a:t>Syntaxe complexe des profils</a:t>
            </a:r>
            <a:endParaRPr b="0" lang="fr-FR" sz="1000" spc="-1" strike="noStrike">
              <a:solidFill>
                <a:srgbClr val="000000"/>
              </a:solidFill>
              <a:latin typeface="Arial"/>
            </a:endParaRPr>
          </a:p>
        </p:txBody>
      </p:sp>
      <p:sp>
        <p:nvSpPr>
          <p:cNvPr id="183" name="Text 43"/>
          <p:cNvSpPr/>
          <p:nvPr/>
        </p:nvSpPr>
        <p:spPr>
          <a:xfrm>
            <a:off x="4709160" y="4343400"/>
            <a:ext cx="406872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Un profil AppArmor mal rédigé peut bloquer des applications légitimes</a:t>
            </a:r>
            <a:endParaRPr b="0" lang="fr-FR" sz="850" spc="-1" strike="noStrike">
              <a:solidFill>
                <a:srgbClr val="000000"/>
              </a:solidFill>
              <a:latin typeface="Arial"/>
            </a:endParaRPr>
          </a:p>
        </p:txBody>
      </p:sp>
      <p:sp>
        <p:nvSpPr>
          <p:cNvPr id="184" name="Text 45"/>
          <p:cNvSpPr/>
          <p:nvPr/>
        </p:nvSpPr>
        <p:spPr>
          <a:xfrm>
            <a:off x="4709160" y="4672440"/>
            <a:ext cx="40687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 </a:t>
            </a:r>
            <a:r>
              <a:rPr b="0" lang="en-US" sz="850" spc="-1" strike="noStrike">
                <a:solidFill>
                  <a:schemeClr val="dk1"/>
                </a:solidFill>
                <a:latin typeface="Times New Roman"/>
                <a:ea typeface="Times New Roman"/>
              </a:rPr>
              <a:t>Éditeur avec validation syntaxique temps réel + mode COMPLAIN pour test avant ENFORCE</a:t>
            </a:r>
            <a:endParaRPr b="0" lang="fr-F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4f8"/>
        </a:solidFill>
      </p:bgPr>
    </p:bg>
    <p:spTree>
      <p:nvGrpSpPr>
        <p:cNvPr id="1" name=""/>
        <p:cNvGrpSpPr/>
        <p:nvPr/>
      </p:nvGrpSpPr>
      <p:grpSpPr>
        <a:xfrm>
          <a:off x="0" y="0"/>
          <a:ext cx="0" cy="0"/>
          <a:chOff x="0" y="0"/>
          <a:chExt cx="0" cy="0"/>
        </a:xfrm>
      </p:grpSpPr>
      <p:sp>
        <p:nvSpPr>
          <p:cNvPr id="185" name="Shape 1"/>
          <p:cNvSpPr/>
          <p:nvPr/>
        </p:nvSpPr>
        <p:spPr>
          <a:xfrm>
            <a:off x="109800" y="0"/>
            <a:ext cx="9033840" cy="914040"/>
          </a:xfrm>
          <a:prstGeom prst="rect">
            <a:avLst/>
          </a:prstGeom>
          <a:solidFill>
            <a:schemeClr val="accent1">
              <a:lumMod val="60000"/>
              <a:lumOff val="40000"/>
            </a:schemeClr>
          </a:solidFill>
          <a:ln w="12700">
            <a:solidFill>
              <a:srgbClr val="4472c4">
                <a:lumMod val="50000"/>
              </a:srgbClr>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86" name="Text 3"/>
          <p:cNvSpPr/>
          <p:nvPr/>
        </p:nvSpPr>
        <p:spPr>
          <a:xfrm>
            <a:off x="914400" y="91440"/>
            <a:ext cx="7314840" cy="712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chemeClr val="dk1"/>
                </a:solidFill>
                <a:latin typeface="Times New Roman"/>
                <a:ea typeface="Times New Roman"/>
              </a:rPr>
              <a:t>07 · Modes de Sécurité Intégrés à la Conception</a:t>
            </a:r>
            <a:endParaRPr b="0" lang="fr-FR" sz="2200" spc="-1" strike="noStrike">
              <a:solidFill>
                <a:srgbClr val="000000"/>
              </a:solidFill>
              <a:latin typeface="Arial"/>
            </a:endParaRPr>
          </a:p>
        </p:txBody>
      </p:sp>
      <p:sp>
        <p:nvSpPr>
          <p:cNvPr id="187" name="Shape 4"/>
          <p:cNvSpPr/>
          <p:nvPr/>
        </p:nvSpPr>
        <p:spPr>
          <a:xfrm>
            <a:off x="182880" y="987480"/>
            <a:ext cx="4251600" cy="1919880"/>
          </a:xfrm>
          <a:prstGeom prst="rect">
            <a:avLst/>
          </a:prstGeom>
          <a:noFill/>
          <a:ln w="2540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88" name="Shape 5"/>
          <p:cNvSpPr/>
          <p:nvPr/>
        </p:nvSpPr>
        <p:spPr>
          <a:xfrm>
            <a:off x="182880" y="987480"/>
            <a:ext cx="4251600" cy="456840"/>
          </a:xfrm>
          <a:prstGeom prst="rect">
            <a:avLst/>
          </a:prstGeom>
          <a:noFill/>
          <a:ln w="1270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89" name="Text 6"/>
          <p:cNvSpPr/>
          <p:nvPr/>
        </p:nvSpPr>
        <p:spPr>
          <a:xfrm>
            <a:off x="274320" y="1005840"/>
            <a:ext cx="4114440" cy="41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chemeClr val="dk1"/>
                </a:solidFill>
                <a:latin typeface="Times New Roman"/>
                <a:ea typeface="Times New Roman"/>
              </a:rPr>
              <a:t>MODE ENFORCE</a:t>
            </a:r>
            <a:endParaRPr b="0" lang="fr-FR" sz="1500" spc="-1" strike="noStrike">
              <a:solidFill>
                <a:srgbClr val="000000"/>
              </a:solidFill>
              <a:latin typeface="Arial"/>
            </a:endParaRPr>
          </a:p>
        </p:txBody>
      </p:sp>
      <p:sp>
        <p:nvSpPr>
          <p:cNvPr id="190" name="Text 7"/>
          <p:cNvSpPr/>
          <p:nvPr/>
        </p:nvSpPr>
        <p:spPr>
          <a:xfrm>
            <a:off x="274320" y="1508760"/>
            <a:ext cx="4068720" cy="1325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Applique strictement les politiques AppArmor</a:t>
            </a:r>
            <a:endParaRPr b="0" lang="fr-FR" sz="950" spc="-1" strike="noStrike">
              <a:solidFill>
                <a:srgbClr val="000000"/>
              </a:solidFill>
              <a:latin typeface="Arial"/>
            </a:endParaRPr>
          </a:p>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Toute action non autorisée est BLOQUÉE</a:t>
            </a:r>
            <a:endParaRPr b="0" lang="fr-FR" sz="950" spc="-1" strike="noStrike">
              <a:solidFill>
                <a:srgbClr val="000000"/>
              </a:solidFill>
              <a:latin typeface="Arial"/>
            </a:endParaRPr>
          </a:p>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Journalisation des violations dans syslog</a:t>
            </a:r>
            <a:endParaRPr b="0" lang="fr-FR" sz="950" spc="-1" strike="noStrike">
              <a:solidFill>
                <a:srgbClr val="000000"/>
              </a:solidFill>
              <a:latin typeface="Arial"/>
            </a:endParaRPr>
          </a:p>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Déclenchement automatique des alertes</a:t>
            </a:r>
            <a:endParaRPr b="0" lang="fr-FR" sz="950" spc="-1" strike="noStrike">
              <a:solidFill>
                <a:srgbClr val="000000"/>
              </a:solidFill>
              <a:latin typeface="Arial"/>
            </a:endParaRPr>
          </a:p>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Mode recommandé pour la PRODUCTION</a:t>
            </a:r>
            <a:endParaRPr b="0" lang="fr-FR" sz="950" spc="-1" strike="noStrike">
              <a:solidFill>
                <a:srgbClr val="000000"/>
              </a:solidFill>
              <a:latin typeface="Arial"/>
            </a:endParaRPr>
          </a:p>
        </p:txBody>
      </p:sp>
      <p:sp>
        <p:nvSpPr>
          <p:cNvPr id="191" name="Shape 8"/>
          <p:cNvSpPr/>
          <p:nvPr/>
        </p:nvSpPr>
        <p:spPr>
          <a:xfrm>
            <a:off x="4709160" y="987480"/>
            <a:ext cx="4251600" cy="1919880"/>
          </a:xfrm>
          <a:prstGeom prst="rect">
            <a:avLst/>
          </a:prstGeom>
          <a:noFill/>
          <a:ln w="2540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92" name="Shape 9"/>
          <p:cNvSpPr/>
          <p:nvPr/>
        </p:nvSpPr>
        <p:spPr>
          <a:xfrm>
            <a:off x="4709160" y="987480"/>
            <a:ext cx="4251600" cy="456840"/>
          </a:xfrm>
          <a:prstGeom prst="rect">
            <a:avLst/>
          </a:prstGeom>
          <a:noFill/>
          <a:ln w="1270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93" name="Text 10"/>
          <p:cNvSpPr/>
          <p:nvPr/>
        </p:nvSpPr>
        <p:spPr>
          <a:xfrm>
            <a:off x="4800600" y="1005840"/>
            <a:ext cx="4114440" cy="41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chemeClr val="dk1"/>
                </a:solidFill>
                <a:latin typeface="Times New Roman"/>
                <a:ea typeface="Times New Roman"/>
              </a:rPr>
              <a:t>MODE COMPLAIN</a:t>
            </a:r>
            <a:endParaRPr b="0" lang="fr-FR" sz="1500" spc="-1" strike="noStrike">
              <a:solidFill>
                <a:srgbClr val="000000"/>
              </a:solidFill>
              <a:latin typeface="Arial"/>
            </a:endParaRPr>
          </a:p>
        </p:txBody>
      </p:sp>
      <p:sp>
        <p:nvSpPr>
          <p:cNvPr id="194" name="Text 11"/>
          <p:cNvSpPr/>
          <p:nvPr/>
        </p:nvSpPr>
        <p:spPr>
          <a:xfrm>
            <a:off x="4800600" y="1508760"/>
            <a:ext cx="4068720" cy="1325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Surveille sans bloquer les actions</a:t>
            </a:r>
            <a:endParaRPr b="0" lang="fr-FR" sz="950" spc="-1" strike="noStrike">
              <a:solidFill>
                <a:srgbClr val="000000"/>
              </a:solidFill>
              <a:latin typeface="Arial"/>
            </a:endParaRPr>
          </a:p>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Journalise les violations (sans les stopper)</a:t>
            </a:r>
            <a:endParaRPr b="0" lang="fr-FR" sz="950" spc="-1" strike="noStrike">
              <a:solidFill>
                <a:srgbClr val="000000"/>
              </a:solidFill>
              <a:latin typeface="Arial"/>
            </a:endParaRPr>
          </a:p>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Idéal pour TESTER un nouveau profil</a:t>
            </a:r>
            <a:endParaRPr b="0" lang="fr-FR" sz="950" spc="-1" strike="noStrike">
              <a:solidFill>
                <a:srgbClr val="000000"/>
              </a:solidFill>
              <a:latin typeface="Arial"/>
            </a:endParaRPr>
          </a:p>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Permet d'identifier les règles manquantes</a:t>
            </a:r>
            <a:endParaRPr b="0" lang="fr-FR" sz="950" spc="-1" strike="noStrike">
              <a:solidFill>
                <a:srgbClr val="000000"/>
              </a:solidFill>
              <a:latin typeface="Arial"/>
            </a:endParaRPr>
          </a:p>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Mode recommandé en phase de DÉVELOPPEMENT</a:t>
            </a:r>
            <a:endParaRPr b="0" lang="fr-FR" sz="950" spc="-1" strike="noStrike">
              <a:solidFill>
                <a:srgbClr val="000000"/>
              </a:solidFill>
              <a:latin typeface="Arial"/>
            </a:endParaRPr>
          </a:p>
        </p:txBody>
      </p:sp>
      <p:sp>
        <p:nvSpPr>
          <p:cNvPr id="195" name="Text 12"/>
          <p:cNvSpPr/>
          <p:nvPr/>
        </p:nvSpPr>
        <p:spPr>
          <a:xfrm>
            <a:off x="182880" y="2971800"/>
            <a:ext cx="877788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1b2a4a"/>
                </a:solidFill>
                <a:latin typeface="Times New Roman"/>
                <a:ea typeface="Times New Roman"/>
              </a:rPr>
              <a:t>Couches de Sécurité Complémentaires Intégrées</a:t>
            </a:r>
            <a:endParaRPr b="0" lang="fr-FR" sz="1300" spc="-1" strike="noStrike">
              <a:solidFill>
                <a:srgbClr val="000000"/>
              </a:solidFill>
              <a:latin typeface="Arial"/>
            </a:endParaRPr>
          </a:p>
        </p:txBody>
      </p:sp>
      <p:sp>
        <p:nvSpPr>
          <p:cNvPr id="196" name="Shape 13"/>
          <p:cNvSpPr/>
          <p:nvPr/>
        </p:nvSpPr>
        <p:spPr>
          <a:xfrm>
            <a:off x="182880" y="3383280"/>
            <a:ext cx="2834280" cy="685440"/>
          </a:xfrm>
          <a:prstGeom prst="rect">
            <a:avLst/>
          </a:prstGeom>
          <a:noFill/>
          <a:ln w="1270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97" name="Text 15"/>
          <p:cNvSpPr/>
          <p:nvPr/>
        </p:nvSpPr>
        <p:spPr>
          <a:xfrm>
            <a:off x="274320" y="3694320"/>
            <a:ext cx="27428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Hachage sécurisé des mots de passe (work factor 12)</a:t>
            </a:r>
            <a:endParaRPr b="0" lang="fr-FR" sz="850" spc="-1" strike="noStrike">
              <a:solidFill>
                <a:srgbClr val="000000"/>
              </a:solidFill>
              <a:latin typeface="Arial"/>
            </a:endParaRPr>
          </a:p>
        </p:txBody>
      </p:sp>
      <p:sp>
        <p:nvSpPr>
          <p:cNvPr id="198" name="Shape 16"/>
          <p:cNvSpPr/>
          <p:nvPr/>
        </p:nvSpPr>
        <p:spPr>
          <a:xfrm>
            <a:off x="3154680" y="3383280"/>
            <a:ext cx="2834280" cy="685440"/>
          </a:xfrm>
          <a:prstGeom prst="rect">
            <a:avLst/>
          </a:prstGeom>
          <a:noFill/>
          <a:ln w="1270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199" name="Text 18"/>
          <p:cNvSpPr/>
          <p:nvPr/>
        </p:nvSpPr>
        <p:spPr>
          <a:xfrm>
            <a:off x="3246120" y="3694320"/>
            <a:ext cx="27428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Chiffrement de toutes les communications réseau</a:t>
            </a:r>
            <a:endParaRPr b="0" lang="fr-FR" sz="850" spc="-1" strike="noStrike">
              <a:solidFill>
                <a:srgbClr val="000000"/>
              </a:solidFill>
              <a:latin typeface="Arial"/>
            </a:endParaRPr>
          </a:p>
        </p:txBody>
      </p:sp>
      <p:sp>
        <p:nvSpPr>
          <p:cNvPr id="200" name="Shape 19"/>
          <p:cNvSpPr/>
          <p:nvPr/>
        </p:nvSpPr>
        <p:spPr>
          <a:xfrm>
            <a:off x="6126480" y="3383280"/>
            <a:ext cx="2834280" cy="685440"/>
          </a:xfrm>
          <a:prstGeom prst="rect">
            <a:avLst/>
          </a:prstGeom>
          <a:noFill/>
          <a:ln w="1270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201" name="Text 21"/>
          <p:cNvSpPr/>
          <p:nvPr/>
        </p:nvSpPr>
        <p:spPr>
          <a:xfrm>
            <a:off x="6217920" y="3694320"/>
            <a:ext cx="27428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Tokens CSRF sur chaque formulaire critique</a:t>
            </a:r>
            <a:endParaRPr b="0" lang="fr-FR" sz="850" spc="-1" strike="noStrike">
              <a:solidFill>
                <a:srgbClr val="000000"/>
              </a:solidFill>
              <a:latin typeface="Arial"/>
            </a:endParaRPr>
          </a:p>
        </p:txBody>
      </p:sp>
      <p:sp>
        <p:nvSpPr>
          <p:cNvPr id="202" name="Shape 22"/>
          <p:cNvSpPr/>
          <p:nvPr/>
        </p:nvSpPr>
        <p:spPr>
          <a:xfrm>
            <a:off x="182880" y="4169520"/>
            <a:ext cx="2834280" cy="685440"/>
          </a:xfrm>
          <a:prstGeom prst="rect">
            <a:avLst/>
          </a:prstGeom>
          <a:noFill/>
          <a:ln w="1270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203" name="Text 24"/>
          <p:cNvSpPr/>
          <p:nvPr/>
        </p:nvSpPr>
        <p:spPr>
          <a:xfrm>
            <a:off x="274320" y="4480560"/>
            <a:ext cx="27428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Sanitisation des entrées, protection injection SQL/XSS</a:t>
            </a:r>
            <a:endParaRPr b="0" lang="fr-FR" sz="850" spc="-1" strike="noStrike">
              <a:solidFill>
                <a:srgbClr val="000000"/>
              </a:solidFill>
              <a:latin typeface="Arial"/>
            </a:endParaRPr>
          </a:p>
        </p:txBody>
      </p:sp>
      <p:sp>
        <p:nvSpPr>
          <p:cNvPr id="204" name="Shape 25"/>
          <p:cNvSpPr/>
          <p:nvPr/>
        </p:nvSpPr>
        <p:spPr>
          <a:xfrm>
            <a:off x="3154680" y="4169520"/>
            <a:ext cx="2834280" cy="685440"/>
          </a:xfrm>
          <a:prstGeom prst="rect">
            <a:avLst/>
          </a:prstGeom>
          <a:noFill/>
          <a:ln w="1270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205" name="Text 27"/>
          <p:cNvSpPr/>
          <p:nvPr/>
        </p:nvSpPr>
        <p:spPr>
          <a:xfrm>
            <a:off x="3246120" y="4480560"/>
            <a:ext cx="27428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Journalisation de toutes les actions administrateur</a:t>
            </a:r>
            <a:endParaRPr b="0" lang="fr-FR" sz="850" spc="-1" strike="noStrike">
              <a:solidFill>
                <a:srgbClr val="000000"/>
              </a:solidFill>
              <a:latin typeface="Arial"/>
            </a:endParaRPr>
          </a:p>
        </p:txBody>
      </p:sp>
      <p:sp>
        <p:nvSpPr>
          <p:cNvPr id="206" name="Shape 28"/>
          <p:cNvSpPr/>
          <p:nvPr/>
        </p:nvSpPr>
        <p:spPr>
          <a:xfrm>
            <a:off x="6126480" y="4169520"/>
            <a:ext cx="2834280" cy="685440"/>
          </a:xfrm>
          <a:prstGeom prst="rect">
            <a:avLst/>
          </a:prstGeom>
          <a:noFill/>
          <a:ln w="12700">
            <a:noFill/>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207" name="Text 30"/>
          <p:cNvSpPr/>
          <p:nvPr/>
        </p:nvSpPr>
        <p:spPr>
          <a:xfrm>
            <a:off x="6217920" y="4480560"/>
            <a:ext cx="2742840" cy="31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chemeClr val="dk1"/>
                </a:solidFill>
                <a:latin typeface="Times New Roman"/>
                <a:ea typeface="Times New Roman"/>
              </a:rPr>
              <a:t>Limitation des tentatives d'authentification (3 max)</a:t>
            </a:r>
            <a:endParaRPr b="0" lang="fr-F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4f8"/>
        </a:solidFill>
      </p:bgPr>
    </p:bg>
    <p:spTree>
      <p:nvGrpSpPr>
        <p:cNvPr id="1" name=""/>
        <p:cNvGrpSpPr/>
        <p:nvPr/>
      </p:nvGrpSpPr>
      <p:grpSpPr>
        <a:xfrm>
          <a:off x="0" y="0"/>
          <a:ext cx="0" cy="0"/>
          <a:chOff x="0" y="0"/>
          <a:chExt cx="0" cy="0"/>
        </a:xfrm>
      </p:grpSpPr>
      <p:sp>
        <p:nvSpPr>
          <p:cNvPr id="208" name="Shape 1"/>
          <p:cNvSpPr/>
          <p:nvPr/>
        </p:nvSpPr>
        <p:spPr>
          <a:xfrm>
            <a:off x="109800" y="0"/>
            <a:ext cx="9033840" cy="914040"/>
          </a:xfrm>
          <a:prstGeom prst="rect">
            <a:avLst/>
          </a:prstGeom>
          <a:solidFill>
            <a:schemeClr val="accent1">
              <a:lumMod val="60000"/>
              <a:lumOff val="40000"/>
            </a:schemeClr>
          </a:solidFill>
          <a:ln w="12700">
            <a:solidFill>
              <a:srgbClr val="4472c4">
                <a:lumMod val="50000"/>
              </a:srgbClr>
            </a:solidFill>
            <a:round/>
          </a:ln>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209" name="Text 3"/>
          <p:cNvSpPr/>
          <p:nvPr/>
        </p:nvSpPr>
        <p:spPr>
          <a:xfrm>
            <a:off x="914400" y="91440"/>
            <a:ext cx="7314840" cy="712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chemeClr val="dk1"/>
                </a:solidFill>
                <a:latin typeface="Times New Roman"/>
                <a:ea typeface="Times New Roman"/>
              </a:rPr>
              <a:t>08 · Synthèse de la Conception</a:t>
            </a:r>
            <a:endParaRPr b="0" lang="fr-FR" sz="2200" spc="-1" strike="noStrike">
              <a:solidFill>
                <a:srgbClr val="000000"/>
              </a:solidFill>
              <a:latin typeface="Arial"/>
            </a:endParaRPr>
          </a:p>
        </p:txBody>
      </p:sp>
      <p:sp>
        <p:nvSpPr>
          <p:cNvPr id="210" name="Text 5"/>
          <p:cNvSpPr/>
          <p:nvPr/>
        </p:nvSpPr>
        <p:spPr>
          <a:xfrm>
            <a:off x="320040" y="1051560"/>
            <a:ext cx="8503560" cy="41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chemeClr val="dk1"/>
                </a:solidFill>
                <a:latin typeface="Times New Roman"/>
                <a:ea typeface="Times New Roman"/>
              </a:rPr>
              <a:t>La conception repose sur une architecture MVC 3-tiers, des modèles UML rigoureux et des choix technologiques open source garantissant sécurité, performance et maintenabilité.</a:t>
            </a:r>
            <a:endParaRPr b="0" lang="fr-FR" sz="1050" spc="-1" strike="noStrike">
              <a:solidFill>
                <a:srgbClr val="000000"/>
              </a:solidFill>
              <a:latin typeface="Arial"/>
            </a:endParaRPr>
          </a:p>
        </p:txBody>
      </p:sp>
      <p:sp>
        <p:nvSpPr>
          <p:cNvPr id="211" name="Text 8"/>
          <p:cNvSpPr/>
          <p:nvPr/>
        </p:nvSpPr>
        <p:spPr>
          <a:xfrm>
            <a:off x="255960" y="1627560"/>
            <a:ext cx="2742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 strike="noStrike">
                <a:solidFill>
                  <a:srgbClr val="1b2a4a"/>
                </a:solidFill>
                <a:latin typeface="Times New Roman"/>
                <a:ea typeface="Times New Roman"/>
              </a:rPr>
              <a:t> </a:t>
            </a:r>
            <a:r>
              <a:rPr b="1" lang="en-US" sz="1050" spc="-1" strike="noStrike">
                <a:solidFill>
                  <a:srgbClr val="1b2a4a"/>
                </a:solidFill>
                <a:latin typeface="Times New Roman"/>
                <a:ea typeface="Times New Roman"/>
              </a:rPr>
              <a:t>Modèles Réalisés</a:t>
            </a:r>
            <a:endParaRPr b="0" lang="fr-FR" sz="1050" spc="-1" strike="noStrike">
              <a:solidFill>
                <a:srgbClr val="000000"/>
              </a:solidFill>
              <a:latin typeface="Arial"/>
            </a:endParaRPr>
          </a:p>
        </p:txBody>
      </p:sp>
      <p:sp>
        <p:nvSpPr>
          <p:cNvPr id="212" name="Text 10"/>
          <p:cNvSpPr/>
          <p:nvPr/>
        </p:nvSpPr>
        <p:spPr>
          <a:xfrm>
            <a:off x="347400" y="2112120"/>
            <a:ext cx="2505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Diagramme de classes (8 entités)</a:t>
            </a:r>
            <a:endParaRPr b="0" lang="fr-FR" sz="950" spc="-1" strike="noStrike">
              <a:solidFill>
                <a:srgbClr val="000000"/>
              </a:solidFill>
              <a:latin typeface="Arial"/>
            </a:endParaRPr>
          </a:p>
        </p:txBody>
      </p:sp>
      <p:sp>
        <p:nvSpPr>
          <p:cNvPr id="213" name="Text 12"/>
          <p:cNvSpPr/>
          <p:nvPr/>
        </p:nvSpPr>
        <p:spPr>
          <a:xfrm>
            <a:off x="347400" y="2843640"/>
            <a:ext cx="2505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Diagramme de séquence (3 scénarios clés)</a:t>
            </a:r>
            <a:endParaRPr b="0" lang="fr-FR" sz="950" spc="-1" strike="noStrike">
              <a:solidFill>
                <a:srgbClr val="000000"/>
              </a:solidFill>
              <a:latin typeface="Arial"/>
            </a:endParaRPr>
          </a:p>
        </p:txBody>
      </p:sp>
      <p:sp>
        <p:nvSpPr>
          <p:cNvPr id="214" name="Text 14"/>
          <p:cNvSpPr/>
          <p:nvPr/>
        </p:nvSpPr>
        <p:spPr>
          <a:xfrm>
            <a:off x="347400" y="3575160"/>
            <a:ext cx="2505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Cas d'utilisation (6 fonctionnalités)</a:t>
            </a:r>
            <a:endParaRPr b="0" lang="fr-FR" sz="950" spc="-1" strike="noStrike">
              <a:solidFill>
                <a:srgbClr val="000000"/>
              </a:solidFill>
              <a:latin typeface="Arial"/>
            </a:endParaRPr>
          </a:p>
        </p:txBody>
      </p:sp>
      <p:sp>
        <p:nvSpPr>
          <p:cNvPr id="215" name="Text 16"/>
          <p:cNvSpPr/>
          <p:nvPr/>
        </p:nvSpPr>
        <p:spPr>
          <a:xfrm>
            <a:off x="347400" y="4306680"/>
            <a:ext cx="2505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Architecture 3-tiers documentée</a:t>
            </a:r>
            <a:endParaRPr b="0" lang="fr-FR" sz="950" spc="-1" strike="noStrike">
              <a:solidFill>
                <a:srgbClr val="000000"/>
              </a:solidFill>
              <a:latin typeface="Arial"/>
            </a:endParaRPr>
          </a:p>
        </p:txBody>
      </p:sp>
      <p:sp>
        <p:nvSpPr>
          <p:cNvPr id="216" name="Text 19"/>
          <p:cNvSpPr/>
          <p:nvPr/>
        </p:nvSpPr>
        <p:spPr>
          <a:xfrm>
            <a:off x="3246120" y="1627560"/>
            <a:ext cx="2742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 strike="noStrike">
                <a:solidFill>
                  <a:srgbClr val="1b2a4a"/>
                </a:solidFill>
                <a:latin typeface="Times New Roman"/>
                <a:ea typeface="Times New Roman"/>
              </a:rPr>
              <a:t> </a:t>
            </a:r>
            <a:r>
              <a:rPr b="1" lang="en-US" sz="1050" spc="-1" strike="noStrike">
                <a:solidFill>
                  <a:srgbClr val="1b2a4a"/>
                </a:solidFill>
                <a:latin typeface="Times New Roman"/>
                <a:ea typeface="Times New Roman"/>
              </a:rPr>
              <a:t>Décisions Architecturales</a:t>
            </a:r>
            <a:endParaRPr b="0" lang="fr-FR" sz="1050" spc="-1" strike="noStrike">
              <a:solidFill>
                <a:srgbClr val="000000"/>
              </a:solidFill>
              <a:latin typeface="Arial"/>
            </a:endParaRPr>
          </a:p>
        </p:txBody>
      </p:sp>
      <p:sp>
        <p:nvSpPr>
          <p:cNvPr id="217" name="Text 21"/>
          <p:cNvSpPr/>
          <p:nvPr/>
        </p:nvSpPr>
        <p:spPr>
          <a:xfrm>
            <a:off x="3337560" y="2112120"/>
            <a:ext cx="2505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Pattern MVC pour séparation des responsabilités</a:t>
            </a:r>
            <a:endParaRPr b="0" lang="fr-FR" sz="950" spc="-1" strike="noStrike">
              <a:solidFill>
                <a:srgbClr val="000000"/>
              </a:solidFill>
              <a:latin typeface="Arial"/>
            </a:endParaRPr>
          </a:p>
        </p:txBody>
      </p:sp>
      <p:sp>
        <p:nvSpPr>
          <p:cNvPr id="218" name="Text 23"/>
          <p:cNvSpPr/>
          <p:nvPr/>
        </p:nvSpPr>
        <p:spPr>
          <a:xfrm>
            <a:off x="3337560" y="2843640"/>
            <a:ext cx="2505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Repository pattern pour la couche données</a:t>
            </a:r>
            <a:endParaRPr b="0" lang="fr-FR" sz="950" spc="-1" strike="noStrike">
              <a:solidFill>
                <a:srgbClr val="000000"/>
              </a:solidFill>
              <a:latin typeface="Arial"/>
            </a:endParaRPr>
          </a:p>
        </p:txBody>
      </p:sp>
      <p:sp>
        <p:nvSpPr>
          <p:cNvPr id="219" name="Text 25"/>
          <p:cNvSpPr/>
          <p:nvPr/>
        </p:nvSpPr>
        <p:spPr>
          <a:xfrm>
            <a:off x="3337560" y="3575160"/>
            <a:ext cx="2505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Service AppArmorManager centralisé</a:t>
            </a:r>
            <a:endParaRPr b="0" lang="fr-FR" sz="950" spc="-1" strike="noStrike">
              <a:solidFill>
                <a:srgbClr val="000000"/>
              </a:solidFill>
              <a:latin typeface="Arial"/>
            </a:endParaRPr>
          </a:p>
        </p:txBody>
      </p:sp>
      <p:sp>
        <p:nvSpPr>
          <p:cNvPr id="220" name="Text 27"/>
          <p:cNvSpPr/>
          <p:nvPr/>
        </p:nvSpPr>
        <p:spPr>
          <a:xfrm>
            <a:off x="3337560" y="4306680"/>
            <a:ext cx="2505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Interface abstraite pour extensibilité future</a:t>
            </a:r>
            <a:endParaRPr b="0" lang="fr-FR" sz="950" spc="-1" strike="noStrike">
              <a:solidFill>
                <a:srgbClr val="000000"/>
              </a:solidFill>
              <a:latin typeface="Arial"/>
            </a:endParaRPr>
          </a:p>
        </p:txBody>
      </p:sp>
      <p:sp>
        <p:nvSpPr>
          <p:cNvPr id="221" name="Text 30"/>
          <p:cNvSpPr/>
          <p:nvPr/>
        </p:nvSpPr>
        <p:spPr>
          <a:xfrm>
            <a:off x="6236280" y="1627560"/>
            <a:ext cx="2742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1" strike="noStrike">
                <a:solidFill>
                  <a:srgbClr val="1b2a4a"/>
                </a:solidFill>
                <a:latin typeface="Times New Roman"/>
                <a:ea typeface="Times New Roman"/>
              </a:rPr>
              <a:t> </a:t>
            </a:r>
            <a:r>
              <a:rPr b="1" lang="en-US" sz="1050" spc="-1" strike="noStrike">
                <a:solidFill>
                  <a:srgbClr val="1b2a4a"/>
                </a:solidFill>
                <a:latin typeface="Times New Roman"/>
                <a:ea typeface="Times New Roman"/>
              </a:rPr>
              <a:t>Sécurité par Conception</a:t>
            </a:r>
            <a:endParaRPr b="0" lang="fr-FR" sz="1050" spc="-1" strike="noStrike">
              <a:solidFill>
                <a:srgbClr val="000000"/>
              </a:solidFill>
              <a:latin typeface="Arial"/>
            </a:endParaRPr>
          </a:p>
        </p:txBody>
      </p:sp>
      <p:sp>
        <p:nvSpPr>
          <p:cNvPr id="222" name="Text 32"/>
          <p:cNvSpPr/>
          <p:nvPr/>
        </p:nvSpPr>
        <p:spPr>
          <a:xfrm>
            <a:off x="6327720" y="2112120"/>
            <a:ext cx="2505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Principe du moindre privilège appliqué</a:t>
            </a:r>
            <a:endParaRPr b="0" lang="fr-FR" sz="950" spc="-1" strike="noStrike">
              <a:solidFill>
                <a:srgbClr val="000000"/>
              </a:solidFill>
              <a:latin typeface="Arial"/>
            </a:endParaRPr>
          </a:p>
        </p:txBody>
      </p:sp>
      <p:sp>
        <p:nvSpPr>
          <p:cNvPr id="223" name="Text 34"/>
          <p:cNvSpPr/>
          <p:nvPr/>
        </p:nvSpPr>
        <p:spPr>
          <a:xfrm>
            <a:off x="6327720" y="2843640"/>
            <a:ext cx="2505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Gestion des modes ENFORCE / COMPLAIN</a:t>
            </a:r>
            <a:endParaRPr b="0" lang="fr-FR" sz="950" spc="-1" strike="noStrike">
              <a:solidFill>
                <a:srgbClr val="000000"/>
              </a:solidFill>
              <a:latin typeface="Arial"/>
            </a:endParaRPr>
          </a:p>
        </p:txBody>
      </p:sp>
      <p:sp>
        <p:nvSpPr>
          <p:cNvPr id="224" name="Text 36"/>
          <p:cNvSpPr/>
          <p:nvPr/>
        </p:nvSpPr>
        <p:spPr>
          <a:xfrm>
            <a:off x="6327720" y="3575160"/>
            <a:ext cx="2505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Couche d'audit et journalisation totale</a:t>
            </a:r>
            <a:endParaRPr b="0" lang="fr-FR" sz="950" spc="-1" strike="noStrike">
              <a:solidFill>
                <a:srgbClr val="000000"/>
              </a:solidFill>
              <a:latin typeface="Arial"/>
            </a:endParaRPr>
          </a:p>
        </p:txBody>
      </p:sp>
      <p:sp>
        <p:nvSpPr>
          <p:cNvPr id="225" name="Text 38"/>
          <p:cNvSpPr/>
          <p:nvPr/>
        </p:nvSpPr>
        <p:spPr>
          <a:xfrm>
            <a:off x="6327720" y="4306680"/>
            <a:ext cx="25052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chemeClr val="dk1"/>
                </a:solidFill>
                <a:latin typeface="Times New Roman"/>
                <a:ea typeface="Times New Roman"/>
              </a:rPr>
              <a:t>▸  </a:t>
            </a:r>
            <a:r>
              <a:rPr b="0" lang="en-US" sz="950" spc="-1" strike="noStrike">
                <a:solidFill>
                  <a:schemeClr val="dk1"/>
                </a:solidFill>
                <a:latin typeface="Times New Roman"/>
                <a:ea typeface="Times New Roman"/>
              </a:rPr>
              <a:t>Protection contre les vecteurs web (XSS, CSRF, injection)</a:t>
            </a:r>
            <a:endParaRPr b="0" lang="fr-FR" sz="950" spc="-1" strike="noStrike">
              <a:solidFill>
                <a:srgbClr val="000000"/>
              </a:solidFill>
              <a:latin typeface="Arial"/>
            </a:endParaRPr>
          </a:p>
        </p:txBody>
      </p:sp>
      <p:sp>
        <p:nvSpPr>
          <p:cNvPr id="226" name="Text 40"/>
          <p:cNvSpPr/>
          <p:nvPr/>
        </p:nvSpPr>
        <p:spPr>
          <a:xfrm>
            <a:off x="274320" y="4829760"/>
            <a:ext cx="8503560" cy="313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chemeClr val="dk1"/>
                </a:solidFill>
                <a:latin typeface="Times New Roman"/>
                <a:ea typeface="Times New Roman"/>
              </a:rPr>
              <a:t>8 classes métiers  ·  3 scénarios UML  ·  3 couches architecture  ·  6 modes de sécurité  ·  100% open source</a:t>
            </a:r>
            <a:endParaRPr b="0" lang="fr-FR"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27" name="Text 2"/>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chemeClr val="dk1"/>
                </a:solidFill>
                <a:latin typeface="Times New Roman"/>
                <a:ea typeface="Times New Roman"/>
              </a:rPr>
              <a:t>10 · Conclusion </a:t>
            </a:r>
            <a:endParaRPr b="0" lang="fr-FR" sz="2200" spc="-1" strike="noStrike">
              <a:solidFill>
                <a:srgbClr val="000000"/>
              </a:solidFill>
              <a:latin typeface="Arial"/>
            </a:endParaRPr>
          </a:p>
        </p:txBody>
      </p:sp>
      <p:sp>
        <p:nvSpPr>
          <p:cNvPr id="228" name="Text 4"/>
          <p:cNvSpPr/>
          <p:nvPr/>
        </p:nvSpPr>
        <p:spPr>
          <a:xfrm>
            <a:off x="457200" y="841320"/>
            <a:ext cx="8229240" cy="868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chemeClr val="dk1"/>
                </a:solidFill>
                <a:latin typeface="Times New Roman"/>
                <a:ea typeface="Times New Roman"/>
              </a:rPr>
              <a:t>Ce projet de Gestionnaire Web Sécurisé pour l'Administration des Profils AppArmor représente une réponse concrète et complète aux enjeux de sécurité des systèmes Linux modernes.</a:t>
            </a:r>
            <a:endParaRPr b="0" lang="fr-FR" sz="1100" spc="-1" strike="noStrike">
              <a:solidFill>
                <a:srgbClr val="000000"/>
              </a:solidFill>
              <a:latin typeface="Arial"/>
            </a:endParaRPr>
          </a:p>
          <a:p>
            <a:pPr defTabSz="914400">
              <a:lnSpc>
                <a:spcPct val="100000"/>
              </a:lnSpc>
              <a:tabLst>
                <a:tab algn="l" pos="0"/>
              </a:tabLst>
            </a:pPr>
            <a:endParaRPr b="0" lang="fr-FR" sz="1100" spc="-1" strike="noStrike">
              <a:solidFill>
                <a:srgbClr val="000000"/>
              </a:solidFill>
              <a:latin typeface="Arial"/>
            </a:endParaRPr>
          </a:p>
          <a:p>
            <a:pPr defTabSz="914400">
              <a:lnSpc>
                <a:spcPct val="100000"/>
              </a:lnSpc>
              <a:tabLst>
                <a:tab algn="l" pos="0"/>
              </a:tabLst>
            </a:pPr>
            <a:r>
              <a:rPr b="0" lang="en-US" sz="1100" spc="-1" strike="noStrike">
                <a:solidFill>
                  <a:schemeClr val="dk1"/>
                </a:solidFill>
                <a:latin typeface="Times New Roman"/>
                <a:ea typeface="Times New Roman"/>
              </a:rPr>
              <a:t>Du dossier d'analyse à ce dossier de conception, nous avons progressivement construit une vision claire et cohérente du système :</a:t>
            </a:r>
            <a:endParaRPr b="0" lang="fr-FR" sz="1100" spc="-1" strike="noStrike">
              <a:solidFill>
                <a:srgbClr val="000000"/>
              </a:solidFill>
              <a:latin typeface="Arial"/>
            </a:endParaRPr>
          </a:p>
        </p:txBody>
      </p:sp>
      <p:sp>
        <p:nvSpPr>
          <p:cNvPr id="229" name="Text 6"/>
          <p:cNvSpPr/>
          <p:nvPr/>
        </p:nvSpPr>
        <p:spPr>
          <a:xfrm>
            <a:off x="548640" y="1847160"/>
            <a:ext cx="81378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chemeClr val="dk1"/>
                </a:solidFill>
                <a:latin typeface="Times New Roman"/>
                <a:ea typeface="Times New Roman"/>
              </a:rPr>
              <a:t> </a:t>
            </a:r>
            <a:r>
              <a:rPr b="0" lang="en-US" sz="1050" spc="-1" strike="noStrike">
                <a:solidFill>
                  <a:schemeClr val="dk1"/>
                </a:solidFill>
                <a:latin typeface="Times New Roman"/>
                <a:ea typeface="Times New Roman"/>
              </a:rPr>
              <a:t>Périmètre parfaitement défini avec des exigences fonctionnelles et non-fonctionnelles précises</a:t>
            </a:r>
            <a:endParaRPr b="0" lang="fr-FR" sz="1050" spc="-1" strike="noStrike">
              <a:solidFill>
                <a:srgbClr val="000000"/>
              </a:solidFill>
              <a:latin typeface="Arial"/>
            </a:endParaRPr>
          </a:p>
        </p:txBody>
      </p:sp>
      <p:sp>
        <p:nvSpPr>
          <p:cNvPr id="230" name="Text 8"/>
          <p:cNvSpPr/>
          <p:nvPr/>
        </p:nvSpPr>
        <p:spPr>
          <a:xfrm>
            <a:off x="548640" y="2368440"/>
            <a:ext cx="81378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chemeClr val="dk1"/>
                </a:solidFill>
                <a:latin typeface="Times New Roman"/>
                <a:ea typeface="Times New Roman"/>
              </a:rPr>
              <a:t>  </a:t>
            </a:r>
            <a:r>
              <a:rPr b="0" lang="en-US" sz="1050" spc="-1" strike="noStrike">
                <a:solidFill>
                  <a:schemeClr val="dk1"/>
                </a:solidFill>
                <a:latin typeface="Times New Roman"/>
                <a:ea typeface="Times New Roman"/>
              </a:rPr>
              <a:t>Architecture MVC 3-tiers — garantissant séparation, modularité et extensibilité</a:t>
            </a:r>
            <a:endParaRPr b="0" lang="fr-FR" sz="1050" spc="-1" strike="noStrike">
              <a:solidFill>
                <a:srgbClr val="000000"/>
              </a:solidFill>
              <a:latin typeface="Arial"/>
            </a:endParaRPr>
          </a:p>
        </p:txBody>
      </p:sp>
      <p:sp>
        <p:nvSpPr>
          <p:cNvPr id="231" name="Text 10"/>
          <p:cNvSpPr/>
          <p:nvPr/>
        </p:nvSpPr>
        <p:spPr>
          <a:xfrm>
            <a:off x="548640" y="2889360"/>
            <a:ext cx="81378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chemeClr val="dk1"/>
                </a:solidFill>
                <a:latin typeface="Times New Roman"/>
                <a:ea typeface="Times New Roman"/>
              </a:rPr>
              <a:t>  </a:t>
            </a:r>
            <a:r>
              <a:rPr b="0" lang="en-US" sz="1050" spc="-1" strike="noStrike">
                <a:solidFill>
                  <a:schemeClr val="dk1"/>
                </a:solidFill>
                <a:latin typeface="Times New Roman"/>
                <a:ea typeface="Times New Roman"/>
              </a:rPr>
              <a:t>Sécurité intégrée dès la conception — modes AppArmor, authentification, audit, protection web</a:t>
            </a:r>
            <a:endParaRPr b="0" lang="fr-FR" sz="1050" spc="-1" strike="noStrike">
              <a:solidFill>
                <a:srgbClr val="000000"/>
              </a:solidFill>
              <a:latin typeface="Arial"/>
            </a:endParaRPr>
          </a:p>
        </p:txBody>
      </p:sp>
      <p:sp>
        <p:nvSpPr>
          <p:cNvPr id="232" name="Text 12"/>
          <p:cNvSpPr/>
          <p:nvPr/>
        </p:nvSpPr>
        <p:spPr>
          <a:xfrm>
            <a:off x="548640" y="3410640"/>
            <a:ext cx="8137800" cy="383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chemeClr val="dk1"/>
                </a:solidFill>
                <a:latin typeface="Times New Roman"/>
                <a:ea typeface="Times New Roman"/>
              </a:rPr>
              <a:t>  </a:t>
            </a:r>
            <a:r>
              <a:rPr b="0" lang="en-US" sz="1050" spc="-1" strike="noStrike">
                <a:solidFill>
                  <a:schemeClr val="dk1"/>
                </a:solidFill>
                <a:latin typeface="Times New Roman"/>
                <a:ea typeface="Times New Roman"/>
              </a:rPr>
              <a:t>Modèles UML complets — classes, séquences et scénarios documentant chaque interaction</a:t>
            </a:r>
            <a:endParaRPr b="0" lang="fr-FR" sz="1050" spc="-1" strike="noStrike">
              <a:solidFill>
                <a:srgbClr val="000000"/>
              </a:solidFill>
              <a:latin typeface="Arial"/>
            </a:endParaRPr>
          </a:p>
        </p:txBody>
      </p:sp>
      <p:sp>
        <p:nvSpPr>
          <p:cNvPr id="233" name="Text 14"/>
          <p:cNvSpPr/>
          <p:nvPr/>
        </p:nvSpPr>
        <p:spPr>
          <a:xfrm>
            <a:off x="548640" y="3950280"/>
            <a:ext cx="8046360" cy="776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050" spc="-1" strike="noStrike">
                <a:solidFill>
                  <a:schemeClr val="dk1"/>
                </a:solidFill>
                <a:latin typeface="Times New Roman"/>
                <a:ea typeface="Times New Roman"/>
              </a:rPr>
              <a:t>En conclusion, la phase de conception constitue le pont indispensable entre l'analyse des besoins et la réalisation concrète. </a:t>
            </a:r>
            <a:endParaRPr b="0" lang="fr-FR"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lumMod val="10000"/>
          </a:schemeClr>
        </a:solidFill>
      </p:bgPr>
    </p:bg>
    <p:spTree>
      <p:nvGrpSpPr>
        <p:cNvPr id="1" name=""/>
        <p:cNvGrpSpPr/>
        <p:nvPr/>
      </p:nvGrpSpPr>
      <p:grpSpPr>
        <a:xfrm>
          <a:off x="0" y="0"/>
          <a:ext cx="0" cy="0"/>
          <a:chOff x="0" y="0"/>
          <a:chExt cx="0" cy="0"/>
        </a:xfrm>
      </p:grpSpPr>
      <p:sp>
        <p:nvSpPr>
          <p:cNvPr id="234" name="Shape 1"/>
          <p:cNvSpPr/>
          <p:nvPr/>
        </p:nvSpPr>
        <p:spPr>
          <a:xfrm>
            <a:off x="2065320" y="731880"/>
            <a:ext cx="1679400" cy="1646640"/>
          </a:xfrm>
          <a:prstGeom prst="ellipse">
            <a:avLst/>
          </a:prstGeom>
          <a:solidFill>
            <a:schemeClr val="accent6">
              <a:lumMod val="75000"/>
            </a:schemeClr>
          </a:solidFill>
          <a:ln w="76200">
            <a:noFill/>
          </a:ln>
          <a:effectLst>
            <a:outerShdw algn="ctr" blurRad="44280" dir="5400000" dist="28080">
              <a:srgbClr val="000000">
                <a:alpha val="32000"/>
              </a:srgbClr>
            </a:out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235" name="Text 2"/>
          <p:cNvSpPr/>
          <p:nvPr/>
        </p:nvSpPr>
        <p:spPr>
          <a:xfrm>
            <a:off x="914400" y="3017520"/>
            <a:ext cx="7314840" cy="5940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600" spc="-1" strike="noStrike">
                <a:solidFill>
                  <a:srgbClr val="ffffff"/>
                </a:solidFill>
                <a:latin typeface="Times New Roman"/>
                <a:ea typeface="Times New Roman"/>
              </a:rPr>
              <a:t>Merci pour</a:t>
            </a:r>
            <a:endParaRPr b="0" lang="fr-FR" sz="3600" spc="-1" strike="noStrike">
              <a:solidFill>
                <a:srgbClr val="ffffff"/>
              </a:solidFill>
              <a:latin typeface="Arial"/>
            </a:endParaRPr>
          </a:p>
        </p:txBody>
      </p:sp>
      <p:sp>
        <p:nvSpPr>
          <p:cNvPr id="236" name="Text 3"/>
          <p:cNvSpPr/>
          <p:nvPr/>
        </p:nvSpPr>
        <p:spPr>
          <a:xfrm>
            <a:off x="914400" y="3566160"/>
            <a:ext cx="7314840" cy="5940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600" spc="-1" strike="noStrike">
                <a:solidFill>
                  <a:schemeClr val="lt1"/>
                </a:solidFill>
                <a:latin typeface="Times New Roman"/>
                <a:ea typeface="Times New Roman"/>
              </a:rPr>
              <a:t>votre attention</a:t>
            </a:r>
            <a:endParaRPr b="0" lang="fr-FR" sz="3600" spc="-1" strike="noStrike">
              <a:solidFill>
                <a:srgbClr val="ffffff"/>
              </a:solidFill>
              <a:latin typeface="Arial"/>
            </a:endParaRPr>
          </a:p>
        </p:txBody>
      </p:sp>
      <p:sp>
        <p:nvSpPr>
          <p:cNvPr id="237" name="Shape 1"/>
          <p:cNvSpPr/>
          <p:nvPr/>
        </p:nvSpPr>
        <p:spPr>
          <a:xfrm>
            <a:off x="3494520" y="688680"/>
            <a:ext cx="1679400" cy="1646640"/>
          </a:xfrm>
          <a:prstGeom prst="ellipse">
            <a:avLst/>
          </a:prstGeom>
          <a:solidFill>
            <a:srgbClr val="ff0000"/>
          </a:solidFill>
          <a:ln w="76200">
            <a:noFill/>
          </a:ln>
          <a:effectLst>
            <a:outerShdw algn="ctr" blurRad="44280" dir="5400000" dist="28080">
              <a:srgbClr val="000000">
                <a:alpha val="32000"/>
              </a:srgbClr>
            </a:out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238" name="Shape 1"/>
          <p:cNvSpPr/>
          <p:nvPr/>
        </p:nvSpPr>
        <p:spPr>
          <a:xfrm>
            <a:off x="4924080" y="743760"/>
            <a:ext cx="1679400" cy="1646640"/>
          </a:xfrm>
          <a:prstGeom prst="ellipse">
            <a:avLst/>
          </a:prstGeom>
          <a:solidFill>
            <a:schemeClr val="accent4">
              <a:lumMod val="75000"/>
            </a:schemeClr>
          </a:solidFill>
          <a:ln w="76200">
            <a:noFill/>
          </a:ln>
          <a:effectLst>
            <a:outerShdw algn="ctr" blurRad="44280" dir="5400000" dist="28080">
              <a:srgbClr val="000000">
                <a:alpha val="32000"/>
              </a:srgbClr>
            </a:out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90000" rIns="90000" tIns="45000" bIns="45000" anchor="t">
            <a:noAutofit/>
          </a:bodyPr>
          <a:p>
            <a:pPr defTabSz="914400">
              <a:lnSpc>
                <a:spcPct val="100000"/>
              </a:lnSpc>
            </a:pPr>
            <a:endParaRPr b="0" lang="fr-CM" sz="1800" spc="-1" strike="noStrike">
              <a:solidFill>
                <a:schemeClr val="dk1"/>
              </a:solidFill>
              <a:latin typeface="Calibri"/>
            </a:endParaRPr>
          </a:p>
        </p:txBody>
      </p:sp>
      <p:sp>
        <p:nvSpPr>
          <p:cNvPr id="239" name="Étoile : 5 branches 15"/>
          <p:cNvSpPr/>
          <p:nvPr/>
        </p:nvSpPr>
        <p:spPr>
          <a:xfrm>
            <a:off x="4133520" y="1280520"/>
            <a:ext cx="438120" cy="375480"/>
          </a:xfrm>
          <a:prstGeom prst="star5">
            <a:avLst>
              <a:gd name="adj" fmla="val 19098"/>
              <a:gd name="hf" fmla="val 105146"/>
              <a:gd name="vf" fmla="val 110557"/>
            </a:avLst>
          </a:prstGeom>
          <a:solidFill>
            <a:schemeClr val="accent4">
              <a:lumMod val="75000"/>
            </a:schemeClr>
          </a:solidFill>
          <a:ln>
            <a:noFill/>
          </a:ln>
          <a:effectLst>
            <a:outerShdw algn="ctr" blurRad="44280" dir="5400000" dist="28080">
              <a:srgbClr val="000000">
                <a:alpha val="32000"/>
              </a:srgbClr>
            </a:outerShdw>
          </a:effectLst>
          <a:scene3d>
            <a:camera prst="orthographicFront">
              <a:rot lat="0" lon="0" rev="0"/>
            </a:camera>
            <a:lightRig dir="t" rig="balanced">
              <a:rot lat="0" lon="0" rev="8700000"/>
            </a:lightRig>
          </a:scene3d>
          <a:sp3d>
            <a:bevelT w="190500" h="38100"/>
          </a:sp3d>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fr-CM"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441</TotalTime>
  <Application>LibreOffice/24.2.7.2$Linux_X86_64 LibreOffice_project/420$Build-2</Application>
  <AppVersion>15.0000</AppVersion>
  <Words>1598</Words>
  <Paragraphs>228</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2026-05-22T00:17:38Z</dcterms:created>
  <dc:creator>PptxGenJS</dc:creator>
  <dc:description/>
  <dc:language>fr-FR</dc:language>
  <cp:lastModifiedBy/>
  <dcterms:modified xsi:type="dcterms:W3CDTF">2026-07-24T00:01:27Z</dcterms:modified>
  <cp:revision>8</cp:revision>
  <dc:subject>PptxGenJS Presentation</dc:subject>
  <dc:title>Dossier de Conception – AppArmor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Affichage à l'écran (16:9)</vt:lpwstr>
  </property>
  <property fmtid="{D5CDD505-2E9C-101B-9397-08002B2CF9AE}" pid="4" name="Slides">
    <vt:i4>16</vt:i4>
  </property>
</Properties>
</file>