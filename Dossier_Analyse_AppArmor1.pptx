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71" r:id="rId10"/>
    <p:sldId id="263" r:id="rId11"/>
    <p:sldId id="267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09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846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1A1B7-E725-E704-6A76-0BC89EF74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A671CF-9556-5695-D0A8-E1F6C3752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1FEC4-D3B4-048A-6649-75120BD70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FCBFF-FDBA-1957-8DDA-EF4571E6F7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104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97328-FDB8-AB88-547C-23E116464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E33BAC-D0ED-4FAE-322C-0F444B761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1E6486-4EE2-8DC5-A74C-7B656C819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B110B-246D-BF37-6E0C-357E006FC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8687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fr-CM"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fr-CM"/>
          </a:p>
        </p:txBody>
      </p:sp>
      <p:sp>
        <p:nvSpPr>
          <p:cNvPr id="4" name="Shape 2"/>
          <p:cNvSpPr/>
          <p:nvPr/>
        </p:nvSpPr>
        <p:spPr>
          <a:xfrm>
            <a:off x="6801492" y="-439734"/>
            <a:ext cx="2794571" cy="265895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6" name="Text 4"/>
          <p:cNvSpPr/>
          <p:nvPr/>
        </p:nvSpPr>
        <p:spPr>
          <a:xfrm>
            <a:off x="365608" y="176751"/>
            <a:ext cx="8001076" cy="471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SECURITE DES SYSTEMES D’EXPOITATION</a:t>
            </a:r>
          </a:p>
          <a:p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SYSTEME D’EXPLOITATION AVANCEE </a:t>
            </a:r>
            <a:endParaRPr lang="fr-CM" sz="2000" b="1" dirty="0">
              <a:solidFill>
                <a:schemeClr val="accent1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67080" y="1097280"/>
            <a:ext cx="7772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Gestionnaire Web Sécurisé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pour l'Administration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 Profils AppArmor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9692" y="271494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Détection &amp; Mitigation des Comportements Malveillants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3657600"/>
            <a:ext cx="3200400" cy="36576"/>
          </a:xfrm>
          <a:prstGeom prst="rect">
            <a:avLst/>
          </a:prstGeom>
          <a:solidFill>
            <a:srgbClr val="DCE2EC">
              <a:alpha val="60000"/>
            </a:srgbClr>
          </a:solidFill>
          <a:ln w="12700">
            <a:solidFill>
              <a:srgbClr val="DCE2E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0" name="Text 8"/>
          <p:cNvSpPr/>
          <p:nvPr/>
        </p:nvSpPr>
        <p:spPr>
          <a:xfrm>
            <a:off x="365760" y="37673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Groupe 6  |  Institut Saint Jean  |  Sécurité des </a:t>
            </a:r>
            <a:r>
              <a:rPr lang="en-US" sz="1400" dirty="0" err="1">
                <a:solidFill>
                  <a:srgbClr val="DCE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Systèmes</a:t>
            </a:r>
            <a:r>
              <a:rPr lang="en-US" sz="1400" dirty="0">
                <a:solidFill>
                  <a:srgbClr val="DCE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dirty="0" err="1">
                <a:solidFill>
                  <a:srgbClr val="DCE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d’Information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6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NANA NDIEUPE Emilie  ·  NSOE MARIE  ·  SIMO YANNICK  |  Supervisé par M. NGUIMBUS Emmanuel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6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Année 2025 - 2026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E883C3A6-4862-8FF5-6E54-6979AB150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240" y="-25837"/>
            <a:ext cx="1879705" cy="18271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52090" cy="51435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84505" y="532201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SOMMAIRE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2880" y="1005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2A3B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Dossier d'Analyse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54680" y="49377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49377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1097280"/>
            <a:ext cx="5760720" cy="50292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1" name="Text 9"/>
          <p:cNvSpPr/>
          <p:nvPr/>
        </p:nvSpPr>
        <p:spPr>
          <a:xfrm>
            <a:off x="3154680" y="113385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113385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Contexte &amp; Périmètre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54680" y="177393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177393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Exigences Fonctionnelles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08960" y="2377440"/>
            <a:ext cx="5760720" cy="50292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9" name="Text 17"/>
          <p:cNvSpPr/>
          <p:nvPr/>
        </p:nvSpPr>
        <p:spPr>
          <a:xfrm>
            <a:off x="3154680" y="241401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241401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Exigences Non-Fonctionnelles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54680" y="305409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49040" y="305409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Description des Cas d'Utilisation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108960" y="3657600"/>
            <a:ext cx="5760720" cy="50292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7" name="Text 25"/>
          <p:cNvSpPr/>
          <p:nvPr/>
        </p:nvSpPr>
        <p:spPr>
          <a:xfrm>
            <a:off x="3154680" y="369417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49040" y="369417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Diagramme UML – Use Case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154680" y="433425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49040" y="433425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Synthèse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· Introduction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3931920" cy="38404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1" name="Text 9"/>
          <p:cNvSpPr/>
          <p:nvPr/>
        </p:nvSpPr>
        <p:spPr>
          <a:xfrm>
            <a:off x="45720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Présentation du Projet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 projet académique vise à concevoir, développer et déployer un gestionnaire web sécurisé dédié à l'administration et à l'audit des profils AppArmor sur des systèmes Linux Ubuntu.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 système devra non seulement administrer les politiques de </a:t>
            </a:r>
            <a:r>
              <a:rPr lang="en-US" sz="1100" dirty="0" err="1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sécurité</a:t>
            </a: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AppArmor, mais aussi détecter et répondre aux comportements malveillants en temps réel.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960120"/>
            <a:ext cx="4389120" cy="10972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 dirty="0"/>
          </a:p>
        </p:txBody>
      </p:sp>
      <p:sp>
        <p:nvSpPr>
          <p:cNvPr id="15" name="Text 13"/>
          <p:cNvSpPr/>
          <p:nvPr/>
        </p:nvSpPr>
        <p:spPr>
          <a:xfrm>
            <a:off x="4663440" y="10515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Sécurité Linux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134416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Renforcer la gestion des profils AppArmor via une solution centralisée web sur Ubuntu.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2194560"/>
            <a:ext cx="4389120" cy="10972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9" name="Text 17"/>
          <p:cNvSpPr/>
          <p:nvPr/>
        </p:nvSpPr>
        <p:spPr>
          <a:xfrm>
            <a:off x="4663440" y="2286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Attaque</a:t>
            </a:r>
            <a:r>
              <a:rPr lang="en-US" sz="12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Défense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257860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Simuler des scénarios d'attaques réelles et démontrer l'efficacité des mécanismes de défense AppArmor.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3429000"/>
            <a:ext cx="4389120" cy="10972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3" name="Text 21"/>
          <p:cNvSpPr/>
          <p:nvPr/>
        </p:nvSpPr>
        <p:spPr>
          <a:xfrm>
            <a:off x="4663440" y="3520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&amp; Logs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381304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Analyser les logs, comparer l'état avant/après protection et visualiser les incidents via un dashboard.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· Contexte &amp; Périmètre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8595360" cy="96012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1" name="Text 9"/>
          <p:cNvSpPr/>
          <p:nvPr/>
        </p:nvSpPr>
        <p:spPr>
          <a:xfrm>
            <a:off x="41148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Contexte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234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 systèmes Linux sont exposés à des attaques variées (accès non autorisé, exécution de commandes malveillantes). AppArmor est un module de </a:t>
            </a:r>
            <a:r>
              <a:rPr lang="en-US" sz="1050" dirty="0" err="1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sécurité</a:t>
            </a:r>
            <a:r>
              <a:rPr lang="en-US" sz="10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Linux basé sur le Mandatory Access Control (MAC) qui définit et applique des politiques strictes pour chaque application. Ce projet centralise sa gestion dans une interface web sécurisée.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011680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4" name="Shape 12"/>
          <p:cNvSpPr/>
          <p:nvPr/>
        </p:nvSpPr>
        <p:spPr>
          <a:xfrm>
            <a:off x="274320" y="2011680"/>
            <a:ext cx="2697480" cy="4114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5" name="Text 13"/>
          <p:cNvSpPr/>
          <p:nvPr/>
        </p:nvSpPr>
        <p:spPr>
          <a:xfrm>
            <a:off x="365760" y="2029968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Inclus</a:t>
            </a: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dans le périmètre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2468880"/>
            <a:ext cx="2514600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rgbClr val="1E2D4E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Déploiement local / VMware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vulnérable (démo attaque)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45973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web sécurisée (HTTPS)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775204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Intégration avec AppArmor (Ubuntu)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3090672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Gestion centralisée des </a:t>
            </a:r>
            <a:r>
              <a:rPr lang="en-US" sz="95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profils</a:t>
            </a:r>
            <a:endParaRPr lang="en-US" sz="950" dirty="0">
              <a:solidFill>
                <a:srgbClr val="1E2D4E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760" y="3200400"/>
            <a:ext cx="2532888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Visualisation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analyse des logs</a:t>
            </a:r>
          </a:p>
        </p:txBody>
      </p:sp>
      <p:sp>
        <p:nvSpPr>
          <p:cNvPr id="21" name="Text 19"/>
          <p:cNvSpPr/>
          <p:nvPr/>
        </p:nvSpPr>
        <p:spPr>
          <a:xfrm>
            <a:off x="270210" y="4069080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</a:t>
            </a:r>
            <a:r>
              <a:rPr lang="en-US" sz="95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Détection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mitigation des menaces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03707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352544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vulnérable (démo attaque)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081528" y="2011680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5" name="Shape 23"/>
          <p:cNvSpPr/>
          <p:nvPr/>
        </p:nvSpPr>
        <p:spPr>
          <a:xfrm>
            <a:off x="3081528" y="2011680"/>
            <a:ext cx="2697480" cy="4114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6" name="Text 24"/>
          <p:cNvSpPr/>
          <p:nvPr/>
        </p:nvSpPr>
        <p:spPr>
          <a:xfrm>
            <a:off x="3172968" y="2029968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Hors périmètre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91256" y="2468880"/>
            <a:ext cx="2514600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72968" y="245973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 SELinux ou autres LSM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72968" y="2775204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Déploiement Windows / macOS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163824" y="3044952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Réseaux distribués à grande échelle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172968" y="3355848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IA avancée (option future)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172968" y="371703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888736" y="2011680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34" name="Shape 32"/>
          <p:cNvSpPr/>
          <p:nvPr/>
        </p:nvSpPr>
        <p:spPr>
          <a:xfrm>
            <a:off x="5888736" y="2011680"/>
            <a:ext cx="2697480" cy="4114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5" name="Text 33"/>
          <p:cNvSpPr/>
          <p:nvPr/>
        </p:nvSpPr>
        <p:spPr>
          <a:xfrm>
            <a:off x="5980176" y="2029968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Contraintes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98464" y="2468880"/>
            <a:ext cx="2514600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80176" y="245973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Technologies open source uniquement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80176" y="2775204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Environnement local ou virtualisé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989320" y="3138678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Respect des bonnes pratiques web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007608" y="356487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acceptable (&lt; 5 s)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98464" y="3561588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· Exigences Fonctionnelles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4206240" cy="9144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1" name="Text 9"/>
          <p:cNvSpPr/>
          <p:nvPr/>
        </p:nvSpPr>
        <p:spPr>
          <a:xfrm>
            <a:off x="411480" y="9875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Times New Roman" pitchFamily="34" charset="0"/>
                <a:cs typeface="Times New Roman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33272" y="9692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Authentification sécurisée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1261872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 administrateur/auditeur par identifiant + mot de passe hashé. Journalisation des tentatives.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938528"/>
            <a:ext cx="4206240" cy="9144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6" name="Text 14"/>
          <p:cNvSpPr/>
          <p:nvPr/>
        </p:nvSpPr>
        <p:spPr>
          <a:xfrm>
            <a:off x="411480" y="20116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Times New Roman" pitchFamily="34" charset="0"/>
                <a:cs typeface="Times New Roman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33272" y="19933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Gestion des profils AppArmor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2286000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Création, modification, suppression, activation/désactivation des profils. Modes complain &amp; enforce.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0604" y="3003452"/>
            <a:ext cx="4206240" cy="9144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6" name="Text 24"/>
          <p:cNvSpPr/>
          <p:nvPr/>
        </p:nvSpPr>
        <p:spPr>
          <a:xfrm>
            <a:off x="370332" y="30034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Times New Roman" pitchFamily="34" charset="0"/>
                <a:cs typeface="Times New Roman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3272" y="30632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de surveillance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0624" y="3346704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Tableau de bord affichant l'état global des profils, alertes en cours et métriques de </a:t>
            </a:r>
            <a:r>
              <a:rPr lang="en-US" sz="95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sécurité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914400"/>
            <a:ext cx="4206240" cy="9144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31" name="Text 29"/>
          <p:cNvSpPr/>
          <p:nvPr/>
        </p:nvSpPr>
        <p:spPr>
          <a:xfrm>
            <a:off x="4846320" y="9875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Times New Roman" pitchFamily="34" charset="0"/>
                <a:cs typeface="Times New Roman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68112" y="9692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Visualisation temps réel des logs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1261872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Collecte et affichage en direct des logs AppArmor avec filtrage, recherche et historisation.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2962656"/>
            <a:ext cx="4206240" cy="9144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41" name="Text 39"/>
          <p:cNvSpPr/>
          <p:nvPr/>
        </p:nvSpPr>
        <p:spPr>
          <a:xfrm>
            <a:off x="4846320" y="30358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Times New Roman" pitchFamily="34" charset="0"/>
                <a:cs typeface="Times New Roman" pitchFamily="34" charset="-120"/>
              </a:rPr>
              <a:t>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68112" y="3017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Mitigation &amp; réponse aux incidents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46320" y="3310128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Blocage automatique, restriction de processus, isolation d'application et notification admin.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· Exigences Non-Fonctionnelles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2743200" cy="384048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1" name="Text 9"/>
          <p:cNvSpPr/>
          <p:nvPr/>
        </p:nvSpPr>
        <p:spPr>
          <a:xfrm>
            <a:off x="384048" y="9692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Authentification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 hash bcrypt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16824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Protection XSS, CSRF, injection SQL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0208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Chiffrement HTTPS (TLS)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Journalisation des actions sensibles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54680" y="9144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7" name="Shape 15"/>
          <p:cNvSpPr/>
          <p:nvPr/>
        </p:nvSpPr>
        <p:spPr>
          <a:xfrm>
            <a:off x="3154680" y="914400"/>
            <a:ext cx="2743200" cy="384048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8" name="Text 16"/>
          <p:cNvSpPr/>
          <p:nvPr/>
        </p:nvSpPr>
        <p:spPr>
          <a:xfrm>
            <a:off x="3264408" y="9692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Temps de réponse &lt; 5 secondes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46120" y="16824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Mise à jour logs quasi-temps réel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46120" y="20208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Gestion simultanée de plusieurs profils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46120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 fluide même sous charge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35040" y="9144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4" name="Shape 22"/>
          <p:cNvSpPr/>
          <p:nvPr/>
        </p:nvSpPr>
        <p:spPr>
          <a:xfrm>
            <a:off x="6035040" y="914400"/>
            <a:ext cx="2743200" cy="384048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5" name="Text 23"/>
          <p:cNvSpPr/>
          <p:nvPr/>
        </p:nvSpPr>
        <p:spPr>
          <a:xfrm>
            <a:off x="6144768" y="9692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Disponibilité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Accessible 24h/24 en local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26480" y="16824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Résistance aux pannes mineures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26480" y="20208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Sauvegarde automatique des configs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0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Restauration rapide du système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852928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31" name="Shape 29"/>
          <p:cNvSpPr/>
          <p:nvPr/>
        </p:nvSpPr>
        <p:spPr>
          <a:xfrm>
            <a:off x="274320" y="2852928"/>
            <a:ext cx="2743200" cy="384048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2" name="Text 30"/>
          <p:cNvSpPr/>
          <p:nvPr/>
        </p:nvSpPr>
        <p:spPr>
          <a:xfrm>
            <a:off x="384048" y="29077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Évolutivité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32826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modulaire extensible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36210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Ajout futur de modules IA/SIEM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39593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interne pour intégrations tierces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42976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Documentation technique complète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54680" y="2852928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38" name="Shape 36"/>
          <p:cNvSpPr/>
          <p:nvPr/>
        </p:nvSpPr>
        <p:spPr>
          <a:xfrm>
            <a:off x="3154680" y="2852928"/>
            <a:ext cx="2743200" cy="384048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9" name="Text 37"/>
          <p:cNvSpPr/>
          <p:nvPr/>
        </p:nvSpPr>
        <p:spPr>
          <a:xfrm>
            <a:off x="3264408" y="29077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Maintenabilité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46120" y="32826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source commenté et versionné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46120" y="36210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Tests unitaires &amp; fonctionnels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246120" y="39593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Séparation frontend / backend claire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246120" y="42976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 d'erreurs applicatifs détaillés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35040" y="2852928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45" name="Shape 43"/>
          <p:cNvSpPr/>
          <p:nvPr/>
        </p:nvSpPr>
        <p:spPr>
          <a:xfrm>
            <a:off x="6035040" y="2852928"/>
            <a:ext cx="2743200" cy="384048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6" name="Text 44"/>
          <p:cNvSpPr/>
          <p:nvPr/>
        </p:nvSpPr>
        <p:spPr>
          <a:xfrm>
            <a:off x="6144768" y="29077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Ergonomie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26480" y="32826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 intuitive sans formation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26480" y="36210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Tableau de bord lisible &amp; clair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26480" y="39593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Alertes visuelles immédiates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26480" y="42976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>
                <a:solidFill>
                  <a:srgbClr val="1E2D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Compatible navigateurs modernes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· Description des Cas d'Utilisation (1/2)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11680" y="658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Acteur : Administrateur</a:t>
            </a:r>
            <a:endParaRPr lang="en-US" sz="10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E822B43-3202-802F-56F7-426E5DBB5258}"/>
              </a:ext>
            </a:extLst>
          </p:cNvPr>
          <p:cNvSpPr txBox="1"/>
          <p:nvPr/>
        </p:nvSpPr>
        <p:spPr>
          <a:xfrm>
            <a:off x="478302" y="1014372"/>
            <a:ext cx="7576145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— </a:t>
            </a: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S’authentifier</a:t>
            </a:r>
          </a:p>
          <a:p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Acteur: administrateur</a:t>
            </a:r>
          </a:p>
          <a:p>
            <a:r>
              <a:rPr lang="fr-FR" sz="1200" b="1" dirty="0"/>
              <a:t>Objectif</a:t>
            </a:r>
          </a:p>
          <a:p>
            <a:r>
              <a:rPr lang="fr-FR" sz="1200" dirty="0"/>
              <a:t>Permettre à l'administrateur d'accéder à l'application.</a:t>
            </a:r>
          </a:p>
          <a:p>
            <a:r>
              <a:rPr lang="fr-FR" sz="1200" b="1" dirty="0"/>
              <a:t>Scénario principal</a:t>
            </a:r>
          </a:p>
          <a:p>
            <a:pPr>
              <a:buFont typeface="+mj-lt"/>
              <a:buAutoNum type="arabicPeriod"/>
            </a:pPr>
            <a:r>
              <a:rPr lang="fr-FR" sz="1200" dirty="0"/>
              <a:t>L'administrateur ouvre l'application Web. </a:t>
            </a:r>
          </a:p>
          <a:p>
            <a:pPr>
              <a:buFont typeface="+mj-lt"/>
              <a:buAutoNum type="arabicPeriod"/>
            </a:pPr>
            <a:r>
              <a:rPr lang="fr-FR" sz="1200" dirty="0"/>
              <a:t>Il saisit son identifiant et son mot de passe. </a:t>
            </a:r>
          </a:p>
          <a:p>
            <a:pPr>
              <a:buFont typeface="+mj-lt"/>
              <a:buAutoNum type="arabicPeriod"/>
            </a:pPr>
            <a:r>
              <a:rPr lang="fr-FR" sz="1200" dirty="0"/>
              <a:t>L'application vérifie les informations. </a:t>
            </a:r>
          </a:p>
          <a:p>
            <a:pPr>
              <a:buFont typeface="+mj-lt"/>
              <a:buAutoNum type="arabicPeriod"/>
            </a:pPr>
            <a:r>
              <a:rPr lang="fr-FR" sz="1200" dirty="0"/>
              <a:t>Si elles sont correctes, le tableau de bord est affiché. </a:t>
            </a:r>
          </a:p>
          <a:p>
            <a:pPr>
              <a:buFont typeface="+mj-lt"/>
              <a:buAutoNum type="arabicPeriod"/>
            </a:pPr>
            <a:r>
              <a:rPr lang="fr-FR" sz="1200" dirty="0"/>
              <a:t>Sinon un message d'erreur apparaît. </a:t>
            </a:r>
          </a:p>
          <a:p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5EFFC-888B-2006-9CC6-398EBC9AD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60F48F-16E6-8063-CCBA-E20B89CD5A5B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1B12D1-1476-D45E-F9BA-CAF09BB8928B}"/>
              </a:ext>
            </a:extLst>
          </p:cNvPr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· Description des Cas d'Utilisation (1/2)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ED712CE-86ED-83D1-A5A6-0BAB52F4E3BD}"/>
              </a:ext>
            </a:extLst>
          </p:cNvPr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2E93069-2742-65E7-96B8-A1F30308136C}"/>
              </a:ext>
            </a:extLst>
          </p:cNvPr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8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E9D4E38-2002-778B-5A05-68AAA6C31C9A}"/>
              </a:ext>
            </a:extLst>
          </p:cNvPr>
          <p:cNvSpPr/>
          <p:nvPr/>
        </p:nvSpPr>
        <p:spPr>
          <a:xfrm>
            <a:off x="2011680" y="658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Acteur : Administrateur</a:t>
            </a:r>
            <a:endParaRPr lang="en-US" sz="10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9EFDAE4-FA56-FB73-FBD1-9192584C60FC}"/>
              </a:ext>
            </a:extLst>
          </p:cNvPr>
          <p:cNvSpPr txBox="1"/>
          <p:nvPr/>
        </p:nvSpPr>
        <p:spPr>
          <a:xfrm>
            <a:off x="418167" y="898147"/>
            <a:ext cx="7576145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— </a:t>
            </a: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Créer profils</a:t>
            </a: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Acteur: administrateur</a:t>
            </a:r>
          </a:p>
          <a:p>
            <a:r>
              <a:rPr lang="fr-FR" sz="1200" b="1" dirty="0"/>
              <a:t>Objectif</a:t>
            </a:r>
          </a:p>
          <a:p>
            <a:r>
              <a:rPr lang="fr-FR" sz="1200" dirty="0"/>
              <a:t>Permettre à l'administrateur de créer un nouveau profil </a:t>
            </a:r>
            <a:r>
              <a:rPr lang="fr-FR" sz="1200" dirty="0" err="1"/>
              <a:t>AppArmor</a:t>
            </a:r>
            <a:r>
              <a:rPr lang="fr-FR" sz="1200" dirty="0"/>
              <a:t> afin de protéger une application installée sur le système.</a:t>
            </a:r>
          </a:p>
          <a:p>
            <a:r>
              <a:rPr lang="fr-FR" sz="1200" b="1" dirty="0"/>
              <a:t>Acteur</a:t>
            </a:r>
          </a:p>
          <a:p>
            <a:r>
              <a:rPr lang="fr-FR" sz="1200" dirty="0"/>
              <a:t>Administrateur.</a:t>
            </a:r>
          </a:p>
          <a:p>
            <a:r>
              <a:rPr lang="fr-FR" sz="1200" b="1" dirty="0"/>
              <a:t>Préconditions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/>
              <a:t>L'administrateur est authentifié.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/>
              <a:t>L'application à protéger est installée sur le serveur.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 err="1"/>
              <a:t>AppArmor</a:t>
            </a:r>
            <a:r>
              <a:rPr lang="fr-FR" sz="1200" dirty="0"/>
              <a:t> est installé et actif. </a:t>
            </a:r>
          </a:p>
          <a:p>
            <a:r>
              <a:rPr lang="fr-FR" sz="1200" b="1" dirty="0"/>
              <a:t>Scénario principal</a:t>
            </a:r>
          </a:p>
          <a:p>
            <a:pPr marL="228600" indent="-228600">
              <a:buAutoNum type="arabicPeriod"/>
            </a:pPr>
            <a:r>
              <a:rPr lang="fr-FR" sz="1200" dirty="0"/>
              <a:t>L'administrateur ouvre le menu </a:t>
            </a:r>
            <a:r>
              <a:rPr lang="fr-FR" sz="1200" b="1" dirty="0"/>
              <a:t>Gestion des profils</a:t>
            </a:r>
            <a:r>
              <a:rPr lang="fr-FR" sz="1200" dirty="0"/>
              <a:t> puis clique sur </a:t>
            </a:r>
            <a:r>
              <a:rPr lang="fr-FR" sz="1200" b="1" dirty="0"/>
              <a:t>Créer un profil</a:t>
            </a:r>
            <a:r>
              <a:rPr lang="fr-FR" sz="1200" dirty="0"/>
              <a:t>. </a:t>
            </a:r>
          </a:p>
          <a:p>
            <a:pPr marL="228600" indent="-228600">
              <a:buAutoNum type="arabicPeriod"/>
            </a:pPr>
            <a:r>
              <a:rPr lang="fr-FR" sz="1200" dirty="0"/>
              <a:t>L'application affiche un formulaire contenant les champs suivants :</a:t>
            </a:r>
            <a:r>
              <a:rPr lang="fr-CM" sz="1200" dirty="0"/>
              <a:t>Nom de l'application, chemin de l'exécutable, description, mode initial (enforce ou </a:t>
            </a:r>
            <a:r>
              <a:rPr lang="fr-CM" sz="1200" dirty="0" err="1"/>
              <a:t>complain</a:t>
            </a:r>
            <a:r>
              <a:rPr lang="fr-CM" sz="1200" dirty="0"/>
              <a:t>).</a:t>
            </a:r>
          </a:p>
          <a:p>
            <a:pPr marL="228600" indent="-228600">
              <a:buAutoNum type="arabicPeriod"/>
            </a:pPr>
            <a:r>
              <a:rPr lang="fr-CM" sz="1200" dirty="0"/>
              <a:t>L</a:t>
            </a:r>
            <a:r>
              <a:rPr lang="fr-FR" sz="1200" dirty="0"/>
              <a:t>'administrateur remplit les champs puis clique sur Créer. </a:t>
            </a:r>
          </a:p>
          <a:p>
            <a:pPr marL="228600" indent="-228600">
              <a:buAutoNum type="arabicPeriod"/>
            </a:pPr>
            <a:r>
              <a:rPr lang="fr-FR" sz="1200" dirty="0"/>
              <a:t>L'application vérifie que tous les champs obligatoires sont renseignés, que le chemin fourni existe réellement, qu'un profil du même nom n'existe pas déjà. </a:t>
            </a:r>
          </a:p>
          <a:p>
            <a:pPr marL="228600" indent="-228600">
              <a:buAutoNum type="arabicPeriod"/>
            </a:pPr>
            <a:r>
              <a:rPr lang="fr-FR" sz="1200" dirty="0"/>
              <a:t>Si les vérifications sont correctes, l'application exécute automatiquement la commande de création du profil. </a:t>
            </a:r>
          </a:p>
          <a:p>
            <a:pPr marL="228600" indent="-228600">
              <a:buAutoNum type="arabicPeriod"/>
            </a:pPr>
            <a:r>
              <a:rPr lang="fr-FR" sz="1200" dirty="0"/>
              <a:t>Un message confirme que le profil a été créé avec succès. </a:t>
            </a:r>
          </a:p>
        </p:txBody>
      </p:sp>
    </p:spTree>
    <p:extLst>
      <p:ext uri="{BB962C8B-B14F-4D97-AF65-F5344CB8AC3E}">
        <p14:creationId xmlns:p14="http://schemas.microsoft.com/office/powerpoint/2010/main" val="1781187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36513-D0A8-A415-1712-3C3F35603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891AD9-E77A-41EA-2589-904F495E749C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165AFBC-31DD-200B-B8BC-10AABA0D30C6}"/>
              </a:ext>
            </a:extLst>
          </p:cNvPr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· Description des Cas d'Utilisation (1/2)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1B7356A-8CFE-8E5F-9639-C1962D8FF223}"/>
              </a:ext>
            </a:extLst>
          </p:cNvPr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3427F7D-8256-3156-6FCA-3458BE7ADB5D}"/>
              </a:ext>
            </a:extLst>
          </p:cNvPr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8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7DBAD07-FD73-5DCD-698E-A4212CEA161F}"/>
              </a:ext>
            </a:extLst>
          </p:cNvPr>
          <p:cNvSpPr/>
          <p:nvPr/>
        </p:nvSpPr>
        <p:spPr>
          <a:xfrm>
            <a:off x="2011680" y="658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Acteur : Administrateur</a:t>
            </a:r>
            <a:endParaRPr lang="en-US" sz="10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941DA74-EB7A-0B4A-F271-2A8F341CD2CE}"/>
              </a:ext>
            </a:extLst>
          </p:cNvPr>
          <p:cNvSpPr txBox="1"/>
          <p:nvPr/>
        </p:nvSpPr>
        <p:spPr>
          <a:xfrm>
            <a:off x="295421" y="914400"/>
            <a:ext cx="7576145" cy="4401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— </a:t>
            </a: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Activer profils</a:t>
            </a: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Acteur: administrateur</a:t>
            </a:r>
          </a:p>
          <a:p>
            <a:r>
              <a:rPr lang="fr-FR" sz="1600" b="1" dirty="0"/>
              <a:t>Objectif</a:t>
            </a:r>
          </a:p>
          <a:p>
            <a:r>
              <a:rPr lang="fr-FR" sz="1600" dirty="0"/>
              <a:t>Permettre à l'administrateur d'activer un profil </a:t>
            </a:r>
            <a:r>
              <a:rPr lang="fr-FR" sz="1600" dirty="0" err="1"/>
              <a:t>AppArmor</a:t>
            </a:r>
            <a:r>
              <a:rPr lang="fr-FR" sz="1600" dirty="0"/>
              <a:t> existant afin que les règles de sécurité définies soient appliquées à l'application protégée.</a:t>
            </a:r>
          </a:p>
          <a:p>
            <a:r>
              <a:rPr lang="fr-FR" sz="1600" b="1" dirty="0"/>
              <a:t>Scénario principal</a:t>
            </a:r>
          </a:p>
          <a:p>
            <a:r>
              <a:rPr lang="fr-FR" sz="1600" b="1" dirty="0"/>
              <a:t>1. Accès à la gestion des profils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L'administrateur se connecte à l'application Web. 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Il accède au menu </a:t>
            </a:r>
            <a:r>
              <a:rPr lang="fr-FR" sz="1600" b="1" dirty="0"/>
              <a:t>Gestion des profils </a:t>
            </a:r>
            <a:r>
              <a:rPr lang="fr-FR" sz="1600" b="1" dirty="0" err="1"/>
              <a:t>AppArmor</a:t>
            </a:r>
            <a:r>
              <a:rPr lang="fr-FR" sz="1600" dirty="0"/>
              <a:t>. 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L'application affiche la liste des profils disponibles.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L'administrateur sélectionne le profil qu'il souhaite activer.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L'application affiche les informations du profil.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L'administrateur clique sur le bouton ‘activer’.</a:t>
            </a:r>
          </a:p>
          <a:p>
            <a:pPr>
              <a:buFont typeface="+mj-lt"/>
              <a:buAutoNum type="arabicPeriod" startAt="7"/>
            </a:pPr>
            <a:r>
              <a:rPr lang="fr-FR" sz="1600" dirty="0"/>
              <a:t>L'application vérifie que le fichier du profil existe, que la syntaxe du profil est correcte.</a:t>
            </a:r>
          </a:p>
          <a:p>
            <a:pPr>
              <a:buFont typeface="+mj-lt"/>
              <a:buAutoNum type="arabicPeriod" startAt="7"/>
            </a:pPr>
            <a:r>
              <a:rPr lang="fr-FR" sz="1600" dirty="0"/>
              <a:t>Si le profil est valide, l'application charge le profil dans </a:t>
            </a:r>
            <a:r>
              <a:rPr lang="fr-FR" sz="1600" dirty="0" err="1"/>
              <a:t>AppArmor</a:t>
            </a:r>
            <a:r>
              <a:rPr lang="fr-FR" sz="1600" dirty="0"/>
              <a:t>.</a:t>
            </a:r>
          </a:p>
          <a:p>
            <a:pPr>
              <a:buFont typeface="+mj-lt"/>
              <a:buAutoNum type="arabicPeriod" startAt="7"/>
            </a:pPr>
            <a:endParaRPr lang="fr-FR" sz="1600" dirty="0"/>
          </a:p>
          <a:p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2667335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· Description des Cas d'Utilisation (2/2)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8778240" y="49880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A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68880" y="7132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Acteur : Admin</a:t>
            </a:r>
            <a:endParaRPr lang="en-US" sz="10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5117057-8115-7117-F0D5-ED40AAFE5271}"/>
              </a:ext>
            </a:extLst>
          </p:cNvPr>
          <p:cNvSpPr txBox="1"/>
          <p:nvPr/>
        </p:nvSpPr>
        <p:spPr>
          <a:xfrm>
            <a:off x="776893" y="1003160"/>
            <a:ext cx="3745870" cy="3877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— Activer mode Enforce</a:t>
            </a:r>
          </a:p>
          <a:p>
            <a:pPr algn="ctr"/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Acteur : L'administrateur </a:t>
            </a:r>
          </a:p>
          <a:p>
            <a:r>
              <a:rPr lang="fr-FR" sz="1400" b="1" dirty="0"/>
              <a:t>Objectif</a:t>
            </a:r>
          </a:p>
          <a:p>
            <a:r>
              <a:rPr lang="fr-FR" sz="1400" dirty="0"/>
              <a:t>Faire respecter strictement les règles du profil.</a:t>
            </a:r>
          </a:p>
          <a:p>
            <a:r>
              <a:rPr lang="fr-FR" sz="1400" b="1" dirty="0"/>
              <a:t>Acteur</a:t>
            </a:r>
          </a:p>
          <a:p>
            <a:r>
              <a:rPr lang="fr-FR" sz="1400" dirty="0"/>
              <a:t>Administrateur.</a:t>
            </a:r>
          </a:p>
          <a:p>
            <a:r>
              <a:rPr lang="fr-FR" sz="1400" b="1" dirty="0"/>
              <a:t>Scénario principal</a:t>
            </a:r>
          </a:p>
          <a:p>
            <a:pPr>
              <a:buFont typeface="+mj-lt"/>
              <a:buAutoNum type="arabicPeriod"/>
            </a:pPr>
            <a:r>
              <a:rPr lang="fr-FR" sz="1400" dirty="0"/>
              <a:t>L'administrateur ouvre les détails d'un profil. </a:t>
            </a:r>
          </a:p>
          <a:p>
            <a:pPr>
              <a:buFont typeface="+mj-lt"/>
              <a:buAutoNum type="arabicPeriod"/>
            </a:pPr>
            <a:r>
              <a:rPr lang="fr-FR" sz="1400" dirty="0"/>
              <a:t>Il clique sur </a:t>
            </a:r>
            <a:r>
              <a:rPr lang="fr-FR" sz="1400" b="1" dirty="0"/>
              <a:t>Activer le mode Enforce</a:t>
            </a:r>
            <a:r>
              <a:rPr lang="fr-FR" sz="1400" dirty="0"/>
              <a:t>. </a:t>
            </a:r>
          </a:p>
          <a:p>
            <a:pPr>
              <a:buFont typeface="+mj-lt"/>
              <a:buAutoNum type="arabicPeriod"/>
            </a:pPr>
            <a:r>
              <a:rPr lang="fr-FR" sz="1400" dirty="0"/>
              <a:t>L'application vérifie que le profil est valide. </a:t>
            </a:r>
          </a:p>
          <a:p>
            <a:pPr>
              <a:buFont typeface="+mj-lt"/>
              <a:buAutoNum type="arabicPeriod"/>
            </a:pPr>
            <a:r>
              <a:rPr lang="fr-FR" sz="1400" dirty="0"/>
              <a:t>Elle exécute la commande correspondante. </a:t>
            </a:r>
          </a:p>
          <a:p>
            <a:pPr>
              <a:buFont typeface="+mj-lt"/>
              <a:buAutoNum type="arabicPeriod"/>
            </a:pPr>
            <a:r>
              <a:rPr lang="fr-FR" sz="1400" dirty="0"/>
              <a:t>Le mode du profil passe à </a:t>
            </a:r>
            <a:r>
              <a:rPr lang="fr-FR" sz="1400" b="1" dirty="0"/>
              <a:t>Enforce</a:t>
            </a:r>
            <a:r>
              <a:rPr lang="fr-FR" sz="1400" dirty="0"/>
              <a:t>. </a:t>
            </a:r>
          </a:p>
          <a:p>
            <a:pPr>
              <a:buFont typeface="+mj-lt"/>
              <a:buAutoNum type="arabicPeriod"/>
            </a:pPr>
            <a:r>
              <a:rPr lang="fr-FR" sz="1400" dirty="0"/>
              <a:t>L'interface affiche un message de confirmation. </a:t>
            </a:r>
          </a:p>
          <a:p>
            <a:r>
              <a:rPr lang="fr-FR" sz="1400" b="1" dirty="0"/>
              <a:t>Postcondition</a:t>
            </a:r>
          </a:p>
          <a:p>
            <a:r>
              <a:rPr lang="fr-FR" sz="1400" dirty="0"/>
              <a:t>Toutes les actions non autorisées seront bloquées.</a:t>
            </a:r>
          </a:p>
          <a:p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5D182F1-80DA-2B60-157C-ACA76DD16F78}"/>
              </a:ext>
            </a:extLst>
          </p:cNvPr>
          <p:cNvSpPr txBox="1"/>
          <p:nvPr/>
        </p:nvSpPr>
        <p:spPr>
          <a:xfrm>
            <a:off x="4856523" y="1003160"/>
            <a:ext cx="3970953" cy="39087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— Activer mode 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Complain</a:t>
            </a: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Acteur : L'administrateur </a:t>
            </a: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600" b="1" dirty="0"/>
              <a:t>Objectif</a:t>
            </a:r>
          </a:p>
          <a:p>
            <a:r>
              <a:rPr lang="fr-FR" sz="1600" dirty="0"/>
              <a:t>Observer les violations sans les bloquer.</a:t>
            </a:r>
          </a:p>
          <a:p>
            <a:r>
              <a:rPr lang="fr-FR" sz="1600" b="1" dirty="0"/>
              <a:t>Acteur</a:t>
            </a:r>
          </a:p>
          <a:p>
            <a:r>
              <a:rPr lang="fr-FR" sz="1600" dirty="0"/>
              <a:t>Administrateur.</a:t>
            </a:r>
          </a:p>
          <a:p>
            <a:r>
              <a:rPr lang="fr-FR" sz="1600" b="1" dirty="0"/>
              <a:t>Scénario principal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L'administrateur sélectionne un profil. 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Il clique sur </a:t>
            </a:r>
            <a:r>
              <a:rPr lang="fr-FR" sz="1600" b="1" dirty="0"/>
              <a:t>Activer le mode </a:t>
            </a:r>
            <a:r>
              <a:rPr lang="fr-FR" sz="1600" b="1" dirty="0" err="1"/>
              <a:t>Complain</a:t>
            </a:r>
            <a:r>
              <a:rPr lang="fr-FR" sz="1600" dirty="0"/>
              <a:t>. 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L'application modifie le mode du profil. </a:t>
            </a:r>
          </a:p>
          <a:p>
            <a:pPr>
              <a:buFont typeface="+mj-lt"/>
              <a:buAutoNum type="arabicPeriod"/>
            </a:pPr>
            <a:r>
              <a:rPr lang="fr-FR" sz="1600" dirty="0"/>
              <a:t> L’application affiche un message de confirmation.</a:t>
            </a:r>
          </a:p>
          <a:p>
            <a:r>
              <a:rPr lang="fr-FR" sz="1600" dirty="0"/>
              <a:t>Toutes les violations sont désormais enregistrées dans les journaux sans être bloquées.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8DAB08-FF93-60BD-792D-8A9CAAB23573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8DCAC62C-B525-8350-58DD-57CDB135DB60}"/>
              </a:ext>
            </a:extLst>
          </p:cNvPr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· Diagramme UML – Use Case </a:t>
            </a:r>
            <a:r>
              <a:rPr lang="en-US" sz="2000" b="1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Spécifique</a:t>
            </a:r>
            <a:endParaRPr lang="en-US" sz="20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AF8D4F05-30FE-9E6A-DE68-29834AF94C0B}"/>
              </a:ext>
            </a:extLst>
          </p:cNvPr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F6249ED-2094-8D80-146A-693A5C3E0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90400"/>
            <a:ext cx="9144000" cy="440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499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3580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365760" y="1182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08· Conclusion &amp; Synthèse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5449" y="795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Synthèse des livrables attendus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019813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2">
                    <a:lumMod val="7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Cahier des charges</a:t>
            </a:r>
            <a:endParaRPr lang="en-US" sz="9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84048" y="134139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2">
                    <a:lumMod val="7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Dossier </a:t>
            </a:r>
            <a:r>
              <a:rPr lang="en-US" sz="950" dirty="0" err="1">
                <a:solidFill>
                  <a:schemeClr val="accent2">
                    <a:lumMod val="7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d'analyse</a:t>
            </a:r>
            <a:r>
              <a:rPr lang="en-US" sz="950" dirty="0">
                <a:solidFill>
                  <a:schemeClr val="accent2">
                    <a:lumMod val="7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65225" y="9911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Dossier de conception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546402" y="983905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Dossier de réalisation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65225" y="1317147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Dossier de déploiement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546402" y="1362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Rapport complet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1755237"/>
            <a:ext cx="4206240" cy="301752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7" name="Text 15"/>
          <p:cNvSpPr/>
          <p:nvPr/>
        </p:nvSpPr>
        <p:spPr>
          <a:xfrm>
            <a:off x="384048" y="1709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Avantages du projet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121408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Centralisation de la gestion AppArmor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254203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 web accessible &amp; intuitive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2962656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Réponse proactive aux incidents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3383280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Comparaison avant/après attaque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3803904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Stack 100% open source, coût nul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4224528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extensible (IA, SIEM)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0308" y="1755237"/>
            <a:ext cx="4206240" cy="301752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6" name="Text 24"/>
          <p:cNvSpPr/>
          <p:nvPr/>
        </p:nvSpPr>
        <p:spPr>
          <a:xfrm>
            <a:off x="4864608" y="1709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Risques identifiés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2121408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Accès root requis pour AppArmor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64608" y="254203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Dépendance à l'environnement Ubuntu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64608" y="2962656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Complexité d'intégration scripts/web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64608" y="3383280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Sécurisation de l'interface web elle-même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64608" y="3803904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64608" y="380416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Équipe </a:t>
            </a:r>
            <a:r>
              <a:rPr lang="en-US" sz="1000" dirty="0" err="1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réduite</a:t>
            </a: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0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9F590937-55E1-81D1-5DDC-BFF26DB145A3}"/>
              </a:ext>
            </a:extLst>
          </p:cNvPr>
          <p:cNvSpPr/>
          <p:nvPr/>
        </p:nvSpPr>
        <p:spPr>
          <a:xfrm>
            <a:off x="8412480" y="-274320"/>
            <a:ext cx="1097280" cy="1097280"/>
          </a:xfrm>
          <a:prstGeom prst="ellipse">
            <a:avLst/>
          </a:prstGeom>
          <a:solidFill>
            <a:srgbClr val="0D7E8A">
              <a:alpha val="30000"/>
            </a:srgbClr>
          </a:solidFill>
          <a:ln w="12700">
            <a:solidFill>
              <a:srgbClr val="0D7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Shape 2"/>
          <p:cNvSpPr/>
          <p:nvPr/>
        </p:nvSpPr>
        <p:spPr>
          <a:xfrm>
            <a:off x="6400800" y="-1371600"/>
            <a:ext cx="4114800" cy="4114800"/>
          </a:xfrm>
          <a:prstGeom prst="ellipse">
            <a:avLst/>
          </a:prstGeom>
          <a:solidFill>
            <a:srgbClr val="0D7E8A">
              <a:alpha val="20000"/>
            </a:srgbClr>
          </a:solidFill>
          <a:ln w="12700">
            <a:solidFill>
              <a:srgbClr val="0D7E8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Merci pour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votre attention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45720"/>
          </a:xfrm>
          <a:prstGeom prst="rect">
            <a:avLst/>
          </a:prstGeom>
          <a:solidFill>
            <a:srgbClr val="0D7E8A"/>
          </a:solidFill>
          <a:ln/>
        </p:spPr>
        <p:txBody>
          <a:bodyPr/>
          <a:lstStyle/>
          <a:p>
            <a:endParaRPr lang="fr-CM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1259</Words>
  <Application>Microsoft Office PowerPoint</Application>
  <PresentationFormat>Affichage à l'écran (16:9)</PresentationFormat>
  <Paragraphs>242</Paragraphs>
  <Slides>13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d'Analyse - Gestionnaire Web AppArmor</dc:title>
  <dc:subject>PptxGenJS Presentation</dc:subject>
  <dc:creator>Groupe 6 - Institut Saint Jean</dc:creator>
  <cp:lastModifiedBy>Emilie Nana Ndieupe</cp:lastModifiedBy>
  <cp:revision>29</cp:revision>
  <dcterms:created xsi:type="dcterms:W3CDTF">2026-05-13T20:12:27Z</dcterms:created>
  <dcterms:modified xsi:type="dcterms:W3CDTF">2026-07-11T12:17:07Z</dcterms:modified>
</cp:coreProperties>
</file>