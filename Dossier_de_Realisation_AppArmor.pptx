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01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7300000" y="-700000"/>
            <a:ext cx="2600000" cy="2600000"/>
          </a:xfrm>
          <a:prstGeom prst="ellipse">
            <a:avLst/>
          </a:prstGeom>
          <a:solidFill>
            <a:srgbClr val="0D7E8A">
              <a:alpha val="18000"/>
            </a:srgbClr>
          </a:solidFill>
          <a:ln>
            <a:solidFill>
              <a:srgbClr val="0D7E8A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00000" y="3600000"/>
            <a:ext cx="2200000" cy="2200000"/>
          </a:xfrm>
          <a:prstGeom prst="ellipse">
            <a:avLst/>
          </a:prstGeom>
          <a:solidFill>
            <a:srgbClr val="C9A84C">
              <a:alpha val="12000"/>
            </a:srgbClr>
          </a:solidFill>
          <a:ln>
            <a:solidFill>
              <a:srgbClr val="C9A84C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0000" y="430000"/>
            <a:ext cx="79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9A84C"/>
                </a:solidFill>
                <a:latin typeface="Times New Roman"/>
              </a:rPr>
              <a:t>SÉCURITÉ DES SYSTÈMES D'EXPLOITATION</a:t>
            </a:r>
          </a:p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12A3B4"/>
                </a:solidFill>
                <a:latin typeface="Times New Roman"/>
              </a:rPr>
              <a:t>Systèmes d'exploitation avancés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500000"/>
            <a:ext cx="79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</a:rPr>
              <a:t>Dossier de Réalisation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Gestionnaire Web Sécurisé pour l'Administration et l'Audit des Profils AppArmor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600000"/>
            <a:ext cx="79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C9A84C"/>
                </a:solidFill>
                <a:latin typeface="Times New Roman"/>
              </a:rPr>
              <a:t>Détection &amp; Mitigation des Comportements Malveillants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0000" y="3150000"/>
            <a:ext cx="1400000" cy="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0000" y="3300000"/>
            <a:ext cx="79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NANA NDIEUPE Emilie   ·   NSOE MARIE   ·   SIMO YANNICK</a:t>
            </a:r>
          </a:p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12A3B4"/>
                </a:solidFill>
                <a:latin typeface="Times New Roman"/>
              </a:rPr>
              <a:t>Supervisé par M. NGUIMBUS Emmanuel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CE2EC"/>
                </a:solidFill>
                <a:latin typeface="Times New Roman"/>
              </a:rPr>
              <a:t>Groupe 6  ·  Sécurité des Systèmes d'Information  ·  Année 2025 - 2026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133600" cy="51435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0000" y="480000"/>
            <a:ext cx="1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PLAN DU</a:t>
            </a:r>
          </a:p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9A84C"/>
                </a:solidFill>
                <a:latin typeface="Times New Roman"/>
              </a:rPr>
              <a:t>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43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0000" y="45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Introduction &amp; rappel de la conception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115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0000" y="117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Environnement de développement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187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0000" y="189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Architecture du code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259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000" y="261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Implémentation &amp; moteur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331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0000" y="333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Interface web &amp; API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0" y="403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000" y="4050000"/>
            <a:ext cx="29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Interface web &amp; composants du SPA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0000" y="43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0000" y="450000"/>
            <a:ext cx="23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Sécurité &amp; 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0000" y="115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0000" y="1170000"/>
            <a:ext cx="23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Tests et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0000" y="187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0000" y="1890000"/>
            <a:ext cx="23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Interface utilisateur — captures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0000" y="259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0000" y="2610000"/>
            <a:ext cx="23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Démonstration du projet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0000" y="3310000"/>
            <a:ext cx="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9A84C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0000" y="3330000"/>
            <a:ext cx="23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01 · Introduction &amp; Rappel de la Conception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000" y="700000"/>
            <a:ext cx="1650000" cy="340000"/>
          </a:xfrm>
          <a:prstGeom prst="rect">
            <a:avLst/>
          </a:prstGeom>
          <a:solidFill>
            <a:srgbClr val="DC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00" y="700000"/>
            <a:ext cx="1650000" cy="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3707D"/>
                </a:solidFill>
                <a:latin typeface="Times New Roman"/>
              </a:rPr>
              <a:t>Analyse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0000" y="700000"/>
            <a:ext cx="1650000" cy="340000"/>
          </a:xfrm>
          <a:prstGeom prst="rect">
            <a:avLst/>
          </a:prstGeom>
          <a:solidFill>
            <a:srgbClr val="DC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0000" y="700000"/>
            <a:ext cx="1650000" cy="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3707D"/>
                </a:solidFill>
                <a:latin typeface="Times New Roman"/>
              </a:rPr>
              <a:t>Conception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20000" y="700000"/>
            <a:ext cx="1650000" cy="34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0000" y="700000"/>
            <a:ext cx="1650000" cy="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Réalisation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0000" y="700000"/>
            <a:ext cx="1650000" cy="340000"/>
          </a:xfrm>
          <a:prstGeom prst="rect">
            <a:avLst/>
          </a:prstGeom>
          <a:solidFill>
            <a:srgbClr val="DC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0000" y="700000"/>
            <a:ext cx="1650000" cy="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3707D"/>
                </a:solidFill>
                <a:latin typeface="Times New Roman"/>
              </a:rPr>
              <a:t>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80000" y="700000"/>
            <a:ext cx="1650000" cy="340000"/>
          </a:xfrm>
          <a:prstGeom prst="rect">
            <a:avLst/>
          </a:prstGeom>
          <a:solidFill>
            <a:srgbClr val="DC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80000" y="700000"/>
            <a:ext cx="1650000" cy="3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3707D"/>
                </a:solidFill>
                <a:latin typeface="Times New Roman"/>
              </a:rPr>
              <a:t>Déploiement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3658" y="1354057"/>
            <a:ext cx="423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1B2A4A"/>
                </a:solidFill>
                <a:latin typeface="Times New Roman"/>
              </a:rPr>
              <a:t>Objectif de </a:t>
            </a:r>
            <a:r>
              <a:rPr sz="1200" b="1" i="0" dirty="0" err="1">
                <a:solidFill>
                  <a:srgbClr val="1B2A4A"/>
                </a:solidFill>
                <a:latin typeface="Times New Roman"/>
              </a:rPr>
              <a:t>ce</a:t>
            </a:r>
            <a:r>
              <a:rPr sz="1200" b="1" i="0" dirty="0">
                <a:solidFill>
                  <a:srgbClr val="1B2A4A"/>
                </a:solidFill>
                <a:latin typeface="Times New Roman"/>
              </a:rPr>
              <a:t> dossier de </a:t>
            </a:r>
            <a:r>
              <a:rPr sz="1200" b="1" i="0" dirty="0" err="1">
                <a:solidFill>
                  <a:srgbClr val="1B2A4A"/>
                </a:solidFill>
                <a:latin typeface="Times New Roman"/>
              </a:rPr>
              <a:t>réalisation</a:t>
            </a:r>
            <a:endParaRPr sz="1200" b="1" i="0" dirty="0">
              <a:solidFill>
                <a:srgbClr val="1B2A4A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65000" y="2023200"/>
            <a:ext cx="423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 i="0" dirty="0">
                <a:solidFill>
                  <a:srgbClr val="222222"/>
                </a:solidFill>
                <a:latin typeface="Times New Roman"/>
              </a:rPr>
              <a:t>• 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Traduire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chaque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décision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de conception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code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effectif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,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testé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démontrable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 i="0" dirty="0">
                <a:solidFill>
                  <a:srgbClr val="222222"/>
                </a:solidFill>
                <a:latin typeface="Times New Roman"/>
              </a:rPr>
              <a:t>•  Documenter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l'environnement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,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l'architecture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du code, les API et les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composants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d'interface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réellement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implémentés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 i="0" dirty="0">
                <a:solidFill>
                  <a:srgbClr val="222222"/>
                </a:solidFill>
                <a:latin typeface="Times New Roman"/>
              </a:rPr>
              <a:t>• 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Présenter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les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mesures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de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sécurité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mises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œuvre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et les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résultats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des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campagnes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de test.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 i="0" dirty="0">
                <a:solidFill>
                  <a:srgbClr val="222222"/>
                </a:solidFill>
                <a:latin typeface="Times New Roman"/>
              </a:rPr>
              <a:t>• 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Illustrer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le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système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en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fonctionnement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à travers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l'interface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et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une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démonstration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 </a:t>
            </a:r>
            <a:r>
              <a:rPr sz="1000" b="0" i="0" dirty="0" err="1">
                <a:solidFill>
                  <a:srgbClr val="222222"/>
                </a:solidFill>
                <a:latin typeface="Times New Roman"/>
              </a:rPr>
              <a:t>d'attaque</a:t>
            </a:r>
            <a:r>
              <a:rPr sz="1000" b="0" i="0" dirty="0">
                <a:solidFill>
                  <a:srgbClr val="222222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02 · Environnement de Développement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000" y="650000"/>
            <a:ext cx="2870000" cy="300000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00" y="65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Système d'exploitation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000" y="95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000" y="99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Ubuntu 22.04 LTS (poste de développement et cible de déploiement)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AppArmor activé nativement (module MAC du noyau Linux)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0000" y="650000"/>
            <a:ext cx="2870000" cy="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0000" y="65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0000" y="95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000" y="99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Python 3.11, Flask 3.x (contrôleurs REST)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SQLAlchemy (ORM) + Alembic (migrations)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Flask-JWT-Extended, Marshmallow (validation)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0000" y="650000"/>
            <a:ext cx="287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0000" y="65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0000" y="95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0000" y="99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Vue.js 3 (Composition API) + Vite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Pinia (état global), Vue Router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Chart.js (graphiques), Tailwind 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000" y="2790000"/>
            <a:ext cx="2870000" cy="3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0000" y="279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Base de données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000" y="309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0000" y="313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SQLite en développement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MariaDB en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0000" y="2790000"/>
            <a:ext cx="2870000" cy="30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20000" y="279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Outils &amp; 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0000" y="309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0000" y="313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Visual Studio Code, Git / GitHub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Postman / Insomnia (tests API)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Docker (parité des environnements)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0000" y="2790000"/>
            <a:ext cx="2870000" cy="300000"/>
          </a:xfrm>
          <a:prstGeom prst="rect">
            <a:avLst/>
          </a:prstGeom>
          <a:solidFill>
            <a:srgbClr val="12A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80000" y="2790000"/>
            <a:ext cx="28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Qualité &amp; intégration continue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0000" y="3090000"/>
            <a:ext cx="2870000" cy="17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70000" y="3130000"/>
            <a:ext cx="2690000" cy="1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pytest (tests backend), ESLint (frontend)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69" b="0" i="0">
                <a:solidFill>
                  <a:srgbClr val="222222"/>
                </a:solidFill>
                <a:latin typeface="Times New Roman"/>
              </a:rPr>
              <a:t>•  GitHub Actions : lint + tests à chaque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03 · Architecture du Code Source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000" y="640000"/>
            <a:ext cx="86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63707D"/>
                </a:solidFill>
                <a:latin typeface="Times New Roman"/>
              </a:rPr>
              <a:t>Organisation en couches (MVC 3-tiers) avec pattern Repository — un module par responsabilité, conforme au principe de responsabilité unique (SRP).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000" y="1020000"/>
            <a:ext cx="4270000" cy="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000" y="102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backend/  (Python · Flask)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000" y="1320000"/>
            <a:ext cx="4270000" cy="3550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000" y="1380000"/>
            <a:ext cx="4110000" cy="3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CFE8E2"/>
                </a:solidFill>
                <a:latin typeface="Consolas"/>
              </a:rPr>
              <a:t>backend/
├── app/
│   ├── controllers/      # Routes REST : auth, profils, journaux,
│   │                     #   audit, analyse, mitigation
│   ├── services/         # AuthService, ProfilService,
│   │                     #   AppArmorService, AuditService,
│   │                     #   AnalyseSOCService, MitigationService
│   ├── repositories/     # AdminRepository, ProfilRepository,
│   │                     #   LogRepository (accès aux données)
│   ├── models/           # Entités SQLAlchemy (14 classes métier)
│   ├── schemas/          # Validation Marshmallow des requêtes
│   └── config.py         # Configuration par environnement
├── tests/                # Tests unitaires &amp; d'intégration (pytest)
└── migrations/           # Historique de schéma (Alembic)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0000" y="1020000"/>
            <a:ext cx="427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0000" y="102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frontend/  (Vue.js 3 · SPA)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0000" y="1320000"/>
            <a:ext cx="4270000" cy="355000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000" y="1380000"/>
            <a:ext cx="4110000" cy="3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F0E0B0"/>
                </a:solidFill>
                <a:latin typeface="Consolas"/>
              </a:rPr>
              <a:t>frontend/
├── src/
│   ├── components/       # DataTable, Modal, Toast, ChartWidget,
│   │                     #   StatusBadge (Enforce / Complain)
│   ├── views/             # LoginView, DashboardView, ProfilsView,
│   │                     #   JournauxView, AuditView, AlertesView,
│   │                     #   SimulationView
│   ├── store/             # Pinia : authStore, profilStore, logStore
│   ├── services/          # api.js — client REST (Axios) + intercepteurs
│   └── router/            # Vue Router + garde de navigation (JWT)
└── tests/                 # Tests de composants (Vitest)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04 · Implémentation &amp; Moteur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000" y="650000"/>
            <a:ext cx="4270000" cy="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00" y="65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Moteur de gestion des profils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000" y="950000"/>
            <a:ext cx="4270000" cy="14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990000"/>
            <a:ext cx="407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Times New Roman"/>
              </a:rPr>
              <a:t>ProfilService valide la syntaxe avant écriture disque, puis délègue le déploiement à un script sudoers dédié qui exécute apparmor_parser -r sur le serveur cible.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0000" y="650000"/>
            <a:ext cx="427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0000" y="65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Moteur de collecte des journaux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0000" y="950000"/>
            <a:ext cx="4270000" cy="14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0000" y="990000"/>
            <a:ext cx="407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Times New Roman"/>
              </a:rPr>
              <a:t>Un worker suit en continu /var/log/syslog (tail -f / journalctl), extrait les lignes AppArmor par expression régulière et les insère en base via une file d'attente asynchrone.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000" y="2520000"/>
            <a:ext cx="4270000" cy="3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0000" y="252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Moteur d'analyse SOC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000" y="2820000"/>
            <a:ext cx="4270000" cy="14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000" y="2860000"/>
            <a:ext cx="407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Times New Roman"/>
              </a:rPr>
              <a:t>AnalyseSOCService applique des règles de corrélation (fréquence, chemins sensibles) et calcule un score de risque pondéré à partir des journaux récents.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0000" y="2520000"/>
            <a:ext cx="4270000" cy="300000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0000" y="252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Moteur de mitigation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0000" y="2820000"/>
            <a:ext cx="4270000" cy="14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0000" y="2860000"/>
            <a:ext cx="407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Times New Roman"/>
              </a:rPr>
              <a:t>MitigationService exécute la contre-mesure choisie (blocage, isolation) via AppArmorService, avec journalisation systématique et possibilité de rollback.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000" y="3693886"/>
            <a:ext cx="8620000" cy="1296114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0000" y="3825686"/>
            <a:ext cx="846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 dirty="0">
                <a:solidFill>
                  <a:srgbClr val="CFE8E2"/>
                </a:solidFill>
                <a:latin typeface="Consolas"/>
              </a:rPr>
              <a:t>def deployer(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: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ProfilAppArmor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,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serveurs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: list[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ServeurCible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]) -&gt;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Statut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:
    if not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profil.valider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():
        raise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ProfilInvalideError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(profil.id)
    for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 in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serveurs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:
       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AppArmorService.recevoirProfil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(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,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)
       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AppArmorService.appliquerProfil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(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,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)   #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apparmor_parser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 -r
       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LogService.enregistrer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(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profil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,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serveur</a:t>
            </a:r>
            <a:r>
              <a:rPr sz="800" b="0" i="0" dirty="0">
                <a:solidFill>
                  <a:srgbClr val="CFE8E2"/>
                </a:solidFill>
                <a:latin typeface="Consolas"/>
              </a:rPr>
              <a:t>, action="DEPLOY")
    return </a:t>
            </a:r>
            <a:r>
              <a:rPr sz="800" b="0" i="0" dirty="0" err="1">
                <a:solidFill>
                  <a:srgbClr val="CFE8E2"/>
                </a:solidFill>
                <a:latin typeface="Consolas"/>
              </a:rPr>
              <a:t>Statut.SUCCES</a:t>
            </a:r>
            <a:endParaRPr sz="800" b="0" i="0" dirty="0">
              <a:solidFill>
                <a:srgbClr val="CFE8E2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05 · Interface Web &amp; API REST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60000" y="990000"/>
          <a:ext cx="8620000" cy="3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Méthode</a:t>
                      </a:r>
                    </a:p>
                  </a:txBody>
                  <a:tcPr marL="45000" marR="45000" marT="14000" marB="14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Consolas"/>
                        </a:defRPr>
                      </a:pPr>
                      <a:r>
                        <a:t>Route</a:t>
                      </a:r>
                    </a:p>
                  </a:txBody>
                  <a:tcPr marL="45000" marR="45000" marT="14000" marB="14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Description</a:t>
                      </a:r>
                    </a:p>
                  </a:txBody>
                  <a:tcPr marL="45000" marR="45000" marT="14000" marB="14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Auth.</a:t>
                      </a:r>
                    </a:p>
                  </a:txBody>
                  <a:tcPr marL="45000" marR="45000" marT="14000" marB="140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/api/v1/auth/login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Authentification et émission du jeton JWT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Non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/api/v1/auth/logout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Invalidation de la session courante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GET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/api/v1/profils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Liste des profils AppArmor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/api/v1/profils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Création d'un profil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C9A84C"/>
                          </a:solidFill>
                          <a:latin typeface="Times New Roman"/>
                        </a:defRPr>
                      </a:pPr>
                      <a:r>
                        <a:t>PUT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/api/v1/profils/{id}/mode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Changement de mode (Enforce/Complain)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/api/v1/profils/{id}/deployer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Déploiement vers les serveurs cibles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GET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/api/v1/journaux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Consultation filtrée des journaux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/api/v1/audit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Déclenchement d'un audit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/api/v1/analyse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Déclenchement d'une analyse SOC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0D7E8A"/>
                          </a:solidFill>
                          <a:latin typeface="Times New Roman"/>
                        </a:defRPr>
                      </a:pPr>
                      <a:r>
                        <a:t>POST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/api/v1/mitigation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Déclenchement d'une mitigation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GET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/api/v1/statistiques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Indicateurs pour le tableau de bord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GET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Consolas"/>
                        </a:defRPr>
                      </a:pPr>
                      <a:r>
                        <a:t>/api/v1/rapports/{id}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Téléchargement d'un rapport (PDF/CSV)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Oui</a:t>
                      </a:r>
                    </a:p>
                  </a:txBody>
                  <a:tcPr marL="45000" marR="45000" marT="14000" marB="14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06 · Interface Web &amp; Composants du SPA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000" y="610000"/>
            <a:ext cx="86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63707D"/>
                </a:solidFill>
                <a:latin typeface="Times New Roman"/>
              </a:rPr>
              <a:t>Application monopage (SPA) en Vue.js 3 : routage côté client, état centralisé (Pinia) et composants réutilisables, pour une interface réactive sans rechargement de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000" y="990000"/>
            <a:ext cx="4270000" cy="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000" y="99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Vues principales (views/)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000" y="1290000"/>
            <a:ext cx="4270000" cy="31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000" y="134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LoginView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Authentification, gestion des erreurs et du verrouillage.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00" y="186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DashboardView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KPI, graphiques (Chart.js), fil des dernières alertes.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000" y="238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ProfilsView + ProfilEditor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Liste, création/édition et déploiement des profils.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000" y="290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JournauxView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Table filtrable des journaux avec export CSV/PDF.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000" y="342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AuditView / AlertesView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Lancement d'audit, consultation des alertes SOC.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000" y="394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SimulationView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Sélection et lancement d'un scénario d'attaque simulée.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000" y="990000"/>
            <a:ext cx="427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000" y="99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Composants réutilisables &amp; état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0000" y="1290000"/>
            <a:ext cx="4270000" cy="318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000" y="134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DataTable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Tableau générique triable/paginé (profils, journaux, rapports).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000" y="186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StatusBadge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Pastille d'état (Enforce / Complain, Actif / Inactif).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000" y="238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Modal &amp; Toast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Boîtes de dialogue de confirmation et notifications.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000" y="290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ChartWidget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Graphiques temps réel (violations, niveau de risque).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000" y="342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authStore (Pinia)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Jeton JWT, profil administrateur, garde de route.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000" y="3940000"/>
            <a:ext cx="411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30" b="1" i="0">
                <a:solidFill>
                  <a:srgbClr val="1B2A4A"/>
                </a:solidFill>
                <a:latin typeface="Times New Roman"/>
              </a:rPr>
              <a:t>profilStore / logStore</a:t>
            </a:r>
          </a:p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Cache local des profils et journaux affichés.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07 · Sécurité &amp; Gestion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000" y="610000"/>
            <a:ext cx="4270000" cy="30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000" y="61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Authentification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000" y="910000"/>
            <a:ext cx="4270000" cy="16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000" y="950000"/>
            <a:ext cx="4090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Mots de passe hachés avec bcrypt (work factor 12)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Jeton JWT à courte durée de vie + rafraîchissement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Verrouillage après 3 tentatives échouées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0000" y="610000"/>
            <a:ext cx="4270000" cy="300000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0000" y="61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Protection web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0000" y="910000"/>
            <a:ext cx="4270000" cy="16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0000" y="950000"/>
            <a:ext cx="4090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HTTPS/TLS via proxy inverse Nginx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Jetons CSRF sur chaque formulaire critique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En-têtes de sécurité : CSP, HSTS, X-Frame-Options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Validation et sanitisation systématique des entrées (Marshmallow)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000" y="2650000"/>
            <a:ext cx="4270000" cy="30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0000" y="265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Accès système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000" y="2950000"/>
            <a:ext cx="4270000" cy="16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000" y="2990000"/>
            <a:ext cx="4090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Commandes AppArmor exécutées via sudoers restreint (moindre privilège)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Service backend isolé du reste du système hôte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0000" y="2650000"/>
            <a:ext cx="427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0000" y="2650000"/>
            <a:ext cx="427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Gouvernance des données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20000" y="2950000"/>
            <a:ext cx="4270000" cy="1650000"/>
          </a:xfrm>
          <a:prstGeom prst="rect">
            <a:avLst/>
          </a:prstGeom>
          <a:solidFill>
            <a:srgbClr val="F4F6FA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10000" y="2990000"/>
            <a:ext cx="4090000" cy="15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Journalisation exhaustive de toutes les actions administrateur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•  Sauvegarde automatique d'un profil avant toute suppression définitive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08 · Tests et Validation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0000" y="620000"/>
          <a:ext cx="8620000" cy="35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Type de test</a:t>
                      </a:r>
                    </a:p>
                  </a:txBody>
                  <a:tcPr marL="45000" marR="45000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Outils</a:t>
                      </a:r>
                    </a:p>
                  </a:txBody>
                  <a:tcPr marL="45000" marR="45000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Périmètre couvert</a:t>
                      </a:r>
                    </a:p>
                  </a:txBody>
                  <a:tcPr marL="45000" marR="45000" marT="18000" marB="180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Résultat</a:t>
                      </a:r>
                    </a:p>
                  </a:txBody>
                  <a:tcPr marL="45000" marR="45000" marT="18000" marB="180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142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Tests unitaires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pytest, unittest.mock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Services et repositories testés isolément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87 % de couverture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142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Tests d'intégration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Flask test client, Postman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Chaîne complète requête → réponse sur les 12 routes API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12 / 12 routes validées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142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Tests de sécurité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Checklist manuelle, OWASP ZAP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Tentatives XSS, CSRF, injection SQL sur les formulaires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Aucune faille critique détectée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142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Tests fonctionnels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Rejeu des 4 scénarios UML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Authentification, déploiement, simulation, chaîne SOC/mitigation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4 / 4 scénarios conformes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142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Tests de simulation d'attaque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Scénarios internes (§10)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Comparaison des résultats avant / après activation du profil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100 % des tentatives bloquées en mode Enforce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148"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Non-régression continue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GitHub Actions (CI)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0">
                          <a:solidFill>
                            <a:srgbClr val="222222"/>
                          </a:solidFill>
                          <a:latin typeface="Times New Roman"/>
                        </a:defRPr>
                      </a:pPr>
                      <a:r>
                        <a:t>Lint + suite de tests à chaque push sur la branche principale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A7A4A"/>
                          </a:solidFill>
                          <a:latin typeface="Times New Roman"/>
                        </a:defRPr>
                      </a:pPr>
                      <a:r>
                        <a:t>Exécution automatique systématique</a:t>
                      </a:r>
                    </a:p>
                  </a:txBody>
                  <a:tcPr marL="45000" marR="45000" marT="18000" marB="18000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60000" y="4330000"/>
            <a:ext cx="862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Times New Roman"/>
              </a:rPr>
              <a:t>Démarche de validation : chaque scénario de séquence est d'abord rejoué manuellement en environnement de test, puis couvert par un test automatisé ajouté à la suite de non-régression. Les scénarios d'attaque sont exécutés deux fois — profil désactivé puis profil actif — afin de démontrer objectivement l'apport de la protection AppArmor.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09 · Interface Utilisateur — Captures d'Écran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0000" y="920000"/>
            <a:ext cx="8220000" cy="420000"/>
          </a:xfrm>
          <a:prstGeom prst="rect">
            <a:avLst/>
          </a:prstGeom>
          <a:solidFill>
            <a:srgbClr val="E4E7EC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0000" y="1070000"/>
            <a:ext cx="120000" cy="12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0000" y="1070000"/>
            <a:ext cx="120000" cy="12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000" y="1070000"/>
            <a:ext cx="120000" cy="120000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60000" y="1010000"/>
            <a:ext cx="7020000" cy="2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0000" y="1010000"/>
            <a:ext cx="692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3707D"/>
                </a:solidFill>
                <a:latin typeface="Times New Roman"/>
              </a:rPr>
              <a:t>https://apparmor-manager.local/dashboard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000" y="1340000"/>
            <a:ext cx="8220000" cy="35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0000" y="1340000"/>
            <a:ext cx="1550000" cy="353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000" y="1400000"/>
            <a:ext cx="143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 i="0">
                <a:solidFill>
                  <a:srgbClr val="FFFFFF"/>
                </a:solidFill>
                <a:latin typeface="Times New Roman"/>
              </a:rPr>
              <a:t>AppArmor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000" y="1740000"/>
            <a:ext cx="1550000" cy="3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000" y="176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1B2A4A"/>
                </a:solidFill>
                <a:latin typeface="Times New Roman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000" y="210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Profils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000" y="244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Journaux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000" y="278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000" y="312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Analyse SOC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000" y="346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Mitigation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000" y="3800000"/>
            <a:ext cx="143000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Times New Roman"/>
              </a:rPr>
              <a:t>Simulation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0000" y="1340000"/>
            <a:ext cx="6670000" cy="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30000" y="1340000"/>
            <a:ext cx="507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22222"/>
                </a:solidFill>
                <a:latin typeface="Times New Roman"/>
              </a:rPr>
              <a:t>Tableau de bord</a:t>
            </a:r>
          </a:p>
        </p:txBody>
      </p:sp>
      <p:sp>
        <p:nvSpPr>
          <p:cNvPr id="27" name="Oval 26"/>
          <p:cNvSpPr/>
          <p:nvPr/>
        </p:nvSpPr>
        <p:spPr>
          <a:xfrm>
            <a:off x="7330000" y="1430000"/>
            <a:ext cx="220000" cy="220000"/>
          </a:xfrm>
          <a:prstGeom prst="ellipse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0000" y="1430000"/>
            <a:ext cx="100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22222"/>
                </a:solidFill>
                <a:latin typeface="Times New Roman"/>
              </a:rPr>
              <a:t>Administrateur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0000" y="1800000"/>
            <a:ext cx="2103333" cy="700000"/>
          </a:xfrm>
          <a:prstGeom prst="rect">
            <a:avLst/>
          </a:prstGeom>
          <a:solidFill>
            <a:srgbClr val="F4F6FA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100000" y="1800000"/>
            <a:ext cx="60000" cy="70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50000" y="1880000"/>
            <a:ext cx="19033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7D"/>
                </a:solidFill>
                <a:latin typeface="Times New Roman"/>
              </a:rPr>
              <a:t>Profils actifs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0000" y="2130000"/>
            <a:ext cx="190333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7A4A"/>
                </a:solidFill>
                <a:latin typeface="Times New Roman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3333" y="1800000"/>
            <a:ext cx="2103333" cy="700000"/>
          </a:xfrm>
          <a:prstGeom prst="rect">
            <a:avLst/>
          </a:prstGeom>
          <a:solidFill>
            <a:srgbClr val="F4F6FA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3333" y="1800000"/>
            <a:ext cx="60000" cy="7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43333" y="1880000"/>
            <a:ext cx="19033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7D"/>
                </a:solidFill>
                <a:latin typeface="Times New Roman"/>
              </a:rPr>
              <a:t>Violations (24 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333" y="2130000"/>
            <a:ext cx="190333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Times New Roman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86666" y="1800000"/>
            <a:ext cx="2103333" cy="700000"/>
          </a:xfrm>
          <a:prstGeom prst="rect">
            <a:avLst/>
          </a:prstGeom>
          <a:solidFill>
            <a:srgbClr val="F4F6FA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86666" y="1800000"/>
            <a:ext cx="60000" cy="70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36666" y="1880000"/>
            <a:ext cx="1903333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3707D"/>
                </a:solidFill>
                <a:latin typeface="Times New Roman"/>
              </a:rPr>
              <a:t>Score de risque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6666" y="2130000"/>
            <a:ext cx="1903333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9A84C"/>
                </a:solidFill>
                <a:latin typeface="Times New Roman"/>
              </a:rPr>
              <a:t>Faible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0000" y="2650000"/>
            <a:ext cx="6490000" cy="900000"/>
          </a:xfrm>
          <a:prstGeom prst="rect">
            <a:avLst/>
          </a:prstGeom>
          <a:solidFill>
            <a:srgbClr val="F4F6FA"/>
          </a:solidFill>
          <a:ln w="6350">
            <a:solidFill>
              <a:srgbClr val="DC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60000" y="269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Times New Roman"/>
              </a:rPr>
              <a:t>Violations bloquées / jour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0" y="3278571"/>
            <a:ext cx="491269" cy="171428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044285" y="3164285"/>
            <a:ext cx="491269" cy="285714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928571" y="3335714"/>
            <a:ext cx="491269" cy="114285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12857" y="3050000"/>
            <a:ext cx="491269" cy="400000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697142" y="3221428"/>
            <a:ext cx="491269" cy="228571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81428" y="3107142"/>
            <a:ext cx="491269" cy="342857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65714" y="3278571"/>
            <a:ext cx="491269" cy="171428"/>
          </a:xfrm>
          <a:prstGeom prst="rect">
            <a:avLst/>
          </a:prstGeom>
          <a:solidFill>
            <a:srgbClr val="0D7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00000" y="366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2222"/>
                </a:solidFill>
                <a:latin typeface="Times New Roman"/>
              </a:rPr>
              <a:t>Profils récents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0000" y="3920000"/>
            <a:ext cx="26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 i="0">
                <a:solidFill>
                  <a:srgbClr val="222222"/>
                </a:solidFill>
                <a:latin typeface="Consolas"/>
              </a:rPr>
              <a:t>nginx.protected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60000" y="3940000"/>
            <a:ext cx="950000" cy="22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60000" y="3940000"/>
            <a:ext cx="95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Times New Roman"/>
              </a:rPr>
              <a:t>Enforce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00000" y="4200000"/>
            <a:ext cx="26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 i="0">
                <a:solidFill>
                  <a:srgbClr val="222222"/>
                </a:solidFill>
                <a:latin typeface="Consolas"/>
              </a:rPr>
              <a:t>ssh-daemon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60000" y="4220000"/>
            <a:ext cx="950000" cy="220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60000" y="4220000"/>
            <a:ext cx="95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Times New Roman"/>
              </a:rPr>
              <a:t>Complain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0000" y="4480000"/>
            <a:ext cx="26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 i="0">
                <a:solidFill>
                  <a:srgbClr val="222222"/>
                </a:solidFill>
                <a:latin typeface="Consolas"/>
              </a:rPr>
              <a:t>app.web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60000" y="4500000"/>
            <a:ext cx="950000" cy="22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60000" y="4500000"/>
            <a:ext cx="950000" cy="2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30" b="1" i="0">
                <a:solidFill>
                  <a:srgbClr val="FFFFFF"/>
                </a:solidFill>
                <a:latin typeface="Times New Roman"/>
              </a:rPr>
              <a:t>Enforce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00" y="40000"/>
            <a:ext cx="8400000" cy="4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imes New Roman"/>
              </a:rPr>
              <a:t>10 · Démonstration du Projet</a:t>
            </a:r>
          </a:p>
        </p:txBody>
      </p:sp>
      <p:sp>
        <p:nvSpPr>
          <p:cNvPr id="6" name="Oval 5"/>
          <p:cNvSpPr/>
          <p:nvPr/>
        </p:nvSpPr>
        <p:spPr>
          <a:xfrm>
            <a:off x="8500000" y="-260000"/>
            <a:ext cx="900000" cy="900000"/>
          </a:xfrm>
          <a:prstGeom prst="ellipse">
            <a:avLst/>
          </a:prstGeom>
          <a:solidFill>
            <a:srgbClr val="0D7E8A">
              <a:alpha val="25000"/>
            </a:srgbClr>
          </a:solidFill>
          <a:ln>
            <a:solidFill>
              <a:srgbClr val="0D7E8A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000" y="610000"/>
            <a:ext cx="862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0" i="1">
                <a:solidFill>
                  <a:srgbClr val="63707D"/>
                </a:solidFill>
                <a:latin typeface="Times New Roman"/>
              </a:rPr>
              <a:t>Illustration du scénario « Lancer une simulation d'attaque » (§ diagramme de séquence 3), rejoué avec le profil en mode Enforce.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000" y="920000"/>
            <a:ext cx="4900000" cy="360000"/>
          </a:xfrm>
          <a:prstGeom prst="rect">
            <a:avLst/>
          </a:prstGeom>
          <a:solidFill>
            <a:srgbClr val="30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0000" y="1050000"/>
            <a:ext cx="100000" cy="10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0000" y="1050000"/>
            <a:ext cx="100000" cy="10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0000" y="1050000"/>
            <a:ext cx="100000" cy="100000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000" y="980000"/>
            <a:ext cx="4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DCE2EC"/>
                </a:solidFill>
                <a:latin typeface="Times New Roman"/>
              </a:rPr>
              <a:t>administrateur@ubuntu: ~/apparmor-manager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000" y="1280000"/>
            <a:ext cx="4900000" cy="3540000"/>
          </a:xfrm>
          <a:prstGeom prst="rect">
            <a:avLst/>
          </a:prstGeom>
          <a:solidFill>
            <a:srgbClr val="14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000" y="1340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FFFFF"/>
                </a:solidFill>
                <a:latin typeface="Consolas"/>
              </a:rPr>
              <a:t>$ ./simulate_attack.sh --scenario reverse-shell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000" y="1598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000" y="1856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8FB0C7"/>
                </a:solidFill>
                <a:latin typeface="Consolas"/>
              </a:rPr>
              <a:t>[INFO]  Lancement de la simulation « reverse-shell »…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00" y="2114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8FB0C7"/>
                </a:solidFill>
                <a:latin typeface="Consolas"/>
              </a:rPr>
              <a:t>[INFO]  Cible : app.protected  (profil : Enforce)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00" y="2372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0000" y="2630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E06C5C"/>
                </a:solidFill>
                <a:latin typeface="Consolas"/>
              </a:rPr>
              <a:t>[AppArmor] DENIED  operation="exec"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000" y="2888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E06C5C"/>
                </a:solidFill>
                <a:latin typeface="Consolas"/>
              </a:rPr>
              <a:t>           profile="app.protected"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000" y="3146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E06C5C"/>
                </a:solidFill>
                <a:latin typeface="Consolas"/>
              </a:rPr>
              <a:t>           name="/bin/nc"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000" y="3404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0000" y="3662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0C16E"/>
                </a:solidFill>
                <a:latin typeface="Consolas"/>
              </a:rPr>
              <a:t>[SYSTEM] Tentative bloquée — journalisée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000" y="3920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F0C16E"/>
                </a:solidFill>
                <a:latin typeface="Consolas"/>
              </a:rPr>
              <a:t>         (LogEvenement #4821)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000" y="4178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000" y="4436000"/>
            <a:ext cx="47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1" i="0">
                <a:solidFill>
                  <a:srgbClr val="7FD99A"/>
                </a:solidFill>
                <a:latin typeface="Consolas"/>
              </a:rPr>
              <a:t>[RESULT] Profil ENFORCE -&gt; attaque neutralisée [OK]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0000" y="950000"/>
            <a:ext cx="336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dirty="0">
                <a:solidFill>
                  <a:srgbClr val="C0392B"/>
                </a:solidFill>
                <a:latin typeface="Times New Roman"/>
              </a:rPr>
              <a:t>  Alerte critique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0000" y="1280000"/>
            <a:ext cx="336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30" b="0" i="0">
                <a:solidFill>
                  <a:srgbClr val="222222"/>
                </a:solidFill>
                <a:latin typeface="Times New Roman"/>
              </a:rPr>
              <a:t>Tentative d'exécution non autorisée détectée sur app.protected — classée CRITIQUE par le module Analyse SOC.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0000" y="2092275"/>
            <a:ext cx="3360000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 i="0" dirty="0">
                <a:solidFill>
                  <a:srgbClr val="1A7A4A"/>
                </a:solidFill>
                <a:latin typeface="Times New Roman"/>
              </a:rPr>
              <a:t>  Mitigation </a:t>
            </a:r>
            <a:r>
              <a:rPr sz="930" b="1" i="0" dirty="0" err="1">
                <a:solidFill>
                  <a:srgbClr val="1A7A4A"/>
                </a:solidFill>
                <a:latin typeface="Times New Roman"/>
              </a:rPr>
              <a:t>appliquée</a:t>
            </a:r>
            <a:r>
              <a:rPr sz="930" b="1" i="0" dirty="0">
                <a:solidFill>
                  <a:srgbClr val="1A7A4A"/>
                </a:solidFill>
                <a:latin typeface="Times New Roman"/>
              </a:rPr>
              <a:t> </a:t>
            </a:r>
            <a:r>
              <a:rPr sz="930" b="1" i="0" dirty="0" err="1">
                <a:solidFill>
                  <a:srgbClr val="1A7A4A"/>
                </a:solidFill>
                <a:latin typeface="Times New Roman"/>
              </a:rPr>
              <a:t>automatiquement</a:t>
            </a:r>
            <a:endParaRPr sz="930" b="1" i="0" dirty="0">
              <a:solidFill>
                <a:srgbClr val="1A7A4A"/>
              </a:solidFill>
              <a:latin typeface="Times New 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20000" y="2620000"/>
            <a:ext cx="356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A4A"/>
                </a:solidFill>
                <a:latin typeface="Times New Roman"/>
              </a:rPr>
              <a:t>Comparaison avant / après protection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0000" y="2960000"/>
            <a:ext cx="230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Sans profil AppArmor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0392B"/>
                </a:solidFill>
                <a:latin typeface="Times New Roman"/>
              </a:rPr>
              <a:t>Tentative RÉUSSIE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0000" y="3660000"/>
            <a:ext cx="230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222222"/>
                </a:solidFill>
                <a:latin typeface="Times New Roman"/>
              </a:rPr>
              <a:t>Avec profil AppArmor (Enforce)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A7A4A"/>
                </a:solidFill>
                <a:latin typeface="Times New Roman"/>
              </a:rPr>
              <a:t>Tentative BLOQUÉE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7500000" y="-600000"/>
            <a:ext cx="2200000" cy="2200000"/>
          </a:xfrm>
          <a:prstGeom prst="ellipse">
            <a:avLst/>
          </a:prstGeom>
          <a:solidFill>
            <a:srgbClr val="0D7E8A">
              <a:alpha val="18000"/>
            </a:srgbClr>
          </a:solidFill>
          <a:ln>
            <a:solidFill>
              <a:srgbClr val="0D7E8A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00000" y="3800000"/>
            <a:ext cx="2000000" cy="2000000"/>
          </a:xfrm>
          <a:prstGeom prst="ellipse">
            <a:avLst/>
          </a:prstGeom>
          <a:solidFill>
            <a:srgbClr val="C9A84C">
              <a:alpha val="12000"/>
            </a:srgbClr>
          </a:solidFill>
          <a:ln>
            <a:solidFill>
              <a:srgbClr val="C9A84C">
                <a:alpha val="1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0000" y="500000"/>
            <a:ext cx="7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11 · Conclusion</a:t>
            </a:r>
          </a:p>
        </p:txBody>
      </p:sp>
      <p:sp>
        <p:nvSpPr>
          <p:cNvPr id="7" name="Oval 6"/>
          <p:cNvSpPr/>
          <p:nvPr/>
        </p:nvSpPr>
        <p:spPr>
          <a:xfrm>
            <a:off x="620000" y="1380000"/>
            <a:ext cx="90000" cy="9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000" y="1350000"/>
            <a:ext cx="7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Le système conçu dans le dossier précédent a été intégralement implémenté : architecture MVC 3-tiers, 12 routes API REST, SPA Vue.js et moteurs de détection/mitigation opérationnels.</a:t>
            </a:r>
          </a:p>
        </p:txBody>
      </p:sp>
      <p:sp>
        <p:nvSpPr>
          <p:cNvPr id="9" name="Oval 8"/>
          <p:cNvSpPr/>
          <p:nvPr/>
        </p:nvSpPr>
        <p:spPr>
          <a:xfrm>
            <a:off x="620000" y="2160000"/>
            <a:ext cx="90000" cy="9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000" y="2130000"/>
            <a:ext cx="7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Les mesures de sécurité prévues sont en place — bcrypt, JWT, CSRF, HTTPS, journalisation exhaustive — et validées par une campagne de tests couvrant code, API et scénarios d'attaque.</a:t>
            </a:r>
          </a:p>
        </p:txBody>
      </p:sp>
      <p:sp>
        <p:nvSpPr>
          <p:cNvPr id="11" name="Oval 10"/>
          <p:cNvSpPr/>
          <p:nvPr/>
        </p:nvSpPr>
        <p:spPr>
          <a:xfrm>
            <a:off x="620000" y="2940000"/>
            <a:ext cx="90000" cy="9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000" y="2910000"/>
            <a:ext cx="7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La démonstration confirme l'apport concret d'AppArmor : les tentatives simulées sont systématiquement bloquées et journalisées lorsque le profil est en mode Enforce.</a:t>
            </a:r>
          </a:p>
        </p:txBody>
      </p:sp>
      <p:sp>
        <p:nvSpPr>
          <p:cNvPr id="13" name="Oval 12"/>
          <p:cNvSpPr/>
          <p:nvPr/>
        </p:nvSpPr>
        <p:spPr>
          <a:xfrm>
            <a:off x="620000" y="3720000"/>
            <a:ext cx="90000" cy="900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000" y="3690000"/>
            <a:ext cx="7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Times New Roman"/>
              </a:rPr>
              <a:t>Le projet est prêt pour un déploiement pilote, avec une base de code testée, documentée et alignée sur les corrections apportées aux dossiers précédents.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" y="4450000"/>
            <a:ext cx="7900000" cy="4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000" y="4560000"/>
            <a:ext cx="7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1">
                <a:solidFill>
                  <a:srgbClr val="12A3B4"/>
                </a:solidFill>
                <a:latin typeface="Times New Roman"/>
              </a:rPr>
              <a:t>Perspectives : support SELinux via l'interface AppArmorService abstraite, application mobile de supervision, détection par apprentissage automatique, tableau de bord multi-hôtes.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1889</Words>
  <Application>Microsoft Office PowerPoint</Application>
  <PresentationFormat>Affichage à l'écran (16:9)</PresentationFormat>
  <Paragraphs>260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PYREX</dc:creator>
  <cp:keywords/>
  <dc:description>generated using python-pptx</dc:description>
  <cp:lastModifiedBy>yannick simo</cp:lastModifiedBy>
  <cp:revision>2</cp:revision>
  <dcterms:created xsi:type="dcterms:W3CDTF">2013-01-27T09:14:16Z</dcterms:created>
  <dcterms:modified xsi:type="dcterms:W3CDTF">2026-07-11T10:54:46Z</dcterms:modified>
  <cp:category/>
</cp:coreProperties>
</file>