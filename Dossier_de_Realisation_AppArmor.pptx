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3" r:id="rId7"/>
    <p:sldId id="269" r:id="rId8"/>
    <p:sldId id="266" r:id="rId9"/>
    <p:sldId id="268" r:id="rId1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7300000" y="-700000"/>
            <a:ext cx="2600000" cy="2600000"/>
          </a:xfrm>
          <a:prstGeom prst="ellipse">
            <a:avLst/>
          </a:prstGeom>
          <a:solidFill>
            <a:srgbClr val="0D7E8A">
              <a:alpha val="18000"/>
            </a:srgbClr>
          </a:solidFill>
          <a:ln>
            <a:solidFill>
              <a:srgbClr val="0D7E8A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700000" y="3600000"/>
            <a:ext cx="2200000" cy="2200000"/>
          </a:xfrm>
          <a:prstGeom prst="ellipse">
            <a:avLst/>
          </a:prstGeom>
          <a:solidFill>
            <a:srgbClr val="C9A84C">
              <a:alpha val="12000"/>
            </a:srgbClr>
          </a:solidFill>
          <a:ln>
            <a:solidFill>
              <a:srgbClr val="C9A84C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0000" y="430000"/>
            <a:ext cx="7944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9A84C"/>
                </a:solidFill>
                <a:latin typeface="Times New Roman"/>
              </a:rPr>
              <a:t>SÉCURITÉ DES SYSTÈMES D'EXPLOITATION</a:t>
            </a:r>
          </a:p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12A3B4"/>
                </a:solidFill>
                <a:latin typeface="Times New Roman"/>
              </a:rPr>
              <a:t>Systèmes d'exploitation avancés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1500000"/>
            <a:ext cx="7944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Times New Roman"/>
              </a:rPr>
              <a:t>Dossier de Réalisation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Times New Roman"/>
              </a:rPr>
              <a:t>Gestionnaire Web Sécurisé pour l'Administration et l'Audit des Profils AppArmor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00" y="2600000"/>
            <a:ext cx="7944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C9A84C"/>
                </a:solidFill>
                <a:latin typeface="Times New Roman"/>
              </a:rPr>
              <a:t>Détection &amp; Mitigation des Comportements Malveillants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000" y="3150000"/>
            <a:ext cx="1400000" cy="4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0000" y="3300000"/>
            <a:ext cx="7944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NANA NDIEUPE Emilie   ·   NSOE MARIE   ·   SIMO YANNICK</a:t>
            </a:r>
          </a:p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12A3B4"/>
                </a:solidFill>
                <a:latin typeface="Times New Roman"/>
              </a:rPr>
              <a:t>Supervisé par M. NGUIMBUS Emmanuel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CE2EC"/>
                </a:solidFill>
                <a:latin typeface="Times New Roman"/>
              </a:rPr>
              <a:t>Groupe 6  ·  Sécurité des Systèmes d'Information  ·  Année 2025 - 2026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2133600" cy="51435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0000" y="480000"/>
            <a:ext cx="1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PLAN DU</a:t>
            </a:r>
          </a:p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C9A84C"/>
                </a:solidFill>
                <a:latin typeface="Times New Roman"/>
              </a:rPr>
              <a:t>DOSSIER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0000" y="430000"/>
            <a:ext cx="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9A84C"/>
                </a:solidFill>
                <a:latin typeface="Times New Rom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0000" y="450000"/>
            <a:ext cx="29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Introduction &amp; rappel de la conception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0000" y="1150000"/>
            <a:ext cx="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9A84C"/>
                </a:solidFill>
                <a:latin typeface="Times New Roma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0000" y="1170000"/>
            <a:ext cx="29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Environnement de développement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0000" y="1870000"/>
            <a:ext cx="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9A84C"/>
                </a:solidFill>
                <a:latin typeface="Times New Roman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0000" y="1890000"/>
            <a:ext cx="29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Architecture du code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0" y="2590000"/>
            <a:ext cx="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9A84C"/>
                </a:solidFill>
                <a:latin typeface="Times New Roman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0000" y="2610000"/>
            <a:ext cx="29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Implémentation &amp; moteur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0" y="3310000"/>
            <a:ext cx="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9A84C"/>
                </a:solidFill>
                <a:latin typeface="Times New Roman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0000" y="3330000"/>
            <a:ext cx="29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Interface web &amp; API 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0000" y="450000"/>
            <a:ext cx="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9A84C"/>
                </a:solidFill>
                <a:latin typeface="Times New Roman"/>
              </a:rPr>
              <a:t>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0000" y="1150000"/>
            <a:ext cx="5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 dirty="0">
                <a:solidFill>
                  <a:srgbClr val="C9A84C"/>
                </a:solidFill>
                <a:latin typeface="Times New Roman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0000" y="450000"/>
            <a:ext cx="23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Sécurité &amp; 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0000" y="1170000"/>
            <a:ext cx="23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Tests et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50000" y="1870000"/>
            <a:ext cx="56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 dirty="0">
                <a:solidFill>
                  <a:srgbClr val="C9A84C"/>
                </a:solidFill>
                <a:latin typeface="Times New Roman"/>
              </a:rPr>
              <a:t>0</a:t>
            </a:r>
            <a:r>
              <a:rPr lang="fr-CM" sz="1400" b="1" i="0" dirty="0">
                <a:solidFill>
                  <a:srgbClr val="C9A84C"/>
                </a:solidFill>
                <a:latin typeface="Times New Roman"/>
              </a:rPr>
              <a:t>8</a:t>
            </a:r>
            <a:endParaRPr sz="1400" b="1" i="0" dirty="0">
              <a:solidFill>
                <a:srgbClr val="C9A84C"/>
              </a:solidFill>
              <a:latin typeface="Times New Roman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650000" y="1890000"/>
            <a:ext cx="23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Interface utilisateur — captures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0000" y="2590000"/>
            <a:ext cx="56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lang="fr-CM" sz="1400" b="1" dirty="0">
                <a:solidFill>
                  <a:srgbClr val="C9A84C"/>
                </a:solidFill>
                <a:latin typeface="Times New Roman"/>
              </a:rPr>
              <a:t>09</a:t>
            </a:r>
            <a:endParaRPr sz="1400" b="1" i="0" dirty="0">
              <a:solidFill>
                <a:srgbClr val="C9A84C"/>
              </a:solidFill>
              <a:latin typeface="Times New Roman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50000" y="2610000"/>
            <a:ext cx="23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Démonstration du projet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0000" y="3310000"/>
            <a:ext cx="56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 dirty="0">
                <a:solidFill>
                  <a:srgbClr val="C9A84C"/>
                </a:solidFill>
                <a:latin typeface="Times New Roman"/>
              </a:rPr>
              <a:t>1</a:t>
            </a:r>
            <a:r>
              <a:rPr lang="fr-CM" sz="1400" b="1" i="0" dirty="0">
                <a:solidFill>
                  <a:srgbClr val="C9A84C"/>
                </a:solidFill>
                <a:latin typeface="Times New Roman"/>
              </a:rPr>
              <a:t>0</a:t>
            </a:r>
            <a:endParaRPr sz="1400" b="1" i="0" dirty="0">
              <a:solidFill>
                <a:srgbClr val="C9A84C"/>
              </a:solidFill>
              <a:latin typeface="Times New Roma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50000" y="3330000"/>
            <a:ext cx="235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Times New Roman"/>
              </a:rP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00" y="40000"/>
            <a:ext cx="84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</a:rPr>
              <a:t>01 · Introduction &amp; Rappel de la Conception</a:t>
            </a:r>
          </a:p>
        </p:txBody>
      </p:sp>
      <p:sp>
        <p:nvSpPr>
          <p:cNvPr id="6" name="Oval 5"/>
          <p:cNvSpPr/>
          <p:nvPr/>
        </p:nvSpPr>
        <p:spPr>
          <a:xfrm>
            <a:off x="8500000" y="-260000"/>
            <a:ext cx="900000" cy="900000"/>
          </a:xfrm>
          <a:prstGeom prst="ellipse">
            <a:avLst/>
          </a:prstGeom>
          <a:solidFill>
            <a:srgbClr val="0D7E8A">
              <a:alpha val="25000"/>
            </a:srgbClr>
          </a:solidFill>
          <a:ln>
            <a:solidFill>
              <a:srgbClr val="0D7E8A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000" y="700000"/>
            <a:ext cx="1650000" cy="340000"/>
          </a:xfrm>
          <a:prstGeom prst="rect">
            <a:avLst/>
          </a:prstGeom>
          <a:solidFill>
            <a:srgbClr val="DC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000" y="700000"/>
            <a:ext cx="1650000" cy="3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3707D"/>
                </a:solidFill>
                <a:latin typeface="Times New Roman"/>
              </a:rPr>
              <a:t>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1940000" y="700000"/>
            <a:ext cx="1650000" cy="340000"/>
          </a:xfrm>
          <a:prstGeom prst="rect">
            <a:avLst/>
          </a:prstGeom>
          <a:solidFill>
            <a:srgbClr val="DC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40000" y="700000"/>
            <a:ext cx="1650000" cy="3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3707D"/>
                </a:solidFill>
                <a:latin typeface="Times New Roman"/>
              </a:rPr>
              <a:t>Conception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20000" y="700000"/>
            <a:ext cx="1650000" cy="340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0000" y="700000"/>
            <a:ext cx="1650000" cy="3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</a:rPr>
              <a:t>Réalisation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0000" y="700000"/>
            <a:ext cx="1650000" cy="340000"/>
          </a:xfrm>
          <a:prstGeom prst="rect">
            <a:avLst/>
          </a:prstGeom>
          <a:solidFill>
            <a:srgbClr val="DC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0000" y="700000"/>
            <a:ext cx="1650000" cy="3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3707D"/>
                </a:solidFill>
                <a:latin typeface="Times New Roman"/>
              </a:rPr>
              <a:t>Tests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80000" y="700000"/>
            <a:ext cx="1650000" cy="340000"/>
          </a:xfrm>
          <a:prstGeom prst="rect">
            <a:avLst/>
          </a:prstGeom>
          <a:solidFill>
            <a:srgbClr val="DC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80000" y="700000"/>
            <a:ext cx="1650000" cy="3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3707D"/>
                </a:solidFill>
                <a:latin typeface="Times New Roman"/>
              </a:rPr>
              <a:t>Déploiement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3658" y="1354057"/>
            <a:ext cx="423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1B2A4A"/>
                </a:solidFill>
                <a:latin typeface="Times New Roman"/>
              </a:rPr>
              <a:t>Objectif de </a:t>
            </a:r>
            <a:r>
              <a:rPr sz="1200" b="1" i="0" dirty="0" err="1">
                <a:solidFill>
                  <a:srgbClr val="1B2A4A"/>
                </a:solidFill>
                <a:latin typeface="Times New Roman"/>
              </a:rPr>
              <a:t>ce</a:t>
            </a:r>
            <a:r>
              <a:rPr sz="1200" b="1" i="0" dirty="0">
                <a:solidFill>
                  <a:srgbClr val="1B2A4A"/>
                </a:solidFill>
                <a:latin typeface="Times New Roman"/>
              </a:rPr>
              <a:t> dossier de </a:t>
            </a:r>
            <a:r>
              <a:rPr sz="1200" b="1" i="0" dirty="0" err="1">
                <a:solidFill>
                  <a:srgbClr val="1B2A4A"/>
                </a:solidFill>
                <a:latin typeface="Times New Roman"/>
              </a:rPr>
              <a:t>réalisation</a:t>
            </a:r>
            <a:endParaRPr sz="1200" b="1" i="0" dirty="0">
              <a:solidFill>
                <a:srgbClr val="1B2A4A"/>
              </a:solidFill>
              <a:latin typeface="Times New Roman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765000" y="2023200"/>
            <a:ext cx="423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000" b="0" i="0" dirty="0">
                <a:solidFill>
                  <a:srgbClr val="222222"/>
                </a:solidFill>
                <a:latin typeface="Times New Roman"/>
              </a:rPr>
              <a:t>• 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Traduire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chaque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décision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de conception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en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code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effectif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,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testé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et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démontrable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000" b="0" i="0" dirty="0">
                <a:solidFill>
                  <a:srgbClr val="222222"/>
                </a:solidFill>
                <a:latin typeface="Times New Roman"/>
              </a:rPr>
              <a:t>•  Documenter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l'environnement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,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l'architecture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du code, les API et les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composants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d'interface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réellement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implémentés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000" b="0" i="0" dirty="0">
                <a:solidFill>
                  <a:srgbClr val="222222"/>
                </a:solidFill>
                <a:latin typeface="Times New Roman"/>
              </a:rPr>
              <a:t>• 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Présenter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les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mesures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de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sécurité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mises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en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œuvre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et les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résultats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des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campagnes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de test.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000" b="0" i="0" dirty="0">
                <a:solidFill>
                  <a:srgbClr val="222222"/>
                </a:solidFill>
                <a:latin typeface="Times New Roman"/>
              </a:rPr>
              <a:t>• 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Illustrer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le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système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en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fonctionnement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à travers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l'interface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et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une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démonstration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1000" b="0" i="0" dirty="0" err="1">
                <a:solidFill>
                  <a:srgbClr val="222222"/>
                </a:solidFill>
                <a:latin typeface="Times New Roman"/>
              </a:rPr>
              <a:t>d'attaque</a:t>
            </a:r>
            <a:r>
              <a:rPr sz="1000" b="0" i="0" dirty="0">
                <a:solidFill>
                  <a:srgbClr val="222222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00" y="40000"/>
            <a:ext cx="84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</a:rPr>
              <a:t>02 · Environnement de Développement</a:t>
            </a:r>
          </a:p>
        </p:txBody>
      </p:sp>
      <p:sp>
        <p:nvSpPr>
          <p:cNvPr id="6" name="Oval 5"/>
          <p:cNvSpPr/>
          <p:nvPr/>
        </p:nvSpPr>
        <p:spPr>
          <a:xfrm>
            <a:off x="8500000" y="-260000"/>
            <a:ext cx="900000" cy="900000"/>
          </a:xfrm>
          <a:prstGeom prst="ellipse">
            <a:avLst/>
          </a:prstGeom>
          <a:solidFill>
            <a:srgbClr val="0D7E8A">
              <a:alpha val="25000"/>
            </a:srgbClr>
          </a:solidFill>
          <a:ln>
            <a:solidFill>
              <a:srgbClr val="0D7E8A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000" y="650000"/>
            <a:ext cx="2870000" cy="300000"/>
          </a:xfrm>
          <a:prstGeom prst="rect">
            <a:avLst/>
          </a:prstGeom>
          <a:solidFill>
            <a:srgbClr val="0D7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000" y="650000"/>
            <a:ext cx="287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</a:rPr>
              <a:t>Système d'exploitation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000" y="950000"/>
            <a:ext cx="2870000" cy="1750000"/>
          </a:xfrm>
          <a:prstGeom prst="rect">
            <a:avLst/>
          </a:prstGeom>
          <a:solidFill>
            <a:srgbClr val="F4F6FA"/>
          </a:solidFill>
          <a:ln w="9525">
            <a:solidFill>
              <a:srgbClr val="DC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000" y="990000"/>
            <a:ext cx="2690000" cy="1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>
                <a:solidFill>
                  <a:srgbClr val="222222"/>
                </a:solidFill>
                <a:latin typeface="Times New Roman"/>
              </a:rPr>
              <a:t>•  Ubuntu 22.04 LTS (poste de développement et cible de déploiement)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>
                <a:solidFill>
                  <a:srgbClr val="222222"/>
                </a:solidFill>
                <a:latin typeface="Times New Roman"/>
              </a:rPr>
              <a:t>•  AppArmor activé nativement (module MAC du noyau Linux)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0000" y="650000"/>
            <a:ext cx="2870000" cy="30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20000" y="650000"/>
            <a:ext cx="287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</a:rPr>
              <a:t>Backend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0000" y="950000"/>
            <a:ext cx="2870000" cy="1750000"/>
          </a:xfrm>
          <a:prstGeom prst="rect">
            <a:avLst/>
          </a:prstGeom>
          <a:solidFill>
            <a:srgbClr val="F4F6FA"/>
          </a:solidFill>
          <a:ln w="9525">
            <a:solidFill>
              <a:srgbClr val="DC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10000" y="990000"/>
            <a:ext cx="2690000" cy="1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>
                <a:solidFill>
                  <a:srgbClr val="222222"/>
                </a:solidFill>
                <a:latin typeface="Times New Roman"/>
              </a:rPr>
              <a:t>•  Python 3.11, Flask 3.x (contrôleurs REST)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>
                <a:solidFill>
                  <a:srgbClr val="222222"/>
                </a:solidFill>
                <a:latin typeface="Times New Roman"/>
              </a:rPr>
              <a:t>•  SQLAlchemy (ORM) + Alembic (migrations)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>
                <a:solidFill>
                  <a:srgbClr val="222222"/>
                </a:solidFill>
                <a:latin typeface="Times New Roman"/>
              </a:rPr>
              <a:t>•  Flask-JWT-Extended, Marshmallow (validation)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0000" y="650000"/>
            <a:ext cx="2870000" cy="300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80000" y="650000"/>
            <a:ext cx="287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</a:rPr>
              <a:t>Frontend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0000" y="950000"/>
            <a:ext cx="2870000" cy="1750000"/>
          </a:xfrm>
          <a:prstGeom prst="rect">
            <a:avLst/>
          </a:prstGeom>
          <a:solidFill>
            <a:srgbClr val="F4F6FA"/>
          </a:solidFill>
          <a:ln w="9525">
            <a:solidFill>
              <a:srgbClr val="DC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0000" y="990000"/>
            <a:ext cx="2690000" cy="441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 dirty="0">
                <a:solidFill>
                  <a:srgbClr val="222222"/>
                </a:solidFill>
                <a:latin typeface="Times New Roman"/>
              </a:rPr>
              <a:t>•  Vue.js 3 (Composition API) 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 dirty="0">
                <a:solidFill>
                  <a:srgbClr val="222222"/>
                </a:solidFill>
                <a:latin typeface="Times New Roman"/>
              </a:rPr>
              <a:t>•  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000" y="2790000"/>
            <a:ext cx="2870000" cy="3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0000" y="2790000"/>
            <a:ext cx="287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</a:rPr>
              <a:t>Base de données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00" y="3090000"/>
            <a:ext cx="2870000" cy="1750000"/>
          </a:xfrm>
          <a:prstGeom prst="rect">
            <a:avLst/>
          </a:prstGeom>
          <a:solidFill>
            <a:srgbClr val="F4F6FA"/>
          </a:solidFill>
          <a:ln w="9525">
            <a:solidFill>
              <a:srgbClr val="DC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0000" y="3130000"/>
            <a:ext cx="2690000" cy="1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>
                <a:solidFill>
                  <a:srgbClr val="222222"/>
                </a:solidFill>
                <a:latin typeface="Times New Roman"/>
              </a:rPr>
              <a:t>•  SQLite en développement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>
                <a:solidFill>
                  <a:srgbClr val="222222"/>
                </a:solidFill>
                <a:latin typeface="Times New Roman"/>
              </a:rPr>
              <a:t>•  MariaDB en production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0000" y="2790000"/>
            <a:ext cx="2870000" cy="30000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20000" y="2790000"/>
            <a:ext cx="287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</a:rPr>
              <a:t>Outils &amp; IDE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20000" y="3090000"/>
            <a:ext cx="2870000" cy="1750000"/>
          </a:xfrm>
          <a:prstGeom prst="rect">
            <a:avLst/>
          </a:prstGeom>
          <a:solidFill>
            <a:srgbClr val="F4F6FA"/>
          </a:solidFill>
          <a:ln w="9525">
            <a:solidFill>
              <a:srgbClr val="DC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10000" y="3130000"/>
            <a:ext cx="2690000" cy="22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69" b="0" i="0" dirty="0">
                <a:solidFill>
                  <a:srgbClr val="222222"/>
                </a:solidFill>
                <a:latin typeface="Times New Roman"/>
              </a:rPr>
              <a:t>•  Visual Studio Code, Git /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00" y="40000"/>
            <a:ext cx="84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</a:rPr>
              <a:t>04 · Implémentation &amp; Moteur</a:t>
            </a:r>
          </a:p>
        </p:txBody>
      </p:sp>
      <p:sp>
        <p:nvSpPr>
          <p:cNvPr id="6" name="Oval 5"/>
          <p:cNvSpPr/>
          <p:nvPr/>
        </p:nvSpPr>
        <p:spPr>
          <a:xfrm>
            <a:off x="8500000" y="-260000"/>
            <a:ext cx="900000" cy="900000"/>
          </a:xfrm>
          <a:prstGeom prst="ellipse">
            <a:avLst/>
          </a:prstGeom>
          <a:solidFill>
            <a:srgbClr val="0D7E8A">
              <a:alpha val="25000"/>
            </a:srgbClr>
          </a:solidFill>
          <a:ln>
            <a:solidFill>
              <a:srgbClr val="0D7E8A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000" y="650000"/>
            <a:ext cx="4270000" cy="30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000" y="650000"/>
            <a:ext cx="427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Moteur de gestion des profils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000" y="950000"/>
            <a:ext cx="4270000" cy="1480000"/>
          </a:xfrm>
          <a:prstGeom prst="rect">
            <a:avLst/>
          </a:prstGeom>
          <a:solidFill>
            <a:srgbClr val="F4F6FA"/>
          </a:solidFill>
          <a:ln w="9525">
            <a:solidFill>
              <a:srgbClr val="DC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0000" y="990000"/>
            <a:ext cx="407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222222"/>
                </a:solidFill>
                <a:latin typeface="Times New Roman"/>
              </a:rPr>
              <a:t>ProfilService valide la syntaxe avant écriture disque, puis délègue le déploiement à un script sudoers dédié qui exécute apparmor_parser -r sur le serveur cible.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0000" y="650000"/>
            <a:ext cx="4270000" cy="300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0000" y="650000"/>
            <a:ext cx="427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Moteur de collecte des journaux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20000" y="950000"/>
            <a:ext cx="4270000" cy="1480000"/>
          </a:xfrm>
          <a:prstGeom prst="rect">
            <a:avLst/>
          </a:prstGeom>
          <a:solidFill>
            <a:srgbClr val="F4F6FA"/>
          </a:solidFill>
          <a:ln w="9525">
            <a:solidFill>
              <a:srgbClr val="DC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20000" y="990000"/>
            <a:ext cx="407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222222"/>
                </a:solidFill>
                <a:latin typeface="Times New Roman"/>
              </a:rPr>
              <a:t>Un worker suit en continu /var/log/syslog (tail -f / journalctl), extrait les lignes AppArmor par expression régulière et les insère en base via une file d'attente asynchrone.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00" y="40000"/>
            <a:ext cx="84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</a:rPr>
              <a:t>06 · Interface Web &amp; Composants du SPA</a:t>
            </a:r>
          </a:p>
        </p:txBody>
      </p:sp>
      <p:sp>
        <p:nvSpPr>
          <p:cNvPr id="6" name="Oval 5"/>
          <p:cNvSpPr/>
          <p:nvPr/>
        </p:nvSpPr>
        <p:spPr>
          <a:xfrm>
            <a:off x="8500000" y="-260000"/>
            <a:ext cx="900000" cy="900000"/>
          </a:xfrm>
          <a:prstGeom prst="ellipse">
            <a:avLst/>
          </a:prstGeom>
          <a:solidFill>
            <a:srgbClr val="0D7E8A">
              <a:alpha val="25000"/>
            </a:srgbClr>
          </a:solidFill>
          <a:ln>
            <a:solidFill>
              <a:srgbClr val="0D7E8A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0000" y="610000"/>
            <a:ext cx="86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3707D"/>
                </a:solidFill>
                <a:latin typeface="Times New Roman"/>
              </a:rPr>
              <a:t>Application monopage (SPA) en Vue.js 3 : routage côté client, état centralisé (Pinia) et composants réutilisables, pour une interface réactive sans rechargement de page.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000" y="990000"/>
            <a:ext cx="4270000" cy="30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000" y="990000"/>
            <a:ext cx="427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imes New Roman"/>
              </a:rPr>
              <a:t>Vues principales (views/)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000" y="1290000"/>
            <a:ext cx="4270000" cy="3180000"/>
          </a:xfrm>
          <a:prstGeom prst="rect">
            <a:avLst/>
          </a:prstGeom>
          <a:solidFill>
            <a:srgbClr val="F4F6FA"/>
          </a:solidFill>
          <a:ln w="9525">
            <a:solidFill>
              <a:srgbClr val="DC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0000" y="1340000"/>
            <a:ext cx="411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30" b="1" i="0">
                <a:solidFill>
                  <a:srgbClr val="1B2A4A"/>
                </a:solidFill>
                <a:latin typeface="Times New Roman"/>
              </a:rPr>
              <a:t>LoginView</a:t>
            </a:r>
          </a:p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222222"/>
                </a:solidFill>
                <a:latin typeface="Times New Roman"/>
              </a:rPr>
              <a:t>Authentification, gestion des erreurs et du verrouillage.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000" y="1860000"/>
            <a:ext cx="4110000" cy="235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30" b="1" i="0" dirty="0" err="1">
                <a:solidFill>
                  <a:srgbClr val="1B2A4A"/>
                </a:solidFill>
                <a:latin typeface="Times New Roman"/>
              </a:rPr>
              <a:t>DashboardView</a:t>
            </a:r>
            <a:endParaRPr sz="930" b="1" i="0" dirty="0">
              <a:solidFill>
                <a:srgbClr val="1B2A4A"/>
              </a:solidFill>
              <a:latin typeface="Times New Roman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17698" y="2395449"/>
            <a:ext cx="4110000" cy="3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30" b="1" i="0" dirty="0" err="1">
                <a:solidFill>
                  <a:srgbClr val="1B2A4A"/>
                </a:solidFill>
                <a:latin typeface="Times New Roman"/>
              </a:rPr>
              <a:t>ProfilsView</a:t>
            </a:r>
            <a:r>
              <a:rPr sz="930" b="1" i="0" dirty="0">
                <a:solidFill>
                  <a:srgbClr val="1B2A4A"/>
                </a:solidFill>
                <a:latin typeface="Times New Roman"/>
              </a:rPr>
              <a:t> + </a:t>
            </a:r>
            <a:r>
              <a:rPr sz="930" b="1" i="0" dirty="0" err="1">
                <a:solidFill>
                  <a:srgbClr val="1B2A4A"/>
                </a:solidFill>
                <a:latin typeface="Times New Roman"/>
              </a:rPr>
              <a:t>ProfilEditor</a:t>
            </a:r>
            <a:endParaRPr sz="930" b="1" i="0" dirty="0">
              <a:solidFill>
                <a:srgbClr val="1B2A4A"/>
              </a:solidFill>
              <a:latin typeface="Times New Roman"/>
            </a:endParaRPr>
          </a:p>
          <a:p>
            <a:pPr algn="l">
              <a:spcAft>
                <a:spcPts val="0"/>
              </a:spcAft>
            </a:pPr>
            <a:r>
              <a:rPr sz="830" b="0" i="0" dirty="0" err="1">
                <a:solidFill>
                  <a:srgbClr val="222222"/>
                </a:solidFill>
                <a:latin typeface="Times New Roman"/>
              </a:rPr>
              <a:t>Liste</a:t>
            </a:r>
            <a:r>
              <a:rPr sz="830" b="0" i="0" dirty="0">
                <a:solidFill>
                  <a:srgbClr val="222222"/>
                </a:solidFill>
                <a:latin typeface="Times New Roman"/>
              </a:rPr>
              <a:t>, </a:t>
            </a:r>
            <a:r>
              <a:rPr sz="830" b="0" i="0" dirty="0" err="1">
                <a:solidFill>
                  <a:srgbClr val="222222"/>
                </a:solidFill>
                <a:latin typeface="Times New Roman"/>
              </a:rPr>
              <a:t>création</a:t>
            </a:r>
            <a:r>
              <a:rPr lang="fr-CM" sz="830" dirty="0">
                <a:solidFill>
                  <a:srgbClr val="222222"/>
                </a:solidFill>
                <a:latin typeface="Times New Roman"/>
              </a:rPr>
              <a:t> </a:t>
            </a:r>
            <a:r>
              <a:rPr sz="830" b="0" i="0" dirty="0">
                <a:solidFill>
                  <a:srgbClr val="222222"/>
                </a:solidFill>
                <a:latin typeface="Times New Roman"/>
              </a:rPr>
              <a:t>des </a:t>
            </a:r>
            <a:r>
              <a:rPr sz="830" b="0" i="0" dirty="0" err="1">
                <a:solidFill>
                  <a:srgbClr val="222222"/>
                </a:solidFill>
                <a:latin typeface="Times New Roman"/>
              </a:rPr>
              <a:t>profils</a:t>
            </a:r>
            <a:r>
              <a:rPr sz="830" b="0" i="0" dirty="0">
                <a:solidFill>
                  <a:srgbClr val="222222"/>
                </a:solidFill>
                <a:latin typeface="Times New Roman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000" y="2900000"/>
            <a:ext cx="4110000" cy="235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30" b="1" i="0" dirty="0" err="1">
                <a:solidFill>
                  <a:srgbClr val="1B2A4A"/>
                </a:solidFill>
                <a:latin typeface="Times New Roman"/>
              </a:rPr>
              <a:t>JournauxVie</a:t>
            </a:r>
            <a:r>
              <a:rPr lang="fr-CM" sz="930" b="1" i="0" dirty="0">
                <a:solidFill>
                  <a:srgbClr val="1B2A4A"/>
                </a:solidFill>
                <a:latin typeface="Times New Roman"/>
              </a:rPr>
              <a:t>w</a:t>
            </a:r>
            <a:endParaRPr sz="930" b="1" i="0" dirty="0">
              <a:solidFill>
                <a:srgbClr val="1B2A4A"/>
              </a:solidFill>
              <a:latin typeface="Times New Roma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40000" y="3420000"/>
            <a:ext cx="4110000" cy="235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30" b="1" i="0" dirty="0" err="1">
                <a:solidFill>
                  <a:srgbClr val="1B2A4A"/>
                </a:solidFill>
                <a:latin typeface="Times New Roman"/>
              </a:rPr>
              <a:t>AuditView</a:t>
            </a:r>
            <a:r>
              <a:rPr sz="930" b="1" i="0" dirty="0">
                <a:solidFill>
                  <a:srgbClr val="1B2A4A"/>
                </a:solidFill>
                <a:latin typeface="Times New Roman"/>
              </a:rPr>
              <a:t> / </a:t>
            </a:r>
            <a:r>
              <a:rPr sz="930" b="1" i="0" dirty="0" err="1">
                <a:solidFill>
                  <a:srgbClr val="1B2A4A"/>
                </a:solidFill>
                <a:latin typeface="Times New Roman"/>
              </a:rPr>
              <a:t>AlertesVie</a:t>
            </a:r>
            <a:r>
              <a:rPr lang="fr-CM" sz="930" b="1" i="0" dirty="0">
                <a:solidFill>
                  <a:srgbClr val="1B2A4A"/>
                </a:solidFill>
                <a:latin typeface="Times New Roman"/>
              </a:rPr>
              <a:t>w</a:t>
            </a:r>
            <a:r>
              <a:rPr sz="830" b="0" i="0" dirty="0">
                <a:solidFill>
                  <a:srgbClr val="222222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4B78A-8995-35C9-7E70-6E00DB38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104E39-CC38-142E-05D8-57FE8EC6A62C}"/>
              </a:ext>
            </a:extLst>
          </p:cNvPr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F30B6-DD34-C0B5-FAF4-08327DC85CDE}"/>
              </a:ext>
            </a:extLst>
          </p:cNvPr>
          <p:cNvSpPr txBox="1"/>
          <p:nvPr/>
        </p:nvSpPr>
        <p:spPr>
          <a:xfrm>
            <a:off x="320000" y="40000"/>
            <a:ext cx="84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</a:rPr>
              <a:t>09 · Interface Utilisateur — Captures d'Écran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643D5A-3E5D-F10B-5DAF-A19FC4471D2D}"/>
              </a:ext>
            </a:extLst>
          </p:cNvPr>
          <p:cNvSpPr/>
          <p:nvPr/>
        </p:nvSpPr>
        <p:spPr>
          <a:xfrm>
            <a:off x="8500000" y="-260000"/>
            <a:ext cx="900000" cy="900000"/>
          </a:xfrm>
          <a:prstGeom prst="ellipse">
            <a:avLst/>
          </a:prstGeom>
          <a:solidFill>
            <a:srgbClr val="0D7E8A">
              <a:alpha val="25000"/>
            </a:srgbClr>
          </a:solidFill>
          <a:ln>
            <a:solidFill>
              <a:srgbClr val="0D7E8A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C8EA75-0CA2-7FF8-5C04-332E076298E9}"/>
              </a:ext>
            </a:extLst>
          </p:cNvPr>
          <p:cNvSpPr txBox="1"/>
          <p:nvPr/>
        </p:nvSpPr>
        <p:spPr>
          <a:xfrm>
            <a:off x="550000" y="210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Profils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53B3A2-0397-4131-A950-44E080F640E5}"/>
              </a:ext>
            </a:extLst>
          </p:cNvPr>
          <p:cNvSpPr txBox="1"/>
          <p:nvPr/>
        </p:nvSpPr>
        <p:spPr>
          <a:xfrm>
            <a:off x="550000" y="244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Journaux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4B11C2-EB34-4D5E-546E-7E98662D7507}"/>
              </a:ext>
            </a:extLst>
          </p:cNvPr>
          <p:cNvSpPr txBox="1"/>
          <p:nvPr/>
        </p:nvSpPr>
        <p:spPr>
          <a:xfrm>
            <a:off x="550000" y="278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Audit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24B2D6-92E7-88E8-F19F-4192678C944F}"/>
              </a:ext>
            </a:extLst>
          </p:cNvPr>
          <p:cNvSpPr txBox="1"/>
          <p:nvPr/>
        </p:nvSpPr>
        <p:spPr>
          <a:xfrm>
            <a:off x="550000" y="312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Analyse SOC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4CE773-F814-50E6-D53D-0E397A148DF9}"/>
              </a:ext>
            </a:extLst>
          </p:cNvPr>
          <p:cNvSpPr txBox="1"/>
          <p:nvPr/>
        </p:nvSpPr>
        <p:spPr>
          <a:xfrm>
            <a:off x="550000" y="346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Mitigation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EF819D-EF1B-AAB0-924B-B877F243629E}"/>
              </a:ext>
            </a:extLst>
          </p:cNvPr>
          <p:cNvSpPr txBox="1"/>
          <p:nvPr/>
        </p:nvSpPr>
        <p:spPr>
          <a:xfrm>
            <a:off x="550000" y="380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Simulation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5EBF016-6199-2D26-8C8F-B6ACF6979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0000"/>
            <a:ext cx="9143999" cy="458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156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00" y="40000"/>
            <a:ext cx="840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</a:rPr>
              <a:t>09 · Interface Utilisateur — Captures d'Écran</a:t>
            </a:r>
          </a:p>
        </p:txBody>
      </p:sp>
      <p:sp>
        <p:nvSpPr>
          <p:cNvPr id="6" name="Oval 5"/>
          <p:cNvSpPr/>
          <p:nvPr/>
        </p:nvSpPr>
        <p:spPr>
          <a:xfrm>
            <a:off x="8500000" y="-260000"/>
            <a:ext cx="900000" cy="900000"/>
          </a:xfrm>
          <a:prstGeom prst="ellipse">
            <a:avLst/>
          </a:prstGeom>
          <a:solidFill>
            <a:srgbClr val="0D7E8A">
              <a:alpha val="25000"/>
            </a:srgbClr>
          </a:solidFill>
          <a:ln>
            <a:solidFill>
              <a:srgbClr val="0D7E8A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0000" y="210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Profils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000" y="244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Journaux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0000" y="278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000" y="312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Analyse SOC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0000" y="346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Mitigation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000" y="3800000"/>
            <a:ext cx="143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FFFFFF"/>
                </a:solidFill>
                <a:latin typeface="Times New Roman"/>
              </a:rPr>
              <a:t>Simulation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4337908-3C66-8C72-0009-73EDBE378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0000"/>
            <a:ext cx="9144000" cy="458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7500000" y="-600000"/>
            <a:ext cx="2200000" cy="2200000"/>
          </a:xfrm>
          <a:prstGeom prst="ellipse">
            <a:avLst/>
          </a:prstGeom>
          <a:solidFill>
            <a:srgbClr val="0D7E8A">
              <a:alpha val="18000"/>
            </a:srgbClr>
          </a:solidFill>
          <a:ln>
            <a:solidFill>
              <a:srgbClr val="0D7E8A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700000" y="3800000"/>
            <a:ext cx="2000000" cy="2000000"/>
          </a:xfrm>
          <a:prstGeom prst="ellipse">
            <a:avLst/>
          </a:prstGeom>
          <a:solidFill>
            <a:srgbClr val="C9A84C">
              <a:alpha val="12000"/>
            </a:srgbClr>
          </a:solidFill>
          <a:ln>
            <a:solidFill>
              <a:srgbClr val="C9A84C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0000" y="500000"/>
            <a:ext cx="79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11 · Conclusion</a:t>
            </a:r>
          </a:p>
        </p:txBody>
      </p:sp>
      <p:sp>
        <p:nvSpPr>
          <p:cNvPr id="7" name="Oval 6"/>
          <p:cNvSpPr/>
          <p:nvPr/>
        </p:nvSpPr>
        <p:spPr>
          <a:xfrm>
            <a:off x="620000" y="1380000"/>
            <a:ext cx="90000" cy="900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0000" y="1350000"/>
            <a:ext cx="77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Le système conçu dans le dossier précédent a été intégralement implémenté : architecture MVC 3-tiers, 12 routes API REST, SPA Vue.js et moteurs de détection/mitigation opérationnels.</a:t>
            </a:r>
          </a:p>
        </p:txBody>
      </p:sp>
      <p:sp>
        <p:nvSpPr>
          <p:cNvPr id="9" name="Oval 8"/>
          <p:cNvSpPr/>
          <p:nvPr/>
        </p:nvSpPr>
        <p:spPr>
          <a:xfrm>
            <a:off x="620000" y="2160000"/>
            <a:ext cx="90000" cy="900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0000" y="2130000"/>
            <a:ext cx="77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Les mesures de sécurité prévues sont en place — bcrypt, JWT, CSRF, HTTPS, journalisation exhaustive — et validées par une campagne de tests couvrant code, API et scénarios d'attaque.</a:t>
            </a:r>
          </a:p>
        </p:txBody>
      </p:sp>
      <p:sp>
        <p:nvSpPr>
          <p:cNvPr id="11" name="Oval 10"/>
          <p:cNvSpPr/>
          <p:nvPr/>
        </p:nvSpPr>
        <p:spPr>
          <a:xfrm>
            <a:off x="620000" y="2940000"/>
            <a:ext cx="90000" cy="900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0000" y="2910000"/>
            <a:ext cx="77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La démonstration confirme l'apport concret d'AppArmor : les tentatives simulées sont systématiquement bloquées et journalisées lorsque le profil est en mode Enforce.</a:t>
            </a:r>
          </a:p>
        </p:txBody>
      </p:sp>
      <p:sp>
        <p:nvSpPr>
          <p:cNvPr id="13" name="Oval 12"/>
          <p:cNvSpPr/>
          <p:nvPr/>
        </p:nvSpPr>
        <p:spPr>
          <a:xfrm>
            <a:off x="620000" y="3720000"/>
            <a:ext cx="90000" cy="900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000" y="3690000"/>
            <a:ext cx="77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Le projet est prêt pour un déploiement pilote, avec une base de code testée, documentée et alignée sur les corrections apportées aux dossiers précédents.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000" y="4450000"/>
            <a:ext cx="7900000" cy="4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0000" y="4560000"/>
            <a:ext cx="7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12A3B4"/>
                </a:solidFill>
                <a:latin typeface="Times New Roman"/>
              </a:rPr>
              <a:t>Perspectives : support SELinux via l'interface AppArmorService abstraite, application mobile de supervision, détection par apprentissage automatique, tableau de bord multi-hôtes.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605</Words>
  <Application>Microsoft Office PowerPoint</Application>
  <PresentationFormat>Affichage à l'écran (16:9)</PresentationFormat>
  <Paragraphs>92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PYREX</dc:creator>
  <cp:keywords/>
  <dc:description>generated using python-pptx</dc:description>
  <cp:lastModifiedBy>Emilie Nana Ndieupe</cp:lastModifiedBy>
  <cp:revision>3</cp:revision>
  <dcterms:created xsi:type="dcterms:W3CDTF">2013-01-27T09:14:16Z</dcterms:created>
  <dcterms:modified xsi:type="dcterms:W3CDTF">2026-07-23T23:35:59Z</dcterms:modified>
  <cp:category/>
</cp:coreProperties>
</file>