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1"/>
  </p:notesMasterIdLst>
  <p:handoutMasterIdLst>
    <p:handoutMasterId r:id="rId22"/>
  </p:handoutMasterIdLst>
  <p:sldIdLst>
    <p:sldId id="324" r:id="rId5"/>
    <p:sldId id="304" r:id="rId6"/>
    <p:sldId id="307" r:id="rId7"/>
    <p:sldId id="281" r:id="rId8"/>
    <p:sldId id="282" r:id="rId9"/>
    <p:sldId id="314" r:id="rId10"/>
    <p:sldId id="315" r:id="rId11"/>
    <p:sldId id="317" r:id="rId12"/>
    <p:sldId id="325" r:id="rId13"/>
    <p:sldId id="326" r:id="rId14"/>
    <p:sldId id="327" r:id="rId15"/>
    <p:sldId id="328" r:id="rId16"/>
    <p:sldId id="329" r:id="rId17"/>
    <p:sldId id="318" r:id="rId18"/>
    <p:sldId id="319" r:id="rId19"/>
    <p:sldId id="297" r:id="rId20"/>
  </p:sldIdLst>
  <p:sldSz cx="12192000" cy="6858000"/>
  <p:notesSz cx="13716000" cy="24384000"/>
  <p:defaultTextStyle>
    <a:defPPr rtl="0">
      <a:defRPr lang="fr-FR"/>
    </a:defPPr>
    <a:lvl1pPr marL="0" algn="l" defTabSz="457200" rtl="0" eaLnBrk="1" latinLnBrk="0" hangingPunct="1">
      <a:defRPr lang="fr-FR" sz="1800" kern="1200">
        <a:solidFill>
          <a:schemeClr val="tx1"/>
        </a:solidFill>
        <a:latin typeface="+mn-lt"/>
        <a:ea typeface="+mn-ea"/>
        <a:cs typeface="+mn-cs"/>
      </a:defRPr>
    </a:lvl1pPr>
    <a:lvl2pPr marL="457200" algn="l" defTabSz="457200" rtl="0" eaLnBrk="1" latinLnBrk="0" hangingPunct="1">
      <a:defRPr lang="fr-FR" sz="1800" kern="1200">
        <a:solidFill>
          <a:schemeClr val="tx1"/>
        </a:solidFill>
        <a:latin typeface="+mn-lt"/>
        <a:ea typeface="+mn-ea"/>
        <a:cs typeface="+mn-cs"/>
      </a:defRPr>
    </a:lvl2pPr>
    <a:lvl3pPr marL="914400" algn="l" defTabSz="457200" rtl="0" eaLnBrk="1" latinLnBrk="0" hangingPunct="1">
      <a:defRPr lang="fr-FR" sz="1800" kern="1200">
        <a:solidFill>
          <a:schemeClr val="tx1"/>
        </a:solidFill>
        <a:latin typeface="+mn-lt"/>
        <a:ea typeface="+mn-ea"/>
        <a:cs typeface="+mn-cs"/>
      </a:defRPr>
    </a:lvl3pPr>
    <a:lvl4pPr marL="1371600" algn="l" defTabSz="457200" rtl="0" eaLnBrk="1" latinLnBrk="0" hangingPunct="1">
      <a:defRPr lang="fr-FR" sz="1800" kern="1200">
        <a:solidFill>
          <a:schemeClr val="tx1"/>
        </a:solidFill>
        <a:latin typeface="+mn-lt"/>
        <a:ea typeface="+mn-ea"/>
        <a:cs typeface="+mn-cs"/>
      </a:defRPr>
    </a:lvl4pPr>
    <a:lvl5pPr marL="1828800" algn="l" defTabSz="457200" rtl="0" eaLnBrk="1" latinLnBrk="0" hangingPunct="1">
      <a:defRPr lang="fr-FR" sz="1800" kern="1200">
        <a:solidFill>
          <a:schemeClr val="tx1"/>
        </a:solidFill>
        <a:latin typeface="+mn-lt"/>
        <a:ea typeface="+mn-ea"/>
        <a:cs typeface="+mn-cs"/>
      </a:defRPr>
    </a:lvl5pPr>
    <a:lvl6pPr marL="2286000" algn="l" defTabSz="457200" rtl="0" eaLnBrk="1" latinLnBrk="0" hangingPunct="1">
      <a:defRPr lang="fr-FR" sz="1800" kern="1200">
        <a:solidFill>
          <a:schemeClr val="tx1"/>
        </a:solidFill>
        <a:latin typeface="+mn-lt"/>
        <a:ea typeface="+mn-ea"/>
        <a:cs typeface="+mn-cs"/>
      </a:defRPr>
    </a:lvl6pPr>
    <a:lvl7pPr marL="2743200" algn="l" defTabSz="457200" rtl="0" eaLnBrk="1" latinLnBrk="0" hangingPunct="1">
      <a:defRPr lang="fr-FR" sz="1800" kern="1200">
        <a:solidFill>
          <a:schemeClr val="tx1"/>
        </a:solidFill>
        <a:latin typeface="+mn-lt"/>
        <a:ea typeface="+mn-ea"/>
        <a:cs typeface="+mn-cs"/>
      </a:defRPr>
    </a:lvl7pPr>
    <a:lvl8pPr marL="3200400" algn="l" defTabSz="457200" rtl="0" eaLnBrk="1" latinLnBrk="0" hangingPunct="1">
      <a:defRPr lang="fr-FR" sz="1800" kern="1200">
        <a:solidFill>
          <a:schemeClr val="tx1"/>
        </a:solidFill>
        <a:latin typeface="+mn-lt"/>
        <a:ea typeface="+mn-ea"/>
        <a:cs typeface="+mn-cs"/>
      </a:defRPr>
    </a:lvl8pPr>
    <a:lvl9pPr marL="3657600" algn="l" defTabSz="4572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snapToObjects="1">
      <p:cViewPr varScale="1">
        <p:scale>
          <a:sx n="112" d="100"/>
          <a:sy n="112" d="100"/>
        </p:scale>
        <p:origin x="552" y="10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31" d="100"/>
          <a:sy n="31" d="100"/>
        </p:scale>
        <p:origin x="4392" y="1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lang="fr-FR" sz="1200"/>
            </a:lvl1pPr>
          </a:lstStyle>
          <a:p>
            <a:pPr rtl="0"/>
            <a:fld id="{A7C9947C-0B99-4CC9-AA3C-4A4AC8D4662C}" type="datetimeyyyy">
              <a:rPr lang="fr-FR" smtClean="0"/>
              <a:t>2026</a:t>
            </a:fld>
            <a:endParaRPr lang="fr-FR" dirty="0"/>
          </a:p>
        </p:txBody>
      </p:sp>
      <p:sp>
        <p:nvSpPr>
          <p:cNvPr id="4" name="Espace réservé du pied de page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lang="fr-FR" sz="1200"/>
            </a:lvl1pPr>
          </a:lstStyle>
          <a:p>
            <a:pPr rtl="0"/>
            <a:fld id="{420BD0AB-C59E-4A46-83D3-F07787446BA0}" type="slidenum">
              <a:rPr lang="fr-FR" smtClean="0"/>
              <a:t>‹N°›</a:t>
            </a:fld>
            <a:endParaRPr lang="fr-FR"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lang="fr-FR" sz="600" kern="1200">
        <a:solidFill>
          <a:schemeClr val="tx1"/>
        </a:solidFill>
        <a:latin typeface="+mn-lt"/>
        <a:ea typeface="+mn-ea"/>
        <a:cs typeface="+mn-cs"/>
      </a:defRPr>
    </a:lvl1pPr>
    <a:lvl2pPr marL="228600" algn="l" defTabSz="457200" rtl="0" eaLnBrk="1" latinLnBrk="0" hangingPunct="1">
      <a:defRPr lang="fr-FR" sz="600" kern="1200">
        <a:solidFill>
          <a:schemeClr val="tx1"/>
        </a:solidFill>
        <a:latin typeface="+mn-lt"/>
        <a:ea typeface="+mn-ea"/>
        <a:cs typeface="+mn-cs"/>
      </a:defRPr>
    </a:lvl2pPr>
    <a:lvl3pPr marL="457200" algn="l" defTabSz="457200" rtl="0" eaLnBrk="1" latinLnBrk="0" hangingPunct="1">
      <a:defRPr lang="fr-FR" sz="600" kern="1200">
        <a:solidFill>
          <a:schemeClr val="tx1"/>
        </a:solidFill>
        <a:latin typeface="+mn-lt"/>
        <a:ea typeface="+mn-ea"/>
        <a:cs typeface="+mn-cs"/>
      </a:defRPr>
    </a:lvl3pPr>
    <a:lvl4pPr marL="685800" algn="l" defTabSz="457200" rtl="0" eaLnBrk="1" latinLnBrk="0" hangingPunct="1">
      <a:defRPr lang="fr-FR" sz="600" kern="1200">
        <a:solidFill>
          <a:schemeClr val="tx1"/>
        </a:solidFill>
        <a:latin typeface="+mn-lt"/>
        <a:ea typeface="+mn-ea"/>
        <a:cs typeface="+mn-cs"/>
      </a:defRPr>
    </a:lvl4pPr>
    <a:lvl5pPr marL="914400" algn="l" defTabSz="457200" rtl="0" eaLnBrk="1" latinLnBrk="0" hangingPunct="1">
      <a:defRPr lang="fr-FR" sz="600" kern="1200">
        <a:solidFill>
          <a:schemeClr val="tx1"/>
        </a:solidFill>
        <a:latin typeface="+mn-lt"/>
        <a:ea typeface="+mn-ea"/>
        <a:cs typeface="+mn-cs"/>
      </a:defRPr>
    </a:lvl5pPr>
    <a:lvl6pPr marL="1143000" algn="l" defTabSz="457200" rtl="0" eaLnBrk="1" latinLnBrk="0" hangingPunct="1">
      <a:defRPr lang="fr-FR" sz="600" kern="1200">
        <a:solidFill>
          <a:schemeClr val="tx1"/>
        </a:solidFill>
        <a:latin typeface="+mn-lt"/>
        <a:ea typeface="+mn-ea"/>
        <a:cs typeface="+mn-cs"/>
      </a:defRPr>
    </a:lvl6pPr>
    <a:lvl7pPr marL="1371600" algn="l" defTabSz="457200" rtl="0" eaLnBrk="1" latinLnBrk="0" hangingPunct="1">
      <a:defRPr lang="fr-FR" sz="600" kern="1200">
        <a:solidFill>
          <a:schemeClr val="tx1"/>
        </a:solidFill>
        <a:latin typeface="+mn-lt"/>
        <a:ea typeface="+mn-ea"/>
        <a:cs typeface="+mn-cs"/>
      </a:defRPr>
    </a:lvl7pPr>
    <a:lvl8pPr marL="1600200" algn="l" defTabSz="457200" rtl="0" eaLnBrk="1" latinLnBrk="0" hangingPunct="1">
      <a:defRPr lang="fr-FR" sz="600" kern="1200">
        <a:solidFill>
          <a:schemeClr val="tx1"/>
        </a:solidFill>
        <a:latin typeface="+mn-lt"/>
        <a:ea typeface="+mn-ea"/>
        <a:cs typeface="+mn-cs"/>
      </a:defRPr>
    </a:lvl8pPr>
    <a:lvl9pPr marL="1828800" algn="l" defTabSz="457200" rtl="0" eaLnBrk="1" latinLnBrk="0" hangingPunct="1">
      <a:defRPr lang="fr-F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587736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defPPr>
              <a:defRPr lang="fr-FR"/>
            </a:defPPr>
          </a:lstStyle>
          <a:p>
            <a:pPr rtl="0"/>
            <a:endParaRPr lang="fr-FR" dirty="0"/>
          </a:p>
        </p:txBody>
      </p:sp>
      <p:sp>
        <p:nvSpPr>
          <p:cNvPr id="20" name="Freeform: Form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18" name="Freeform: Form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ctrTitle" hasCustomPrompt="1"/>
          </p:nvPr>
        </p:nvSpPr>
        <p:spPr>
          <a:xfrm>
            <a:off x="2899790" y="810227"/>
            <a:ext cx="6392421" cy="3831221"/>
          </a:xfrm>
        </p:spPr>
        <p:txBody>
          <a:bodyPr tIns="0" bIns="0" rtlCol="0" anchor="ctr" anchorCtr="0">
            <a:noAutofit/>
          </a:bodyPr>
          <a:lstStyle>
            <a:lvl1pPr algn="ctr">
              <a:lnSpc>
                <a:spcPct val="100000"/>
              </a:lnSpc>
              <a:defRPr lang="fr-FR" sz="3600"/>
            </a:lvl1pPr>
          </a:lstStyle>
          <a:p>
            <a:pPr rtl="0"/>
            <a:r>
              <a:rPr lang="fr-FR"/>
              <a:t>Cliquez pour ajouter un titre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orme libre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8" name="Forme libre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grpSp>
      <p:grpSp>
        <p:nvGrpSpPr>
          <p:cNvPr id="9" name="Groupe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orme libre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11" name="Forme libre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defPPr>
              <a:defRPr lang="fr-FR"/>
            </a:defPPr>
          </a:lstStyle>
          <a:p>
            <a:pPr rtl="0"/>
            <a:endParaRPr lang="fr-FR" dirty="0"/>
          </a:p>
        </p:txBody>
      </p:sp>
      <p:sp>
        <p:nvSpPr>
          <p:cNvPr id="2" name="Titr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rtlCol="0">
            <a:noAutofit/>
          </a:bodyPr>
          <a:lstStyle>
            <a:lvl1pPr algn="l">
              <a:lnSpc>
                <a:spcPct val="100000"/>
              </a:lnSpc>
              <a:defRPr lang="fr-FR" sz="3600"/>
            </a:lvl1pPr>
          </a:lstStyle>
          <a:p>
            <a:pPr rtl="0"/>
            <a:r>
              <a:rPr lang="fr-FR"/>
              <a:t>Cliquez pour ajouter un titre</a:t>
            </a:r>
          </a:p>
        </p:txBody>
      </p:sp>
      <p:sp>
        <p:nvSpPr>
          <p:cNvPr id="13" name="Espace réservé du contenu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rtlCol="0">
            <a:normAutofit/>
          </a:bodyPr>
          <a:lstStyle>
            <a:lvl1pPr marL="0" indent="0">
              <a:lnSpc>
                <a:spcPct val="150000"/>
              </a:lnSpc>
              <a:spcBef>
                <a:spcPts val="0"/>
              </a:spcBef>
              <a:buNone/>
              <a:defRPr lang="fr-FR" sz="2400"/>
            </a:lvl1pPr>
            <a:lvl2pPr marL="347472">
              <a:lnSpc>
                <a:spcPct val="150000"/>
              </a:lnSpc>
              <a:spcBef>
                <a:spcPts val="0"/>
              </a:spcBef>
              <a:defRPr lang="fr-FR" sz="2000"/>
            </a:lvl2pPr>
            <a:lvl3pPr marL="685800">
              <a:lnSpc>
                <a:spcPct val="150000"/>
              </a:lnSpc>
              <a:spcBef>
                <a:spcPts val="0"/>
              </a:spcBef>
              <a:defRPr lang="fr-FR" sz="1800"/>
            </a:lvl3pPr>
          </a:lstStyle>
          <a:p>
            <a:pPr lvl="0" rtl="0"/>
            <a:r>
              <a:rPr lang="fr-FR"/>
              <a:t>Cliquer pour ajouter du texte</a:t>
            </a:r>
          </a:p>
          <a:p>
            <a:pPr lvl="1" rtl="0"/>
            <a:r>
              <a:rPr lang="fr-FR"/>
              <a:t>Deuxième niveau</a:t>
            </a:r>
          </a:p>
          <a:p>
            <a:pPr lvl="2" rtl="0"/>
            <a:r>
              <a:rPr lang="fr-FR"/>
              <a:t>Troisième niveau</a:t>
            </a:r>
          </a:p>
        </p:txBody>
      </p:sp>
      <p:sp>
        <p:nvSpPr>
          <p:cNvPr id="3" name="Espace réservé du numéro de diapositive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grpSp>
        <p:nvGrpSpPr>
          <p:cNvPr id="18" name="Groupe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Form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p>
          </p:txBody>
        </p:sp>
        <p:sp>
          <p:nvSpPr>
            <p:cNvPr id="15" name="Freeform: Form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grpSp>
      <p:sp>
        <p:nvSpPr>
          <p:cNvPr id="2" name="Titre 1"/>
          <p:cNvSpPr>
            <a:spLocks noGrp="1"/>
          </p:cNvSpPr>
          <p:nvPr userDrawn="1">
            <p:ph type="title" hasCustomPrompt="1"/>
          </p:nvPr>
        </p:nvSpPr>
        <p:spPr>
          <a:xfrm>
            <a:off x="5702441" y="1061623"/>
            <a:ext cx="5723586" cy="4739104"/>
          </a:xfrm>
        </p:spPr>
        <p:txBody>
          <a:bodyPr tIns="0" bIns="0" rtlCol="0" anchor="ctr">
            <a:noAutofit/>
          </a:bodyPr>
          <a:lstStyle>
            <a:lvl1pPr algn="l">
              <a:lnSpc>
                <a:spcPct val="100000"/>
              </a:lnSpc>
              <a:defRPr lang="fr-FR" sz="3600" b="1"/>
            </a:lvl1pPr>
          </a:lstStyle>
          <a:p>
            <a:pPr rtl="0"/>
            <a:r>
              <a:rPr lang="fr-FR"/>
              <a:t>Cliquez pour ajouter un titre</a:t>
            </a:r>
          </a:p>
        </p:txBody>
      </p:sp>
      <p:sp>
        <p:nvSpPr>
          <p:cNvPr id="8" name="Espace réservé d’image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rtlCol="0">
            <a:normAutofit/>
          </a:bodyPr>
          <a:lstStyle>
            <a:lvl1pPr marL="0" indent="0">
              <a:buNone/>
              <a:defRPr lang="fr-FR" sz="1800"/>
            </a:lvl1pPr>
          </a:lstStyle>
          <a:p>
            <a:pPr lvl="0" rtl="0"/>
            <a:r>
              <a:rPr lang="fr-FR"/>
              <a:t>Cliquez ici pour ajouter une image.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sp>
        <p:nvSpPr>
          <p:cNvPr id="36" name="Forme libre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33" name="Forme libre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lvl="0" algn="ctr" rtl="0"/>
            <a:endParaRPr lang="fr-FR" dirty="0"/>
          </a:p>
        </p:txBody>
      </p:sp>
      <p:sp>
        <p:nvSpPr>
          <p:cNvPr id="4" name="Titr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rtlCol="0">
            <a:noAutofit/>
          </a:bodyPr>
          <a:lstStyle>
            <a:lvl1pPr algn="l">
              <a:lnSpc>
                <a:spcPct val="100000"/>
              </a:lnSpc>
              <a:defRPr lang="fr-FR" sz="3600"/>
            </a:lvl1pPr>
          </a:lstStyle>
          <a:p>
            <a:pPr rtl="0"/>
            <a:r>
              <a:rPr lang="fr-FR"/>
              <a:t>Cliquer pour ajouter du texte</a:t>
            </a:r>
          </a:p>
        </p:txBody>
      </p:sp>
      <p:sp>
        <p:nvSpPr>
          <p:cNvPr id="5" name="Espace réservé du contenu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rtlCol="0">
            <a:normAutofit/>
          </a:bodyPr>
          <a:lstStyle>
            <a:lvl1pPr marL="0" indent="0">
              <a:lnSpc>
                <a:spcPct val="100000"/>
              </a:lnSpc>
              <a:spcBef>
                <a:spcPts val="0"/>
              </a:spcBef>
              <a:buNone/>
              <a:defRPr lang="fr-FR" sz="2400"/>
            </a:lvl1pPr>
            <a:lvl2pPr marL="347472">
              <a:lnSpc>
                <a:spcPct val="100000"/>
              </a:lnSpc>
              <a:spcBef>
                <a:spcPts val="0"/>
              </a:spcBef>
              <a:defRPr lang="fr-FR" sz="2400"/>
            </a:lvl2pPr>
            <a:lvl3pPr marL="685800">
              <a:lnSpc>
                <a:spcPct val="100000"/>
              </a:lnSpc>
              <a:spcBef>
                <a:spcPts val="0"/>
              </a:spcBef>
              <a:defRPr lang="fr-FR" sz="2400"/>
            </a:lvl3pPr>
          </a:lstStyle>
          <a:p>
            <a:pPr lvl="0" rtl="0"/>
            <a:r>
              <a:rPr lang="fr-FR"/>
              <a:t>Cliquer pour ajouter du texte</a:t>
            </a:r>
          </a:p>
          <a:p>
            <a:pPr lvl="1" rtl="0"/>
            <a:r>
              <a:rPr lang="fr-FR"/>
              <a:t>Deuxième niveau</a:t>
            </a:r>
          </a:p>
          <a:p>
            <a:pPr lvl="2" rtl="0"/>
            <a:r>
              <a:rPr lang="fr-FR"/>
              <a:t>Troisième niveau</a:t>
            </a:r>
          </a:p>
        </p:txBody>
      </p:sp>
      <p:sp>
        <p:nvSpPr>
          <p:cNvPr id="52" name="Espace réservé d’image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rtlCol="0">
            <a:normAutofit/>
          </a:bodyPr>
          <a:lstStyle>
            <a:lvl1pPr marL="0" indent="0">
              <a:buNone/>
              <a:defRPr lang="fr-FR" sz="1800"/>
            </a:lvl1pPr>
          </a:lstStyle>
          <a:p>
            <a:pPr lvl="0" rtl="0"/>
            <a:r>
              <a:rPr lang="fr-FR"/>
              <a:t>Cliquez ici pour ajouter une image.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defPPr>
              <a:defRPr lang="fr-FR"/>
            </a:defPPr>
          </a:lstStyle>
          <a:p>
            <a:pPr rtl="0"/>
            <a:endParaRPr lang="fr-FR" dirty="0"/>
          </a:p>
        </p:txBody>
      </p:sp>
      <p:sp>
        <p:nvSpPr>
          <p:cNvPr id="53" name="Freeform: Form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defPPr>
              <a:defRPr lang="fr-FR"/>
            </a:defPPr>
          </a:lstStyle>
          <a:p>
            <a:pPr rtl="0"/>
            <a:endParaRPr lang="fr-FR" dirty="0"/>
          </a:p>
        </p:txBody>
      </p:sp>
      <p:sp>
        <p:nvSpPr>
          <p:cNvPr id="29" name="Forme libre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31" name="Forme libre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defPPr>
              <a:defRPr lang="fr-FR"/>
            </a:defPPr>
          </a:lstStyle>
          <a:p>
            <a:pPr rtl="0"/>
            <a:endParaRPr lang="fr-FR" dirty="0"/>
          </a:p>
        </p:txBody>
      </p:sp>
      <p:sp>
        <p:nvSpPr>
          <p:cNvPr id="2" name="Titre 1"/>
          <p:cNvSpPr>
            <a:spLocks noGrp="1"/>
          </p:cNvSpPr>
          <p:nvPr>
            <p:ph type="title" hasCustomPrompt="1"/>
          </p:nvPr>
        </p:nvSpPr>
        <p:spPr>
          <a:xfrm>
            <a:off x="3460565" y="1057274"/>
            <a:ext cx="7965461" cy="994164"/>
          </a:xfrm>
        </p:spPr>
        <p:txBody>
          <a:bodyPr lIns="91440" tIns="0" rIns="91440" bIns="0" rtlCol="0" anchor="b" anchorCtr="0">
            <a:noAutofit/>
          </a:bodyPr>
          <a:lstStyle>
            <a:lvl1pPr algn="l">
              <a:lnSpc>
                <a:spcPct val="100000"/>
              </a:lnSpc>
              <a:defRPr lang="fr-FR" sz="3600" b="1">
                <a:latin typeface="+mj-lt"/>
                <a:cs typeface="Arial" panose="020B0604020202020204" pitchFamily="34" charset="0"/>
              </a:defRPr>
            </a:lvl1pPr>
          </a:lstStyle>
          <a:p>
            <a:pPr rtl="0"/>
            <a:r>
              <a:rPr lang="fr-FR"/>
              <a:t>Cliquez pour ajouter un titre</a:t>
            </a:r>
          </a:p>
        </p:txBody>
      </p:sp>
      <p:sp>
        <p:nvSpPr>
          <p:cNvPr id="13" name="Espace réservé du contenu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8" name="Espace réservé du numéro de diapositive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aison 1">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rtlCol="0">
            <a:noAutofit/>
          </a:bodyPr>
          <a:lstStyle>
            <a:lvl1pPr algn="l">
              <a:lnSpc>
                <a:spcPct val="100000"/>
              </a:lnSpc>
              <a:defRPr lang="fr-FR" sz="3600"/>
            </a:lvl1pPr>
          </a:lstStyle>
          <a:p>
            <a:pPr rtl="0"/>
            <a:r>
              <a:rPr lang="fr-FR"/>
              <a:t>Cliquez pour ajouter un titre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defPPr>
              <a:defRPr lang="fr-FR"/>
            </a:defPPr>
          </a:lstStyle>
          <a:p>
            <a:pPr rtl="0"/>
            <a:endParaRPr lang="fr-FR"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Form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defPPr>
              <a:defRPr lang="fr-FR"/>
            </a:defPPr>
          </a:lstStyle>
          <a:p>
            <a:pPr rtl="0"/>
            <a:endParaRPr lang="fr-FR"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defPPr>
              <a:defRPr lang="fr-FR"/>
            </a:defPPr>
          </a:lstStyle>
          <a:p>
            <a:pPr rtl="0"/>
            <a:endParaRPr lang="fr-FR"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Espace réservé du numéro de diapositive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
        <p:nvSpPr>
          <p:cNvPr id="2" name="Espace réservé du contenu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rtlCol="0">
            <a:normAutofit/>
          </a:bodyPr>
          <a:lstStyle>
            <a:lvl1pPr marL="0" indent="0">
              <a:lnSpc>
                <a:spcPct val="100000"/>
              </a:lnSpc>
              <a:spcBef>
                <a:spcPts val="0"/>
              </a:spcBef>
              <a:buNone/>
              <a:defRPr lang="fr-FR" sz="2400"/>
            </a:lvl1pPr>
            <a:lvl2pPr marL="347472">
              <a:lnSpc>
                <a:spcPct val="100000"/>
              </a:lnSpc>
              <a:spcBef>
                <a:spcPts val="0"/>
              </a:spcBef>
              <a:defRPr lang="fr-FR" sz="2400"/>
            </a:lvl2pPr>
            <a:lvl3pPr marL="685800">
              <a:lnSpc>
                <a:spcPct val="100000"/>
              </a:lnSpc>
              <a:spcBef>
                <a:spcPts val="0"/>
              </a:spcBef>
              <a:defRPr lang="fr-FR" sz="2400"/>
            </a:lvl3pPr>
          </a:lstStyle>
          <a:p>
            <a:pPr lvl="0" rtl="0"/>
            <a:r>
              <a:rPr lang="fr-FR"/>
              <a:t>Cliquer pour ajouter du texte</a:t>
            </a:r>
          </a:p>
          <a:p>
            <a:pPr lvl="1" rtl="0"/>
            <a:r>
              <a:rPr lang="fr-FR"/>
              <a:t>Deuxième niveau</a:t>
            </a:r>
          </a:p>
          <a:p>
            <a:pPr lvl="2" rtl="0"/>
            <a:r>
              <a:rPr lang="fr-FR"/>
              <a:t>Troisième niveau</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ison 4">
    <p:spTree>
      <p:nvGrpSpPr>
        <p:cNvPr id="1" name=""/>
        <p:cNvGrpSpPr/>
        <p:nvPr/>
      </p:nvGrpSpPr>
      <p:grpSpPr>
        <a:xfrm>
          <a:off x="0" y="0"/>
          <a:ext cx="0" cy="0"/>
          <a:chOff x="0" y="0"/>
          <a:chExt cx="0" cy="0"/>
        </a:xfrm>
      </p:grpSpPr>
      <p:sp>
        <p:nvSpPr>
          <p:cNvPr id="27" name="Forme libre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8" name="Forme libre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4" name="Forme libre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6" name="Forme libre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20" name="Titr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rtlCol="0">
            <a:noAutofit/>
          </a:bodyPr>
          <a:lstStyle>
            <a:lvl1pPr algn="l">
              <a:lnSpc>
                <a:spcPct val="100000"/>
              </a:lnSpc>
              <a:defRPr lang="fr-FR" sz="3600"/>
            </a:lvl1pPr>
          </a:lstStyle>
          <a:p>
            <a:pPr rtl="0"/>
            <a:r>
              <a:rPr lang="fr-FR"/>
              <a:t>Cliquez pour ajouter un titre</a:t>
            </a:r>
          </a:p>
        </p:txBody>
      </p:sp>
      <p:sp>
        <p:nvSpPr>
          <p:cNvPr id="19" name="Espace réservé du numéro de diapositive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
        <p:nvSpPr>
          <p:cNvPr id="23" name="Espace réservé du contenu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rtlCol="0">
            <a:normAutofit/>
          </a:bodyPr>
          <a:lstStyle>
            <a:lvl1pPr marL="0" indent="0">
              <a:spcBef>
                <a:spcPts val="1000"/>
              </a:spcBef>
              <a:buNone/>
              <a:defRPr lang="fr-FR" sz="1800"/>
            </a:lvl1pPr>
            <a:lvl2pPr marL="283464" indent="-283464">
              <a:spcBef>
                <a:spcPts val="1000"/>
              </a:spcBef>
              <a:defRPr lang="fr-FR" sz="1800"/>
            </a:lvl2pPr>
            <a:lvl3pPr marL="283464" indent="-283464">
              <a:spcBef>
                <a:spcPts val="1000"/>
              </a:spcBef>
              <a:defRPr lang="fr-FR" sz="1800"/>
            </a:lvl3pPr>
            <a:lvl4pPr marL="283464" indent="-283464">
              <a:spcBef>
                <a:spcPts val="1000"/>
              </a:spcBef>
              <a:defRPr lang="fr-FR" sz="1800"/>
            </a:lvl4pPr>
            <a:lvl5pPr marL="283464"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5" name="Espace réservé du contenu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rtlCol="0">
            <a:normAutofit/>
          </a:bodyPr>
          <a:lstStyle>
            <a:lvl1pPr marL="0" indent="0">
              <a:spcBef>
                <a:spcPts val="1000"/>
              </a:spcBef>
              <a:buNone/>
              <a:defRPr lang="fr-FR" sz="1800"/>
            </a:lvl1pPr>
            <a:lvl2pPr marL="283464" indent="-283464">
              <a:spcBef>
                <a:spcPts val="1000"/>
              </a:spcBef>
              <a:defRPr lang="fr-FR" sz="1800"/>
            </a:lvl2pPr>
            <a:lvl3pPr marL="283464" indent="-283464">
              <a:spcBef>
                <a:spcPts val="1000"/>
              </a:spcBef>
              <a:defRPr lang="fr-FR" sz="1800"/>
            </a:lvl3pPr>
            <a:lvl4pPr marL="283464" indent="-283464">
              <a:spcBef>
                <a:spcPts val="1000"/>
              </a:spcBef>
              <a:defRPr lang="fr-FR" sz="1800"/>
            </a:lvl4pPr>
            <a:lvl5pPr marL="283464"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ronologi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sp>
        <p:nvSpPr>
          <p:cNvPr id="2" name="Titr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rtlCol="0"/>
          <a:lstStyle>
            <a:lvl1pPr algn="l">
              <a:lnSpc>
                <a:spcPct val="100000"/>
              </a:lnSpc>
              <a:defRPr lang="fr-FR" sz="3600">
                <a:solidFill>
                  <a:schemeClr val="accent6"/>
                </a:solidFill>
              </a:defRPr>
            </a:lvl1pPr>
          </a:lstStyle>
          <a:p>
            <a:pPr rtl="0"/>
            <a:r>
              <a:rPr lang="fr-FR"/>
              <a:t>Cliquez pour ajouter un titre</a:t>
            </a:r>
          </a:p>
        </p:txBody>
      </p:sp>
      <p:sp>
        <p:nvSpPr>
          <p:cNvPr id="5" name="Espace réservé du contenu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rtlCol="0">
            <a:normAutofit/>
          </a:bodyPr>
          <a:lstStyle>
            <a:lvl1pPr marL="457200" indent="-457200">
              <a:spcBef>
                <a:spcPts val="1000"/>
              </a:spcBef>
              <a:buFont typeface="+mj-lt"/>
              <a:buAutoNum type="arabicPeriod"/>
              <a:defRPr lang="fr-FR" sz="1800"/>
            </a:lvl1pPr>
            <a:lvl2pPr marL="745236" indent="-342900">
              <a:spcBef>
                <a:spcPts val="1000"/>
              </a:spcBef>
              <a:buFont typeface="+mj-lt"/>
              <a:buAutoNum type="alphaLcPeriod"/>
              <a:defRPr lang="fr-FR" sz="1800"/>
            </a:lvl2pPr>
            <a:lvl3pPr marL="1202436" indent="-342900">
              <a:spcBef>
                <a:spcPts val="1000"/>
              </a:spcBef>
              <a:buFont typeface="+mj-lt"/>
              <a:buAutoNum type="arabicParenR"/>
              <a:defRPr lang="fr-FR" sz="1800"/>
            </a:lvl3pPr>
            <a:lvl4pPr marL="1659636" indent="-342900">
              <a:spcBef>
                <a:spcPts val="1000"/>
              </a:spcBef>
              <a:buFont typeface="+mj-lt"/>
              <a:buAutoNum type="alphaLcParenR"/>
              <a:defRPr lang="fr-FR" sz="1800"/>
            </a:lvl4pPr>
            <a:lvl5pPr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p:txBody>
      </p:sp>
      <p:sp>
        <p:nvSpPr>
          <p:cNvPr id="3" name="Espace réservé du contenu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rtlCol="0">
            <a:normAutofit/>
          </a:bodyPr>
          <a:lstStyle>
            <a:lvl1pPr marL="0" indent="0">
              <a:spcBef>
                <a:spcPts val="1000"/>
              </a:spcBef>
              <a:buNone/>
              <a:defRPr lang="fr-FR" sz="1800"/>
            </a:lvl1pPr>
            <a:lvl2pPr indent="-283464">
              <a:spcBef>
                <a:spcPts val="1000"/>
              </a:spcBef>
              <a:defRPr lang="fr-FR" sz="1800"/>
            </a:lvl2pPr>
            <a:lvl3pPr indent="-283464">
              <a:spcBef>
                <a:spcPts val="1000"/>
              </a:spcBef>
              <a:defRPr lang="fr-FR" sz="1800"/>
            </a:lvl3pPr>
            <a:lvl4pPr indent="-283464">
              <a:spcBef>
                <a:spcPts val="1000"/>
              </a:spcBef>
              <a:defRPr lang="fr-FR" sz="1800"/>
            </a:lvl4pPr>
            <a:lvl5pPr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1" name="Espace réservé d’image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rtlCol="0">
            <a:noAutofit/>
          </a:bodyPr>
          <a:lstStyle>
            <a:lvl1pPr marL="0" indent="0">
              <a:buNone/>
              <a:defRPr lang="fr-FR" sz="1800"/>
            </a:lvl1pPr>
          </a:lstStyle>
          <a:p>
            <a:pPr lvl="0" rtl="0"/>
            <a:r>
              <a:rPr lang="fr-FR"/>
              <a:t>Cliquez ici pour ajouter une image.</a:t>
            </a:r>
          </a:p>
        </p:txBody>
      </p:sp>
      <p:grpSp>
        <p:nvGrpSpPr>
          <p:cNvPr id="32" name="Groupe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Form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p>
          </p:txBody>
        </p:sp>
        <p:sp>
          <p:nvSpPr>
            <p:cNvPr id="21" name="Forme libre : Form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22" name="Freeform: Form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grpSp>
      <p:sp>
        <p:nvSpPr>
          <p:cNvPr id="44" name="Espace réservé du numéro de diapositive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ésumé 2">
    <p:spTree>
      <p:nvGrpSpPr>
        <p:cNvPr id="1" name=""/>
        <p:cNvGrpSpPr/>
        <p:nvPr/>
      </p:nvGrpSpPr>
      <p:grpSpPr>
        <a:xfrm>
          <a:off x="0" y="0"/>
          <a:ext cx="0" cy="0"/>
          <a:chOff x="0" y="0"/>
          <a:chExt cx="0" cy="0"/>
        </a:xfrm>
      </p:grpSpPr>
      <p:sp>
        <p:nvSpPr>
          <p:cNvPr id="5" name="Forme libre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defPPr>
              <a:defRPr lang="fr-FR"/>
            </a:defPPr>
          </a:lstStyle>
          <a:p>
            <a:pPr rtl="0"/>
            <a:endParaRPr lang="fr-FR"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defPPr>
              <a:defRPr lang="fr-FR"/>
            </a:defPPr>
          </a:lstStyle>
          <a:p>
            <a:pPr rtl="0"/>
            <a:endParaRPr lang="fr-FR" dirty="0"/>
          </a:p>
        </p:txBody>
      </p:sp>
      <p:sp>
        <p:nvSpPr>
          <p:cNvPr id="14" name="Forme libre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defPPr>
              <a:defRPr lang="fr-FR"/>
            </a:defPPr>
          </a:lstStyle>
          <a:p>
            <a:pPr rtl="0"/>
            <a:endParaRPr lang="fr-FR"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orme libre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defPPr>
              <a:defRPr lang="fr-FR"/>
            </a:defPPr>
          </a:lstStyle>
          <a:p>
            <a:pPr rtl="0"/>
            <a:endParaRPr lang="fr-FR" dirty="0"/>
          </a:p>
        </p:txBody>
      </p:sp>
      <p:sp>
        <p:nvSpPr>
          <p:cNvPr id="2" name="Titre 1"/>
          <p:cNvSpPr>
            <a:spLocks noGrp="1"/>
          </p:cNvSpPr>
          <p:nvPr>
            <p:ph type="title"/>
          </p:nvPr>
        </p:nvSpPr>
        <p:spPr>
          <a:xfrm>
            <a:off x="914400" y="1057274"/>
            <a:ext cx="7843837" cy="1012782"/>
          </a:xfrm>
        </p:spPr>
        <p:txBody>
          <a:bodyPr tIns="0" bIns="0" rtlCol="0">
            <a:noAutofit/>
          </a:bodyPr>
          <a:lstStyle>
            <a:lvl1pPr algn="l">
              <a:lnSpc>
                <a:spcPct val="100000"/>
              </a:lnSpc>
              <a:defRPr lang="fr-FR" sz="3600" b="1"/>
            </a:lvl1pPr>
          </a:lstStyle>
          <a:p>
            <a:pPr rtl="0"/>
            <a:r>
              <a:rPr lang="fr-FR"/>
              <a:t>Modifiez le style du titre</a:t>
            </a:r>
            <a:endParaRPr lang="fr-FR" dirty="0"/>
          </a:p>
        </p:txBody>
      </p:sp>
      <p:sp>
        <p:nvSpPr>
          <p:cNvPr id="30" name="Espace réservé du contenu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rtlCol="0">
            <a:normAutofit/>
          </a:bodyPr>
          <a:lstStyle>
            <a:lvl1pPr marL="0" indent="0">
              <a:lnSpc>
                <a:spcPct val="100000"/>
              </a:lnSpc>
              <a:spcBef>
                <a:spcPts val="0"/>
              </a:spcBef>
              <a:buNone/>
              <a:defRPr lang="fr-FR" sz="2400"/>
            </a:lvl1pPr>
            <a:lvl2pPr marL="347472">
              <a:lnSpc>
                <a:spcPct val="100000"/>
              </a:lnSpc>
              <a:spcBef>
                <a:spcPts val="0"/>
              </a:spcBef>
              <a:defRPr lang="fr-FR" sz="2400"/>
            </a:lvl2pPr>
            <a:lvl3pPr marL="685800">
              <a:lnSpc>
                <a:spcPct val="100000"/>
              </a:lnSpc>
              <a:spcBef>
                <a:spcPts val="0"/>
              </a:spcBef>
              <a:defRPr lang="fr-FR" sz="2400"/>
            </a:lvl3pPr>
          </a:lstStyle>
          <a:p>
            <a:pPr lvl="0" rtl="0"/>
            <a:r>
              <a:rPr lang="fr-FR"/>
              <a:t>Cliquer pour ajouter du texte</a:t>
            </a:r>
          </a:p>
          <a:p>
            <a:pPr lvl="1" rtl="0"/>
            <a:r>
              <a:rPr lang="fr-FR"/>
              <a:t>Deuxième niveau</a:t>
            </a:r>
          </a:p>
          <a:p>
            <a:pPr lvl="2" rtl="0"/>
            <a:r>
              <a:rPr lang="fr-FR"/>
              <a:t>Troisième niveau</a:t>
            </a:r>
          </a:p>
        </p:txBody>
      </p:sp>
      <p:sp>
        <p:nvSpPr>
          <p:cNvPr id="10" name="Espace réservé d’image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rtlCol="0">
            <a:normAutofit/>
          </a:bodyPr>
          <a:lstStyle>
            <a:lvl1pPr marL="0" indent="0">
              <a:buNone/>
              <a:defRPr lang="fr-FR" sz="1800"/>
            </a:lvl1pPr>
          </a:lstStyle>
          <a:p>
            <a:pPr rtl="0"/>
            <a:r>
              <a:rPr lang="fr-FR"/>
              <a:t>Cliquez sur l'icône pour ajouter une image</a:t>
            </a:r>
            <a:endParaRPr lang="fr-FR" dirty="0"/>
          </a:p>
        </p:txBody>
      </p:sp>
      <p:sp>
        <p:nvSpPr>
          <p:cNvPr id="20" name="Espace réservé du numéro de diapositive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ronologie 3">
    <p:spTree>
      <p:nvGrpSpPr>
        <p:cNvPr id="1" name=""/>
        <p:cNvGrpSpPr/>
        <p:nvPr/>
      </p:nvGrpSpPr>
      <p:grpSpPr>
        <a:xfrm>
          <a:off x="0" y="0"/>
          <a:ext cx="0" cy="0"/>
          <a:chOff x="0" y="0"/>
          <a:chExt cx="0" cy="0"/>
        </a:xfrm>
      </p:grpSpPr>
      <p:sp>
        <p:nvSpPr>
          <p:cNvPr id="12" name="Forme libre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p>
        </p:txBody>
      </p:sp>
      <p:sp>
        <p:nvSpPr>
          <p:cNvPr id="10" name="Forme libre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sp>
        <p:nvSpPr>
          <p:cNvPr id="6" name="Titr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rtlCol="0"/>
          <a:lstStyle>
            <a:lvl1pPr algn="l">
              <a:lnSpc>
                <a:spcPct val="100000"/>
              </a:lnSpc>
              <a:defRPr lang="fr-FR" sz="3600">
                <a:solidFill>
                  <a:schemeClr val="accent6"/>
                </a:solidFill>
              </a:defRPr>
            </a:lvl1pPr>
          </a:lstStyle>
          <a:p>
            <a:pPr rtl="0"/>
            <a:r>
              <a:rPr lang="fr-FR"/>
              <a:t>Cliquez pour ajouter un titre</a:t>
            </a:r>
          </a:p>
        </p:txBody>
      </p:sp>
      <p:sp>
        <p:nvSpPr>
          <p:cNvPr id="4" name="Espace réservé du texte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rtlCol="0" anchor="t" anchorCtr="0">
            <a:noAutofit/>
          </a:bodyPr>
          <a:lstStyle>
            <a:lvl1pPr marL="0" indent="0">
              <a:lnSpc>
                <a:spcPct val="100000"/>
              </a:lnSpc>
              <a:spcBef>
                <a:spcPts val="0"/>
              </a:spcBef>
              <a:spcAft>
                <a:spcPts val="1200"/>
              </a:spcAft>
              <a:buFont typeface="Arial" panose="020B0604020202020204" pitchFamily="34" charset="0"/>
              <a:buNone/>
              <a:defRPr lang="fr-FR" sz="1800"/>
            </a:lvl1pPr>
          </a:lstStyle>
          <a:p>
            <a:pPr rtl="0"/>
            <a:r>
              <a:rPr lang="fr-FR"/>
              <a:t>Cliquez pour ajouter un sous-titre</a:t>
            </a:r>
          </a:p>
        </p:txBody>
      </p:sp>
      <p:sp>
        <p:nvSpPr>
          <p:cNvPr id="9" name="Espace réservé du contenu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rtlCol="0">
            <a:normAutofit/>
          </a:bodyPr>
          <a:lstStyle>
            <a:lvl1pPr>
              <a:defRPr lang="fr-FR" sz="1800"/>
            </a:lvl1pPr>
            <a:lvl2pPr>
              <a:defRPr lang="fr-FR" sz="1800"/>
            </a:lvl2pPr>
            <a:lvl3pPr>
              <a:defRPr lang="fr-FR" sz="1800"/>
            </a:lvl3pPr>
            <a:lvl4pPr>
              <a:defRPr lang="fr-FR" sz="1800"/>
            </a:lvl4pPr>
            <a:lvl5pPr>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0" name="Espace réservé du numéro de diapositive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ésumé 3">
    <p:spTree>
      <p:nvGrpSpPr>
        <p:cNvPr id="1" name=""/>
        <p:cNvGrpSpPr/>
        <p:nvPr/>
      </p:nvGrpSpPr>
      <p:grpSpPr>
        <a:xfrm>
          <a:off x="0" y="0"/>
          <a:ext cx="0" cy="0"/>
          <a:chOff x="0" y="0"/>
          <a:chExt cx="0" cy="0"/>
        </a:xfrm>
      </p:grpSpPr>
      <p:pic>
        <p:nvPicPr>
          <p:cNvPr id="29" name="Graphisme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re 1"/>
          <p:cNvSpPr>
            <a:spLocks noGrp="1"/>
          </p:cNvSpPr>
          <p:nvPr>
            <p:ph type="title" hasCustomPrompt="1"/>
          </p:nvPr>
        </p:nvSpPr>
        <p:spPr>
          <a:xfrm>
            <a:off x="1550564" y="1057274"/>
            <a:ext cx="9875463" cy="999746"/>
          </a:xfrm>
        </p:spPr>
        <p:txBody>
          <a:bodyPr tIns="0" bIns="0" rtlCol="0">
            <a:noAutofit/>
          </a:bodyPr>
          <a:lstStyle>
            <a:lvl1pPr algn="l">
              <a:lnSpc>
                <a:spcPct val="100000"/>
              </a:lnSpc>
              <a:defRPr lang="fr-FR" sz="3600" b="1"/>
            </a:lvl1pPr>
          </a:lstStyle>
          <a:p>
            <a:pPr rtl="0"/>
            <a:r>
              <a:rPr lang="fr-FR"/>
              <a:t>Cliquez pour ajouter un titre</a:t>
            </a:r>
          </a:p>
        </p:txBody>
      </p:sp>
      <p:sp>
        <p:nvSpPr>
          <p:cNvPr id="49" name="Forme libre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defPPr>
              <a:defRPr lang="fr-FR"/>
            </a:defPPr>
          </a:lstStyle>
          <a:p>
            <a:pPr rtl="0"/>
            <a:endParaRPr lang="fr-FR" dirty="0"/>
          </a:p>
        </p:txBody>
      </p:sp>
      <p:sp>
        <p:nvSpPr>
          <p:cNvPr id="16" name="Espace réservé du contenu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8" name="Espace réservé du contenu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7" name="Espace réservé du numéro de diapositive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pic>
        <p:nvPicPr>
          <p:cNvPr id="43" name="Graphisme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sme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ronologi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sp>
        <p:nvSpPr>
          <p:cNvPr id="2" name="Titr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rtlCol="0"/>
          <a:lstStyle>
            <a:lvl1pPr algn="ctr">
              <a:lnSpc>
                <a:spcPct val="100000"/>
              </a:lnSpc>
              <a:defRPr lang="fr-FR" sz="3600">
                <a:solidFill>
                  <a:schemeClr val="accent6"/>
                </a:solidFill>
              </a:defRPr>
            </a:lvl1pPr>
          </a:lstStyle>
          <a:p>
            <a:pPr rtl="0"/>
            <a:r>
              <a:rPr lang="fr-FR"/>
              <a:t>Cliquez pour ajouter un titre</a:t>
            </a:r>
          </a:p>
        </p:txBody>
      </p:sp>
      <p:sp>
        <p:nvSpPr>
          <p:cNvPr id="14" name="Espace réservé du contenu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6" name="Espace réservé du numéro de diapositive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ôture">
    <p:bg>
      <p:bgPr>
        <a:solidFill>
          <a:schemeClr val="accent6"/>
        </a:solidFill>
        <a:effectLst/>
      </p:bgPr>
    </p:bg>
    <p:spTree>
      <p:nvGrpSpPr>
        <p:cNvPr id="1" name=""/>
        <p:cNvGrpSpPr/>
        <p:nvPr/>
      </p:nvGrpSpPr>
      <p:grpSpPr>
        <a:xfrm>
          <a:off x="0" y="0"/>
          <a:ext cx="0" cy="0"/>
          <a:chOff x="0" y="0"/>
          <a:chExt cx="0" cy="0"/>
        </a:xfrm>
      </p:grpSpPr>
      <p:sp>
        <p:nvSpPr>
          <p:cNvPr id="13" name="Freeform: Form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19" name="Forme libre : Form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defPPr>
              <a:defRPr lang="fr-FR"/>
            </a:defPPr>
          </a:lstStyle>
          <a:p>
            <a:pPr rtl="0"/>
            <a:endParaRPr lang="fr-FR"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re 1"/>
          <p:cNvSpPr>
            <a:spLocks noGrp="1"/>
          </p:cNvSpPr>
          <p:nvPr>
            <p:ph type="ctrTitle" hasCustomPrompt="1"/>
          </p:nvPr>
        </p:nvSpPr>
        <p:spPr>
          <a:xfrm>
            <a:off x="914401" y="849782"/>
            <a:ext cx="5715000" cy="2727709"/>
          </a:xfrm>
        </p:spPr>
        <p:txBody>
          <a:bodyPr tIns="0" bIns="0" rtlCol="0" anchor="b" anchorCtr="0">
            <a:noAutofit/>
          </a:bodyPr>
          <a:lstStyle>
            <a:lvl1pPr algn="l">
              <a:lnSpc>
                <a:spcPct val="100000"/>
              </a:lnSpc>
              <a:defRPr lang="fr-FR" sz="3600"/>
            </a:lvl1pPr>
          </a:lstStyle>
          <a:p>
            <a:pPr rtl="0"/>
            <a:r>
              <a:rPr lang="fr-FR"/>
              <a:t>Cliquez pour ajouter un titre</a:t>
            </a:r>
          </a:p>
        </p:txBody>
      </p:sp>
      <p:sp>
        <p:nvSpPr>
          <p:cNvPr id="6" name="Sous-titr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rtlCol="0" anchor="t" anchorCtr="0">
            <a:normAutofit/>
          </a:bodyPr>
          <a:lstStyle>
            <a:lvl1pPr marL="0" indent="0" algn="l">
              <a:spcBef>
                <a:spcPts val="576"/>
              </a:spcBef>
              <a:buNone/>
              <a:defRPr lang="fr-FR" sz="24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9" name="Forme libre : Form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title" hasCustomPrompt="1"/>
          </p:nvPr>
        </p:nvSpPr>
        <p:spPr/>
        <p:txBody>
          <a:bodyPr rtlCol="0" anchor="ctr" anchorCtr="0"/>
          <a:lstStyle>
            <a:defPPr>
              <a:defRPr lang="fr-FR"/>
            </a:defPPr>
          </a:lstStyle>
          <a:p>
            <a:pPr rtl="0"/>
            <a:r>
              <a:rPr lang="fr-FR"/>
              <a:t>Cliquez pour ajouter un titre</a:t>
            </a:r>
          </a:p>
        </p:txBody>
      </p:sp>
      <p:sp>
        <p:nvSpPr>
          <p:cNvPr id="5" name="Espace réservé du numéro de diapositive 4"/>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6" name="Forme libre : Form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8" name="Forme libre : Form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4" name="Espace réservé du numéro de diapositive 3"/>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1" name="Freeform: Form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title" hasCustomPrompt="1"/>
          </p:nvPr>
        </p:nvSpPr>
        <p:spPr>
          <a:xfrm>
            <a:off x="758952" y="758952"/>
            <a:ext cx="3932237" cy="1524662"/>
          </a:xfrm>
        </p:spPr>
        <p:txBody>
          <a:bodyPr rtlCol="0" anchor="b"/>
          <a:lstStyle>
            <a:lvl1pPr>
              <a:lnSpc>
                <a:spcPct val="100000"/>
              </a:lnSpc>
              <a:defRPr lang="fr-FR" sz="3200"/>
            </a:lvl1pPr>
          </a:lstStyle>
          <a:p>
            <a:pPr rtl="0"/>
            <a:r>
              <a:rPr lang="fr-FR"/>
              <a:t>Cliquez pour ajouter un titre</a:t>
            </a:r>
          </a:p>
        </p:txBody>
      </p:sp>
      <p:sp>
        <p:nvSpPr>
          <p:cNvPr id="7" name="Espace réservé du numéro de diapositive 6"/>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
        <p:nvSpPr>
          <p:cNvPr id="4" name="Espace réservé du texte 3"/>
          <p:cNvSpPr>
            <a:spLocks noGrp="1"/>
          </p:cNvSpPr>
          <p:nvPr>
            <p:ph type="body" sz="half" idx="2" hasCustomPrompt="1"/>
          </p:nvPr>
        </p:nvSpPr>
        <p:spPr>
          <a:xfrm>
            <a:off x="758952" y="2286000"/>
            <a:ext cx="3932237" cy="3567086"/>
          </a:xfrm>
        </p:spPr>
        <p:txBody>
          <a:bodyPr rtlCol="0"/>
          <a:lstStyle>
            <a:lvl1pPr marL="0" indent="0">
              <a:buNone/>
              <a:defRPr lang="fr-FR" sz="1600"/>
            </a:lvl1pPr>
            <a:lvl2pPr marL="457200" indent="0">
              <a:buNone/>
              <a:defRPr lang="fr-FR" sz="1400"/>
            </a:lvl2pPr>
            <a:lvl3pPr marL="914400" indent="0">
              <a:buNone/>
              <a:defRPr lang="fr-FR" sz="1200"/>
            </a:lvl3pPr>
            <a:lvl4pPr marL="1371600" indent="0">
              <a:buNone/>
              <a:defRPr lang="fr-FR" sz="1000"/>
            </a:lvl4pPr>
            <a:lvl5pPr marL="1828800" indent="0">
              <a:buNone/>
              <a:defRPr lang="fr-FR" sz="1000"/>
            </a:lvl5pPr>
            <a:lvl6pPr marL="2286000" indent="0">
              <a:buNone/>
              <a:defRPr lang="fr-FR" sz="1000"/>
            </a:lvl6pPr>
            <a:lvl7pPr marL="2743200" indent="0">
              <a:buNone/>
              <a:defRPr lang="fr-FR" sz="1000"/>
            </a:lvl7pPr>
            <a:lvl8pPr marL="3200400" indent="0">
              <a:buNone/>
              <a:defRPr lang="fr-FR" sz="1000"/>
            </a:lvl8pPr>
            <a:lvl9pPr marL="3657600" indent="0">
              <a:buNone/>
              <a:defRPr lang="fr-FR" sz="1000"/>
            </a:lvl9pPr>
          </a:lstStyle>
          <a:p>
            <a:pPr lvl="0" rtl="0"/>
            <a:r>
              <a:rPr lang="fr-FR"/>
              <a:t>Cliquer pour ajouter du texte</a:t>
            </a:r>
          </a:p>
        </p:txBody>
      </p:sp>
      <p:sp>
        <p:nvSpPr>
          <p:cNvPr id="3" name="Espace réservé du contenu 2"/>
          <p:cNvSpPr>
            <a:spLocks noGrp="1"/>
          </p:cNvSpPr>
          <p:nvPr>
            <p:ph idx="1" hasCustomPrompt="1"/>
          </p:nvPr>
        </p:nvSpPr>
        <p:spPr>
          <a:xfrm>
            <a:off x="5183187" y="741459"/>
            <a:ext cx="6242839" cy="5119592"/>
          </a:xfrm>
        </p:spPr>
        <p:txBody>
          <a:bodyPr rtlCol="0"/>
          <a:lstStyle>
            <a:lvl1pPr>
              <a:defRPr lang="fr-FR" sz="3200"/>
            </a:lvl1pPr>
            <a:lvl2pPr>
              <a:defRPr lang="fr-FR" sz="2800"/>
            </a:lvl2pPr>
            <a:lvl3pPr>
              <a:defRPr lang="fr-FR" sz="2400"/>
            </a:lvl3pPr>
            <a:lvl4pPr>
              <a:defRPr lang="fr-FR" sz="2000"/>
            </a:lvl4pPr>
            <a:lvl5pPr>
              <a:defRPr lang="fr-FR" sz="2000"/>
            </a:lvl5pPr>
            <a:lvl6pPr>
              <a:defRPr lang="fr-FR" sz="2000"/>
            </a:lvl6pPr>
            <a:lvl7pPr>
              <a:defRPr lang="fr-FR" sz="2000"/>
            </a:lvl7pPr>
            <a:lvl8pPr>
              <a:defRPr lang="fr-FR" sz="2000"/>
            </a:lvl8pPr>
            <a:lvl9pPr>
              <a:defRPr lang="fr-FR" sz="2000"/>
            </a:lvl9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1" name="Freeform: Form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title" hasCustomPrompt="1"/>
          </p:nvPr>
        </p:nvSpPr>
        <p:spPr>
          <a:xfrm>
            <a:off x="760938" y="755372"/>
            <a:ext cx="3931920" cy="1527048"/>
          </a:xfrm>
        </p:spPr>
        <p:txBody>
          <a:bodyPr rtlCol="0" anchor="b"/>
          <a:lstStyle>
            <a:lvl1pPr>
              <a:lnSpc>
                <a:spcPct val="100000"/>
              </a:lnSpc>
              <a:defRPr lang="fr-FR" sz="3200"/>
            </a:lvl1pPr>
          </a:lstStyle>
          <a:p>
            <a:pPr rtl="0"/>
            <a:r>
              <a:rPr lang="fr-FR"/>
              <a:t>Cliquez pour ajouter un titre</a:t>
            </a:r>
          </a:p>
        </p:txBody>
      </p:sp>
      <p:sp>
        <p:nvSpPr>
          <p:cNvPr id="7" name="Espace réservé du numéro de diapositive 6"/>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
        <p:nvSpPr>
          <p:cNvPr id="4" name="Espace réservé du texte 3"/>
          <p:cNvSpPr>
            <a:spLocks noGrp="1"/>
          </p:cNvSpPr>
          <p:nvPr>
            <p:ph type="body" sz="half" idx="2" hasCustomPrompt="1"/>
          </p:nvPr>
        </p:nvSpPr>
        <p:spPr>
          <a:xfrm>
            <a:off x="760938" y="2286001"/>
            <a:ext cx="3931920" cy="3811588"/>
          </a:xfrm>
        </p:spPr>
        <p:txBody>
          <a:bodyPr rtlCol="0"/>
          <a:lstStyle>
            <a:lvl1pPr marL="0" indent="0">
              <a:buNone/>
              <a:defRPr lang="fr-FR" sz="1600"/>
            </a:lvl1pPr>
            <a:lvl2pPr marL="457200" indent="0">
              <a:buNone/>
              <a:defRPr lang="fr-FR" sz="1400"/>
            </a:lvl2pPr>
            <a:lvl3pPr marL="914400" indent="0">
              <a:buNone/>
              <a:defRPr lang="fr-FR" sz="1200"/>
            </a:lvl3pPr>
            <a:lvl4pPr marL="1371600" indent="0">
              <a:buNone/>
              <a:defRPr lang="fr-FR" sz="1000"/>
            </a:lvl4pPr>
            <a:lvl5pPr marL="1828800" indent="0">
              <a:buNone/>
              <a:defRPr lang="fr-FR" sz="1000"/>
            </a:lvl5pPr>
            <a:lvl6pPr marL="2286000" indent="0">
              <a:buNone/>
              <a:defRPr lang="fr-FR" sz="1000"/>
            </a:lvl6pPr>
            <a:lvl7pPr marL="2743200" indent="0">
              <a:buNone/>
              <a:defRPr lang="fr-FR" sz="1000"/>
            </a:lvl7pPr>
            <a:lvl8pPr marL="3200400" indent="0">
              <a:buNone/>
              <a:defRPr lang="fr-FR" sz="1000"/>
            </a:lvl8pPr>
            <a:lvl9pPr marL="3657600" indent="0">
              <a:buNone/>
              <a:defRPr lang="fr-FR" sz="1000"/>
            </a:lvl9pPr>
          </a:lstStyle>
          <a:p>
            <a:pPr lvl="0" rtl="0"/>
            <a:r>
              <a:rPr lang="fr-FR"/>
              <a:t>Cliquer pour ajouter du texte</a:t>
            </a:r>
          </a:p>
        </p:txBody>
      </p:sp>
      <p:sp>
        <p:nvSpPr>
          <p:cNvPr id="3" name="Espace réservé d’image 2"/>
          <p:cNvSpPr>
            <a:spLocks noGrp="1" noChangeAspect="1"/>
          </p:cNvSpPr>
          <p:nvPr>
            <p:ph type="pic" idx="1" hasCustomPrompt="1"/>
          </p:nvPr>
        </p:nvSpPr>
        <p:spPr>
          <a:xfrm>
            <a:off x="5262700" y="987425"/>
            <a:ext cx="6172200" cy="4873625"/>
          </a:xfrm>
        </p:spPr>
        <p:txBody>
          <a:bodyPr rtlCol="0" anchor="t">
            <a:normAutofit/>
          </a:bodyPr>
          <a:lstStyle>
            <a:lvl1pPr marL="0" indent="0" algn="ctr">
              <a:buNone/>
              <a:defRPr lang="fr-FR" sz="2800"/>
            </a:lvl1pPr>
            <a:lvl2pPr marL="457200" indent="0">
              <a:buNone/>
              <a:defRPr lang="fr-FR" sz="2800"/>
            </a:lvl2pPr>
            <a:lvl3pPr marL="914400" indent="0">
              <a:buNone/>
              <a:defRPr lang="fr-FR" sz="2400"/>
            </a:lvl3pPr>
            <a:lvl4pPr marL="1371600" indent="0">
              <a:buNone/>
              <a:defRPr lang="fr-FR" sz="2000"/>
            </a:lvl4pPr>
            <a:lvl5pPr marL="1828800" indent="0">
              <a:buNone/>
              <a:defRPr lang="fr-FR" sz="2000"/>
            </a:lvl5pPr>
            <a:lvl6pPr marL="2286000" indent="0">
              <a:buNone/>
              <a:defRPr lang="fr-FR" sz="2000"/>
            </a:lvl6pPr>
            <a:lvl7pPr marL="2743200" indent="0">
              <a:buNone/>
              <a:defRPr lang="fr-FR" sz="2000"/>
            </a:lvl7pPr>
            <a:lvl8pPr marL="3200400" indent="0">
              <a:buNone/>
              <a:defRPr lang="fr-FR" sz="2000"/>
            </a:lvl8pPr>
            <a:lvl9pPr marL="3657600" indent="0">
              <a:buNone/>
              <a:defRPr lang="fr-FR" sz="2000"/>
            </a:lvl9pPr>
          </a:lstStyle>
          <a:p>
            <a:pPr rtl="0"/>
            <a:r>
              <a:rPr lang="fr-FR"/>
              <a:t>Cliquez ici pour ajouter une image.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lang="fr-FR" sz="1200">
                <a:solidFill>
                  <a:schemeClr val="accent6"/>
                </a:solidFill>
                <a:latin typeface="+mn-lt"/>
                <a:cs typeface="Arial" panose="020B0604020202020204" pitchFamily="34" charset="0"/>
              </a:defRPr>
            </a:lvl1pPr>
          </a:lstStyle>
          <a:p>
            <a:pPr rtl="0"/>
            <a:fld id="{48F63A3B-78C7-47BE-AE5E-E10140E04643}" type="slidenum">
              <a:rPr lang="fr-FR" smtClean="0"/>
              <a:pPr/>
              <a:t>‹N°›</a:t>
            </a:fld>
            <a:endParaRPr lang="fr-FR" dirty="0"/>
          </a:p>
        </p:txBody>
      </p:sp>
      <p:sp>
        <p:nvSpPr>
          <p:cNvPr id="2" name="Espace réservé du titre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defPPr>
              <a:defRPr lang="fr-FR"/>
            </a:defPPr>
          </a:lstStyle>
          <a:p>
            <a:pPr rtl="0"/>
            <a:r>
              <a:rPr lang="fr-FR"/>
              <a:t>Modifiez le style du titre</a:t>
            </a:r>
            <a:endParaRPr lang="fr-FR" dirty="0"/>
          </a:p>
        </p:txBody>
      </p:sp>
      <p:sp>
        <p:nvSpPr>
          <p:cNvPr id="3" name="Espace réservé du texte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lang="fr-F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lang="fr-F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lang="fr-F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lang="fr-F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lang="fr-F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lang="fr-F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A6A3E-E4A1-9917-9A64-4B6EE0BCD030}"/>
              </a:ext>
            </a:extLst>
          </p:cNvPr>
          <p:cNvSpPr>
            <a:spLocks noGrp="1"/>
          </p:cNvSpPr>
          <p:nvPr>
            <p:ph type="title"/>
          </p:nvPr>
        </p:nvSpPr>
        <p:spPr>
          <a:xfrm>
            <a:off x="415904" y="2013565"/>
            <a:ext cx="11010123" cy="1842795"/>
          </a:xfr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a:scene3d>
              <a:camera prst="orthographicFront"/>
              <a:lightRig rig="harsh" dir="t"/>
            </a:scene3d>
            <a:sp3d extrusionH="57150" prstMaterial="matte">
              <a:bevelT w="63500" h="12700" prst="angle"/>
              <a:contourClr>
                <a:schemeClr val="bg1">
                  <a:lumMod val="65000"/>
                </a:schemeClr>
              </a:contourClr>
            </a:sp3d>
          </a:bodyPr>
          <a:lstStyle/>
          <a:p>
            <a:pPr algn="ctr"/>
            <a:r>
              <a:rPr lang="fr-CM" sz="2800" cap="none" dirty="0">
                <a:ln/>
                <a:solidFill>
                  <a:schemeClr val="accent6">
                    <a:lumMod val="60000"/>
                    <a:lumOff val="40000"/>
                  </a:schemeClr>
                </a:solidFill>
              </a:rPr>
              <a:t>CONCEPTION, DEVELOPPEMENT ET DEPLOIEMENT D’UN GESTIONNAIRE WEB SECURISE POUR L’ADMINISTRATION ET L’AUDIT DES PROFILS </a:t>
            </a:r>
            <a:r>
              <a:rPr lang="fr-CM" sz="2800" cap="none" dirty="0" err="1">
                <a:ln/>
                <a:solidFill>
                  <a:schemeClr val="accent6">
                    <a:lumMod val="60000"/>
                    <a:lumOff val="40000"/>
                  </a:schemeClr>
                </a:solidFill>
              </a:rPr>
              <a:t>APPArmor</a:t>
            </a:r>
            <a:r>
              <a:rPr lang="fr-CM" sz="2800" cap="none" dirty="0">
                <a:ln/>
                <a:solidFill>
                  <a:schemeClr val="accent6">
                    <a:lumMod val="60000"/>
                    <a:lumOff val="40000"/>
                  </a:schemeClr>
                </a:solidFill>
              </a:rPr>
              <a:t> AVEC DETECTION ET MITIGATION DES COMPORTEMENTS MALVEILLANTS</a:t>
            </a:r>
          </a:p>
        </p:txBody>
      </p:sp>
      <p:sp>
        <p:nvSpPr>
          <p:cNvPr id="3" name="Espace réservé du contenu 2">
            <a:extLst>
              <a:ext uri="{FF2B5EF4-FFF2-40B4-BE49-F238E27FC236}">
                <a16:creationId xmlns:a16="http://schemas.microsoft.com/office/drawing/2014/main" id="{FA1EE204-A26E-8C9E-7E99-60B3DC52ED73}"/>
              </a:ext>
            </a:extLst>
          </p:cNvPr>
          <p:cNvSpPr>
            <a:spLocks noGrp="1"/>
          </p:cNvSpPr>
          <p:nvPr>
            <p:ph idx="13"/>
          </p:nvPr>
        </p:nvSpPr>
        <p:spPr>
          <a:xfrm>
            <a:off x="3395439" y="4086810"/>
            <a:ext cx="7043036" cy="2565917"/>
          </a:xfrm>
        </p:spPr>
        <p:txBody>
          <a:bodyPr>
            <a:normAutofit lnSpcReduction="10000"/>
          </a:bodyPr>
          <a:lstStyle/>
          <a:p>
            <a:pPr algn="ctr"/>
            <a:r>
              <a:rPr lang="fr-CM" sz="2000" i="1" dirty="0"/>
              <a:t>PROJET GROUPE 6</a:t>
            </a:r>
          </a:p>
          <a:p>
            <a:pPr algn="ctr"/>
            <a:endParaRPr lang="fr-CM" sz="2000" dirty="0"/>
          </a:p>
          <a:p>
            <a:pPr algn="ctr"/>
            <a:r>
              <a:rPr lang="fr-CM" sz="2000" u="sng" dirty="0"/>
              <a:t>PRESENTE PAR : </a:t>
            </a:r>
          </a:p>
          <a:p>
            <a:pPr algn="ctr"/>
            <a:r>
              <a:rPr lang="fr-CM" sz="2000" dirty="0"/>
              <a:t>		   NANA NDIEUPE Emilie</a:t>
            </a:r>
          </a:p>
          <a:p>
            <a:pPr algn="ctr"/>
            <a:r>
              <a:rPr lang="fr-CM" sz="2000" dirty="0"/>
              <a:t>              NSOE MARIE</a:t>
            </a:r>
          </a:p>
          <a:p>
            <a:pPr algn="ctr"/>
            <a:r>
              <a:rPr lang="fr-CM" sz="2000" dirty="0"/>
              <a:t>                   SIMO YANNICK</a:t>
            </a:r>
          </a:p>
          <a:p>
            <a:endParaRPr lang="fr-CM" sz="2000" dirty="0"/>
          </a:p>
          <a:p>
            <a:r>
              <a:rPr lang="fr-CM" sz="2000" dirty="0"/>
              <a:t>	SUPERVISE PAR M. NGUIMBUS Emmanuel</a:t>
            </a:r>
          </a:p>
          <a:p>
            <a:r>
              <a:rPr lang="fr-CM" sz="2000" dirty="0"/>
              <a:t>			2025 - 2026 </a:t>
            </a:r>
          </a:p>
        </p:txBody>
      </p:sp>
      <p:pic>
        <p:nvPicPr>
          <p:cNvPr id="6" name="Image 5" descr="Une image contenant croquis, oiseau, dessin, Dessin au trait&#10;&#10;Le contenu généré par l’IA peut être incorrect.">
            <a:extLst>
              <a:ext uri="{FF2B5EF4-FFF2-40B4-BE49-F238E27FC236}">
                <a16:creationId xmlns:a16="http://schemas.microsoft.com/office/drawing/2014/main" id="{1880A1F5-DEEB-A472-7C41-F1DE209E66CC}"/>
              </a:ext>
            </a:extLst>
          </p:cNvPr>
          <p:cNvPicPr>
            <a:picLocks noChangeAspect="1"/>
          </p:cNvPicPr>
          <p:nvPr/>
        </p:nvPicPr>
        <p:blipFill>
          <a:blip r:embed="rId2"/>
          <a:stretch>
            <a:fillRect/>
          </a:stretch>
        </p:blipFill>
        <p:spPr>
          <a:xfrm>
            <a:off x="765973" y="127406"/>
            <a:ext cx="2541721" cy="1674618"/>
          </a:xfrm>
          <a:prstGeom prst="rect">
            <a:avLst/>
          </a:prstGeom>
        </p:spPr>
      </p:pic>
      <p:sp>
        <p:nvSpPr>
          <p:cNvPr id="4" name="ZoneTexte 3">
            <a:extLst>
              <a:ext uri="{FF2B5EF4-FFF2-40B4-BE49-F238E27FC236}">
                <a16:creationId xmlns:a16="http://schemas.microsoft.com/office/drawing/2014/main" id="{971C03DB-0FB1-A0A1-E270-CA804A9D3B50}"/>
              </a:ext>
            </a:extLst>
          </p:cNvPr>
          <p:cNvSpPr txBox="1"/>
          <p:nvPr/>
        </p:nvSpPr>
        <p:spPr>
          <a:xfrm>
            <a:off x="6305265" y="610772"/>
            <a:ext cx="5557490" cy="707886"/>
          </a:xfrm>
          <a:prstGeom prst="rect">
            <a:avLst/>
          </a:prstGeom>
          <a:noFill/>
        </p:spPr>
        <p:txBody>
          <a:bodyPr wrap="square" rtlCol="0">
            <a:spAutoFit/>
          </a:bodyPr>
          <a:lstStyle/>
          <a:p>
            <a:r>
              <a:rPr lang="en-US" sz="2000" b="1" dirty="0"/>
              <a:t>SECURITE DES SYSTEMES D’EXPOITATION</a:t>
            </a:r>
          </a:p>
          <a:p>
            <a:r>
              <a:rPr lang="en-US" sz="2000" b="1" dirty="0"/>
              <a:t>SYSTEME D’EXPLOITATION AVANCEE </a:t>
            </a:r>
            <a:endParaRPr lang="fr-CM" sz="2000" b="1" dirty="0"/>
          </a:p>
        </p:txBody>
      </p:sp>
    </p:spTree>
    <p:extLst>
      <p:ext uri="{BB962C8B-B14F-4D97-AF65-F5344CB8AC3E}">
        <p14:creationId xmlns:p14="http://schemas.microsoft.com/office/powerpoint/2010/main" val="147225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021072-4A77-DB4D-DF41-58EADB7DA94E}"/>
              </a:ext>
            </a:extLst>
          </p:cNvPr>
          <p:cNvSpPr>
            <a:spLocks noGrp="1"/>
          </p:cNvSpPr>
          <p:nvPr>
            <p:ph type="title"/>
          </p:nvPr>
        </p:nvSpPr>
        <p:spPr>
          <a:xfrm>
            <a:off x="186613" y="214673"/>
            <a:ext cx="8889148" cy="1742890"/>
          </a:xfrm>
        </p:spPr>
        <p:txBody>
          <a:bodyPr rtlCol="0"/>
          <a:lstStyle>
            <a:defPPr>
              <a:defRPr lang="fr-FR"/>
            </a:defPPr>
          </a:lstStyle>
          <a:p>
            <a:r>
              <a:rPr lang="fr-FR" dirty="0"/>
              <a:t>CAHIER DES CHARGES </a:t>
            </a:r>
            <a:br>
              <a:rPr lang="fr-FR" dirty="0"/>
            </a:br>
            <a:br>
              <a:rPr lang="fr-FR" dirty="0"/>
            </a:br>
            <a:r>
              <a:rPr lang="fr-FR" b="0" i="1" dirty="0"/>
              <a:t>SOMMAIRE</a:t>
            </a:r>
          </a:p>
        </p:txBody>
      </p:sp>
      <p:sp>
        <p:nvSpPr>
          <p:cNvPr id="3" name="Espace réservé du contenu 2">
            <a:extLst>
              <a:ext uri="{FF2B5EF4-FFF2-40B4-BE49-F238E27FC236}">
                <a16:creationId xmlns:a16="http://schemas.microsoft.com/office/drawing/2014/main" id="{D4D22962-3C7F-E480-5C35-7F4860A098E1}"/>
              </a:ext>
            </a:extLst>
          </p:cNvPr>
          <p:cNvSpPr>
            <a:spLocks noGrp="1"/>
          </p:cNvSpPr>
          <p:nvPr>
            <p:ph idx="1"/>
          </p:nvPr>
        </p:nvSpPr>
        <p:spPr>
          <a:xfrm>
            <a:off x="186613" y="1957563"/>
            <a:ext cx="6583680" cy="3207344"/>
          </a:xfrm>
        </p:spPr>
        <p:txBody>
          <a:bodyPr rtlCol="0">
            <a:normAutofit lnSpcReduction="10000"/>
          </a:bodyPr>
          <a:lstStyle>
            <a:defPPr>
              <a:defRPr lang="fr-FR"/>
            </a:defPPr>
          </a:lstStyle>
          <a:p>
            <a:pPr marL="514350" indent="-514350" rtl="0">
              <a:buAutoNum type="romanUcPeriod"/>
            </a:pPr>
            <a:r>
              <a:rPr lang="fr-FR" dirty="0"/>
              <a:t>CONTEXTE ET JUSTIFICATION</a:t>
            </a:r>
          </a:p>
          <a:p>
            <a:pPr marL="514350" indent="-514350" rtl="0">
              <a:buAutoNum type="romanUcPeriod"/>
            </a:pPr>
            <a:r>
              <a:rPr lang="fr-FR" dirty="0"/>
              <a:t>OBJECTIFS DU PROJET</a:t>
            </a:r>
          </a:p>
          <a:p>
            <a:pPr marL="514350" indent="-514350" rtl="0">
              <a:buAutoNum type="romanUcPeriod"/>
            </a:pPr>
            <a:r>
              <a:rPr lang="fr-FR" dirty="0"/>
              <a:t>EXPRESSION DES BESOINS</a:t>
            </a:r>
          </a:p>
          <a:p>
            <a:pPr marL="514350" indent="-514350" rtl="0">
              <a:buAutoNum type="romanUcPeriod"/>
            </a:pPr>
            <a:r>
              <a:rPr lang="fr-FR" dirty="0"/>
              <a:t>EVALUATION DES RESSOURCES</a:t>
            </a:r>
          </a:p>
          <a:p>
            <a:pPr marL="514350" indent="-514350" rtl="0">
              <a:buAutoNum type="romanUcPeriod"/>
            </a:pPr>
            <a:r>
              <a:rPr lang="fr-FR" dirty="0"/>
              <a:t>PLANIFICATION DU PROJET</a:t>
            </a:r>
          </a:p>
          <a:p>
            <a:pPr marL="514350" indent="-514350" rtl="0">
              <a:buAutoNum type="romanUcPeriod"/>
            </a:pPr>
            <a:r>
              <a:rPr lang="fr-FR" dirty="0"/>
              <a:t>LIVRABLES</a:t>
            </a:r>
          </a:p>
        </p:txBody>
      </p:sp>
      <p:sp>
        <p:nvSpPr>
          <p:cNvPr id="4" name="Espace réservé du numéro de diapositive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2</a:t>
            </a:fld>
            <a:endParaRPr lang="fr-FR"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4EDA75-0988-2AC2-87F8-8DEC83A7B9CA}"/>
              </a:ext>
            </a:extLst>
          </p:cNvPr>
          <p:cNvSpPr>
            <a:spLocks noGrp="1"/>
          </p:cNvSpPr>
          <p:nvPr>
            <p:ph type="title"/>
          </p:nvPr>
        </p:nvSpPr>
        <p:spPr>
          <a:xfrm>
            <a:off x="443345" y="-8291"/>
            <a:ext cx="8626010" cy="1351899"/>
          </a:xfrm>
        </p:spPr>
        <p:txBody>
          <a:bodyPr rtlCol="0"/>
          <a:lstStyle>
            <a:defPPr>
              <a:defRPr lang="fr-FR"/>
            </a:defPPr>
          </a:lstStyle>
          <a:p>
            <a:pPr rtl="0"/>
            <a:r>
              <a:rPr lang="fr-FR" dirty="0"/>
              <a:t>I. CONTEXTE ET JUSTIFICATION</a:t>
            </a:r>
          </a:p>
        </p:txBody>
      </p:sp>
      <p:sp>
        <p:nvSpPr>
          <p:cNvPr id="5" name="ZoneTexte 4">
            <a:extLst>
              <a:ext uri="{FF2B5EF4-FFF2-40B4-BE49-F238E27FC236}">
                <a16:creationId xmlns:a16="http://schemas.microsoft.com/office/drawing/2014/main" id="{AC6BE072-77EE-C207-756A-93DB205AB198}"/>
              </a:ext>
            </a:extLst>
          </p:cNvPr>
          <p:cNvSpPr txBox="1"/>
          <p:nvPr/>
        </p:nvSpPr>
        <p:spPr>
          <a:xfrm>
            <a:off x="443345" y="1632856"/>
            <a:ext cx="10347649" cy="3416320"/>
          </a:xfrm>
          <a:prstGeom prst="rect">
            <a:avLst/>
          </a:prstGeom>
          <a:noFill/>
        </p:spPr>
        <p:txBody>
          <a:bodyPr wrap="square" rtlCol="0">
            <a:spAutoFit/>
          </a:bodyPr>
          <a:lstStyle/>
          <a:p>
            <a:pPr algn="just"/>
            <a:r>
              <a:rPr lang="fr-FR" sz="2400" dirty="0"/>
              <a:t>Aujourd’hui, les systèmes Linux sont exposés à diverses attaques (accès non autorisé, exécution de commandes malveillantes, etc.). Pour résoudre cela, des outils comme </a:t>
            </a:r>
            <a:r>
              <a:rPr lang="fr-FR" sz="2400" dirty="0" err="1"/>
              <a:t>AppArmor</a:t>
            </a:r>
            <a:r>
              <a:rPr lang="fr-FR" sz="2400" dirty="0"/>
              <a:t> sont utilisés pour définir et appliquer des politiques de restriction sur les applications. Ce projet permettra de renforcer la gestion et le suivi des profils </a:t>
            </a:r>
            <a:r>
              <a:rPr lang="fr-FR" sz="2400" dirty="0" err="1"/>
              <a:t>AppArmor</a:t>
            </a:r>
            <a:r>
              <a:rPr lang="fr-FR" sz="2400" dirty="0"/>
              <a:t> à travers une solution centralisée, sécurisée et accessible via le web. La mise en place d’un gestionnaire web permettra d’améliorer l’administration des profils, de faciliter leur audit et d’intégrer des mécanismes de détection et de mitigation des comportements malveillants, contribuant ainsi à une meilleure réactivité face aux menaces.</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3B219B-7E3A-7E84-6386-37313F0CFB09}"/>
              </a:ext>
            </a:extLst>
          </p:cNvPr>
          <p:cNvSpPr>
            <a:spLocks noGrp="1"/>
          </p:cNvSpPr>
          <p:nvPr>
            <p:ph type="title"/>
          </p:nvPr>
        </p:nvSpPr>
        <p:spPr>
          <a:xfrm>
            <a:off x="914399" y="422794"/>
            <a:ext cx="10758197" cy="948806"/>
          </a:xfrm>
        </p:spPr>
        <p:txBody>
          <a:bodyPr rtlCol="0"/>
          <a:lstStyle>
            <a:defPPr>
              <a:defRPr lang="fr-FR"/>
            </a:defPPr>
          </a:lstStyle>
          <a:p>
            <a:pPr rtl="0"/>
            <a:r>
              <a:rPr lang="fr-FR" sz="4000" dirty="0"/>
              <a:t>II. OBJECTIF PRINCIPAL DU PROJET</a:t>
            </a:r>
          </a:p>
        </p:txBody>
      </p:sp>
      <p:sp>
        <p:nvSpPr>
          <p:cNvPr id="10" name="Espace réservé du contenu 9">
            <a:extLst>
              <a:ext uri="{FF2B5EF4-FFF2-40B4-BE49-F238E27FC236}">
                <a16:creationId xmlns:a16="http://schemas.microsoft.com/office/drawing/2014/main" id="{1AA96936-A301-D74A-6984-F3F8D70CEB36}"/>
              </a:ext>
            </a:extLst>
          </p:cNvPr>
          <p:cNvSpPr>
            <a:spLocks noGrp="1"/>
          </p:cNvSpPr>
          <p:nvPr>
            <p:ph idx="1"/>
          </p:nvPr>
        </p:nvSpPr>
        <p:spPr>
          <a:xfrm>
            <a:off x="914399" y="2529526"/>
            <a:ext cx="10468947" cy="1846531"/>
          </a:xfrm>
        </p:spPr>
        <p:txBody>
          <a:bodyPr>
            <a:normAutofit/>
          </a:bodyPr>
          <a:lstStyle/>
          <a:p>
            <a:pPr algn="just"/>
            <a:r>
              <a:rPr lang="fr-CM" dirty="0">
                <a:solidFill>
                  <a:schemeClr val="tx1"/>
                </a:solidFill>
              </a:rPr>
              <a:t>Notre objectif principal est de </a:t>
            </a:r>
            <a:r>
              <a:rPr lang="fr-FR" dirty="0">
                <a:solidFill>
                  <a:schemeClr val="tx1"/>
                </a:solidFill>
              </a:rPr>
              <a:t>mettre en place une plateforme web sécurisée dédiée à l’administration et à l’audit des profils </a:t>
            </a:r>
            <a:r>
              <a:rPr lang="fr-FR" dirty="0" err="1">
                <a:solidFill>
                  <a:schemeClr val="tx1"/>
                </a:solidFill>
              </a:rPr>
              <a:t>AppArmor</a:t>
            </a:r>
            <a:r>
              <a:rPr lang="fr-FR" dirty="0">
                <a:solidFill>
                  <a:schemeClr val="tx1"/>
                </a:solidFill>
              </a:rPr>
              <a:t>, intégrant des fonctionnalités de détection et de mitigation des comportements malveillants.</a:t>
            </a:r>
            <a:endParaRPr lang="fr-CM" dirty="0">
              <a:solidFill>
                <a:schemeClr val="tx1"/>
              </a:solidFill>
            </a:endParaRP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5E8954-9BCB-7FD9-A210-38DC54382D45}"/>
              </a:ext>
            </a:extLst>
          </p:cNvPr>
          <p:cNvSpPr>
            <a:spLocks noGrp="1"/>
          </p:cNvSpPr>
          <p:nvPr>
            <p:ph type="title"/>
          </p:nvPr>
        </p:nvSpPr>
        <p:spPr>
          <a:xfrm>
            <a:off x="2593911" y="0"/>
            <a:ext cx="8117632" cy="839755"/>
          </a:xfrm>
        </p:spPr>
        <p:txBody>
          <a:bodyPr rtlCol="0"/>
          <a:lstStyle>
            <a:defPPr>
              <a:defRPr lang="fr-FR"/>
            </a:defPPr>
          </a:lstStyle>
          <a:p>
            <a:pPr rtl="0"/>
            <a:r>
              <a:rPr lang="fr-FR" sz="4000" dirty="0"/>
              <a:t>OBJECTIFS SPECIFIQUES</a:t>
            </a:r>
          </a:p>
        </p:txBody>
      </p:sp>
      <p:sp>
        <p:nvSpPr>
          <p:cNvPr id="23" name="Espace réservé du numéro de diapositive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5</a:t>
            </a:fld>
            <a:endParaRPr lang="fr-FR" dirty="0"/>
          </a:p>
        </p:txBody>
      </p:sp>
      <p:sp>
        <p:nvSpPr>
          <p:cNvPr id="13" name="Rectangle 10">
            <a:extLst>
              <a:ext uri="{FF2B5EF4-FFF2-40B4-BE49-F238E27FC236}">
                <a16:creationId xmlns:a16="http://schemas.microsoft.com/office/drawing/2014/main" id="{A846BF0C-CE8E-748E-4141-2BFDD951CEBA}"/>
              </a:ext>
            </a:extLst>
          </p:cNvPr>
          <p:cNvSpPr>
            <a:spLocks noGrp="1" noChangeArrowheads="1"/>
          </p:cNvSpPr>
          <p:nvPr>
            <p:ph sz="half" idx="2"/>
          </p:nvPr>
        </p:nvSpPr>
        <p:spPr bwMode="auto">
          <a:xfrm>
            <a:off x="2593911" y="647224"/>
            <a:ext cx="9580805" cy="614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Concevoir et mettre en place des profils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400" b="0" i="0" u="none" strike="noStrike" cap="none" normalizeH="0" baseline="0" dirty="0">
                <a:ln>
                  <a:noFill/>
                </a:ln>
                <a:solidFill>
                  <a:schemeClr val="tx1"/>
                </a:solidFill>
                <a:effectLst/>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Mettre en évidence des scénarios d’attaques réelles en créant une application vulnérable.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2400" b="0" i="0" u="none" strike="noStrike" cap="none" normalizeH="0" baseline="0" dirty="0">
              <a:ln>
                <a:noFill/>
              </a:ln>
              <a:solidFill>
                <a:schemeClr val="tx1"/>
              </a:solidFill>
              <a:effectLs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Implémenter des mécanismes de défense basés sur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 pour limiter l’accès aux fichiers, bloquer les actions non autorisées et isoler l’exécution de cette application.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2400" b="0" i="0" u="none" strike="noStrike" cap="none" normalizeH="0" baseline="0" dirty="0">
              <a:ln>
                <a:noFill/>
              </a:ln>
              <a:solidFill>
                <a:schemeClr val="tx1"/>
              </a:solidFill>
              <a:effectLs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Développer un système d’audit basé sur l’analyse des logs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 afin de détecter les comportements suspects et comparer l’état du système avant et après protection.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2400" b="0" i="0" u="none" strike="noStrike" cap="none" normalizeH="0" baseline="0" dirty="0">
              <a:ln>
                <a:noFill/>
              </a:ln>
              <a:solidFill>
                <a:schemeClr val="tx1"/>
              </a:solidFill>
              <a:effectLst/>
              <a:cs typeface="Times New Roman" panose="02020603050405020304" pitchFamily="18" charset="0"/>
            </a:endParaRPr>
          </a:p>
          <a:p>
            <a:pPr marL="0" indent="0" algn="just" eaLnBrk="0" fontAlgn="base" hangingPunct="0">
              <a:spcBef>
                <a:spcPct val="0"/>
              </a:spcBef>
              <a:spcAft>
                <a:spcPct val="0"/>
              </a:spcAft>
              <a:buFontTx/>
              <a:buChar char="•"/>
            </a:pPr>
            <a:r>
              <a:rPr kumimoji="0" lang="fr-FR" altLang="fr-FR" sz="2400" b="0" i="0" u="none" strike="noStrike" cap="none" normalizeH="0" baseline="0" dirty="0">
                <a:ln>
                  <a:noFill/>
                </a:ln>
                <a:solidFill>
                  <a:schemeClr val="tx1"/>
                </a:solidFill>
                <a:effectLst/>
                <a:cs typeface="Times New Roman" panose="02020603050405020304" pitchFamily="18" charset="0"/>
              </a:rPr>
              <a:t>Concevoir et développer une interface web sécurisée permettant l’administration des profils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 l’activation/désactivation des politiques de sécurité et la visualisation des logs d’activité. </a:t>
            </a:r>
            <a:endParaRPr lang="fr-FR" altLang="fr-FR" sz="2400" dirty="0">
              <a:solidFill>
                <a:schemeClr val="tx1"/>
              </a:solidFill>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210199-C129-11F0-56F2-2D1AED21CB4C}"/>
              </a:ext>
            </a:extLst>
          </p:cNvPr>
          <p:cNvSpPr>
            <a:spLocks noGrp="1"/>
          </p:cNvSpPr>
          <p:nvPr>
            <p:ph type="title"/>
          </p:nvPr>
        </p:nvSpPr>
        <p:spPr>
          <a:xfrm>
            <a:off x="3478547" y="0"/>
            <a:ext cx="8441255" cy="531845"/>
          </a:xfrm>
        </p:spPr>
        <p:txBody>
          <a:bodyPr rtlCol="0"/>
          <a:lstStyle>
            <a:defPPr>
              <a:defRPr lang="fr-FR"/>
            </a:defPPr>
          </a:lstStyle>
          <a:p>
            <a:pPr rtl="0"/>
            <a:r>
              <a:rPr lang="fr-FR" sz="2400" dirty="0"/>
              <a:t>III. EXPRESSIONS DES BESOINS FONCTIONNELS</a:t>
            </a:r>
          </a:p>
        </p:txBody>
      </p:sp>
      <p:sp>
        <p:nvSpPr>
          <p:cNvPr id="3" name="Espace réservé du numéro de diapositive 2">
            <a:extLst>
              <a:ext uri="{FF2B5EF4-FFF2-40B4-BE49-F238E27FC236}">
                <a16:creationId xmlns:a16="http://schemas.microsoft.com/office/drawing/2014/main" id="{370AEC4F-E711-8552-9C34-82C1514A1E37}"/>
              </a:ext>
            </a:extLst>
          </p:cNvPr>
          <p:cNvSpPr>
            <a:spLocks noGrp="1"/>
          </p:cNvSpPr>
          <p:nvPr>
            <p:ph type="sldNum" sz="quarter" idx="10"/>
          </p:nvPr>
        </p:nvSpPr>
        <p:spPr>
          <a:xfrm>
            <a:off x="10932251" y="466529"/>
            <a:ext cx="987552" cy="471489"/>
          </a:xfrm>
        </p:spPr>
        <p:txBody>
          <a:bodyPr rtlCol="0"/>
          <a:lstStyle>
            <a:defPPr>
              <a:defRPr lang="fr-FR"/>
            </a:defPPr>
          </a:lstStyle>
          <a:p>
            <a:pPr rtl="0"/>
            <a:fld id="{48F63A3B-78C7-47BE-AE5E-E10140E04643}" type="slidenum">
              <a:rPr lang="fr-FR" smtClean="0"/>
              <a:pPr rtl="0"/>
              <a:t>6</a:t>
            </a:fld>
            <a:endParaRPr lang="fr-FR" dirty="0"/>
          </a:p>
        </p:txBody>
      </p:sp>
      <p:sp>
        <p:nvSpPr>
          <p:cNvPr id="5" name="Rectangle 1">
            <a:extLst>
              <a:ext uri="{FF2B5EF4-FFF2-40B4-BE49-F238E27FC236}">
                <a16:creationId xmlns:a16="http://schemas.microsoft.com/office/drawing/2014/main" id="{6BAD3D6B-9D24-4315-BD47-54B89668C02B}"/>
              </a:ext>
            </a:extLst>
          </p:cNvPr>
          <p:cNvSpPr>
            <a:spLocks noGrp="1" noChangeArrowheads="1"/>
          </p:cNvSpPr>
          <p:nvPr>
            <p:ph idx="11"/>
          </p:nvPr>
        </p:nvSpPr>
        <p:spPr bwMode="auto">
          <a:xfrm>
            <a:off x="3413760" y="1241078"/>
            <a:ext cx="8778240"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sz="1800" dirty="0">
                <a:solidFill>
                  <a:schemeClr val="tx1"/>
                </a:solidFill>
              </a:rPr>
              <a:t>Les besoins fonctionnels ce que le système doit faire pour remplir ses objectifs. Nous pouvons citer:</a:t>
            </a:r>
          </a:p>
          <a:p>
            <a:pPr lvl="0" eaLnBrk="0" fontAlgn="base" hangingPunct="0">
              <a:spcBef>
                <a:spcPct val="0"/>
              </a:spcBef>
              <a:spcAft>
                <a:spcPct val="0"/>
              </a:spcAft>
              <a:buFontTx/>
              <a:buChar char="•"/>
            </a:pPr>
            <a:r>
              <a:rPr lang="fr-FR" altLang="fr-FR" sz="1800" dirty="0">
                <a:solidFill>
                  <a:schemeClr val="tx1"/>
                </a:solidFill>
              </a:rPr>
              <a:t> Permettre l’authentification sécurisée des utilisateurs pour accéder à la plateforme.</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Offrir une interface de gestion des profils </a:t>
            </a:r>
            <a:r>
              <a:rPr lang="fr-FR" altLang="fr-FR" sz="1800" dirty="0" err="1">
                <a:solidFill>
                  <a:schemeClr val="tx1"/>
                </a:solidFill>
              </a:rPr>
              <a:t>AppArmor</a:t>
            </a:r>
            <a:r>
              <a:rPr lang="fr-FR" altLang="fr-FR" sz="1800" dirty="0">
                <a:solidFill>
                  <a:schemeClr val="tx1"/>
                </a:solidFill>
              </a:rPr>
              <a:t> (création, modification, suppression, activer et désactiver).</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Restreindre l’accès aux fichiers/processus.</a:t>
            </a:r>
          </a:p>
          <a:p>
            <a:pPr lvl="0" eaLnBrk="0" fontAlgn="base" hangingPunct="0">
              <a:spcBef>
                <a:spcPct val="0"/>
              </a:spcBef>
              <a:spcAft>
                <a:spcPct val="0"/>
              </a:spcAft>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Basculer les modes de fonctionnement des profils (</a:t>
            </a:r>
            <a:r>
              <a:rPr lang="fr-FR" altLang="fr-FR" sz="1800" i="1" dirty="0" err="1">
                <a:solidFill>
                  <a:schemeClr val="tx1"/>
                </a:solidFill>
              </a:rPr>
              <a:t>complain</a:t>
            </a:r>
            <a:r>
              <a:rPr lang="fr-FR" altLang="fr-FR" sz="1800" dirty="0">
                <a:solidFill>
                  <a:schemeClr val="tx1"/>
                </a:solidFill>
              </a:rPr>
              <a:t> et </a:t>
            </a:r>
            <a:r>
              <a:rPr lang="fr-FR" altLang="fr-FR" sz="1800" i="1" dirty="0">
                <a:solidFill>
                  <a:schemeClr val="tx1"/>
                </a:solidFill>
              </a:rPr>
              <a:t>enforce</a:t>
            </a:r>
            <a:r>
              <a:rPr lang="fr-FR" altLang="fr-FR" sz="1800" dirty="0">
                <a:solidFill>
                  <a:schemeClr val="tx1"/>
                </a:solidFill>
              </a:rPr>
              <a:t>).</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Fournir un tableau de bord affichant l’état global des profils surveillées.</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Visualiser en temps réel les logs </a:t>
            </a:r>
            <a:r>
              <a:rPr lang="fr-FR" altLang="fr-FR" sz="1800" dirty="0" err="1">
                <a:solidFill>
                  <a:schemeClr val="tx1"/>
                </a:solidFill>
              </a:rPr>
              <a:t>AppArmor</a:t>
            </a:r>
            <a:r>
              <a:rPr lang="fr-FR" altLang="fr-FR" sz="1800" dirty="0">
                <a:solidFill>
                  <a:schemeClr val="tx1"/>
                </a:solidFill>
              </a:rPr>
              <a:t> générés par le système.</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Mitigation automatique (blocage d’accès, restriction de processus, isolation d’application) en cas d’activité suspecte.</a:t>
            </a:r>
            <a:endParaRPr kumimoji="0" lang="fr-FR" altLang="fr-F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8A34A6-22BC-27A4-2C79-EE98A4943B14}"/>
              </a:ext>
            </a:extLst>
          </p:cNvPr>
          <p:cNvSpPr>
            <a:spLocks noGrp="1"/>
          </p:cNvSpPr>
          <p:nvPr>
            <p:ph type="title"/>
          </p:nvPr>
        </p:nvSpPr>
        <p:spPr>
          <a:xfrm>
            <a:off x="160018" y="0"/>
            <a:ext cx="8846821" cy="632460"/>
          </a:xfrm>
        </p:spPr>
        <p:txBody>
          <a:bodyPr rtlCol="0"/>
          <a:lstStyle>
            <a:defPPr>
              <a:defRPr lang="fr-FR"/>
            </a:defPPr>
          </a:lstStyle>
          <a:p>
            <a:pPr rtl="0"/>
            <a:r>
              <a:rPr lang="fr-FR" sz="3200" dirty="0"/>
              <a:t>IV. EVALUATION DES RESSOURCES</a:t>
            </a:r>
          </a:p>
        </p:txBody>
      </p:sp>
      <p:sp>
        <p:nvSpPr>
          <p:cNvPr id="3" name="Espace réservé du numéro de diapositive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rtlCol="0"/>
          <a:lstStyle>
            <a:defPPr>
              <a:defRPr lang="fr-FR"/>
            </a:defPPr>
          </a:lstStyle>
          <a:p>
            <a:pPr rtl="0"/>
            <a:fld id="{48F63A3B-78C7-47BE-AE5E-E10140E04643}" type="slidenum">
              <a:rPr lang="fr-FR" smtClean="0"/>
              <a:pPr rtl="0"/>
              <a:t>7</a:t>
            </a:fld>
            <a:endParaRPr lang="fr-FR" dirty="0"/>
          </a:p>
        </p:txBody>
      </p:sp>
      <p:sp>
        <p:nvSpPr>
          <p:cNvPr id="8" name="ZoneTexte 7">
            <a:extLst>
              <a:ext uri="{FF2B5EF4-FFF2-40B4-BE49-F238E27FC236}">
                <a16:creationId xmlns:a16="http://schemas.microsoft.com/office/drawing/2014/main" id="{0F07D61B-F8A9-1AF4-289D-99C67AFE23A2}"/>
              </a:ext>
            </a:extLst>
          </p:cNvPr>
          <p:cNvSpPr txBox="1"/>
          <p:nvPr/>
        </p:nvSpPr>
        <p:spPr>
          <a:xfrm>
            <a:off x="160018" y="744022"/>
            <a:ext cx="6736702" cy="369332"/>
          </a:xfrm>
          <a:prstGeom prst="rect">
            <a:avLst/>
          </a:prstGeom>
          <a:noFill/>
        </p:spPr>
        <p:txBody>
          <a:bodyPr wrap="square" rtlCol="0">
            <a:spAutoFit/>
          </a:bodyPr>
          <a:lstStyle/>
          <a:p>
            <a:r>
              <a:rPr lang="fr-CM" dirty="0"/>
              <a:t>a. Ressources logicielles</a:t>
            </a:r>
          </a:p>
        </p:txBody>
      </p:sp>
      <p:graphicFrame>
        <p:nvGraphicFramePr>
          <p:cNvPr id="9" name="Tableau 8">
            <a:extLst>
              <a:ext uri="{FF2B5EF4-FFF2-40B4-BE49-F238E27FC236}">
                <a16:creationId xmlns:a16="http://schemas.microsoft.com/office/drawing/2014/main" id="{9F72D638-401C-8D53-83FA-A5F4BF86EB41}"/>
              </a:ext>
            </a:extLst>
          </p:cNvPr>
          <p:cNvGraphicFramePr>
            <a:graphicFrameLocks noGrp="1"/>
          </p:cNvGraphicFramePr>
          <p:nvPr>
            <p:extLst>
              <p:ext uri="{D42A27DB-BD31-4B8C-83A1-F6EECF244321}">
                <p14:modId xmlns:p14="http://schemas.microsoft.com/office/powerpoint/2010/main" val="661428835"/>
              </p:ext>
            </p:extLst>
          </p:nvPr>
        </p:nvGraphicFramePr>
        <p:xfrm>
          <a:off x="160018" y="1152239"/>
          <a:ext cx="8648080" cy="4800690"/>
        </p:xfrm>
        <a:graphic>
          <a:graphicData uri="http://schemas.openxmlformats.org/drawingml/2006/table">
            <a:tbl>
              <a:tblPr firstRow="1" bandRow="1">
                <a:tableStyleId>{5DA37D80-6434-44D0-A028-1B22A696006F}</a:tableStyleId>
              </a:tblPr>
              <a:tblGrid>
                <a:gridCol w="2162020">
                  <a:extLst>
                    <a:ext uri="{9D8B030D-6E8A-4147-A177-3AD203B41FA5}">
                      <a16:colId xmlns:a16="http://schemas.microsoft.com/office/drawing/2014/main" val="1955522870"/>
                    </a:ext>
                  </a:extLst>
                </a:gridCol>
                <a:gridCol w="2162020">
                  <a:extLst>
                    <a:ext uri="{9D8B030D-6E8A-4147-A177-3AD203B41FA5}">
                      <a16:colId xmlns:a16="http://schemas.microsoft.com/office/drawing/2014/main" val="813716825"/>
                    </a:ext>
                  </a:extLst>
                </a:gridCol>
                <a:gridCol w="2162020">
                  <a:extLst>
                    <a:ext uri="{9D8B030D-6E8A-4147-A177-3AD203B41FA5}">
                      <a16:colId xmlns:a16="http://schemas.microsoft.com/office/drawing/2014/main" val="3206742962"/>
                    </a:ext>
                  </a:extLst>
                </a:gridCol>
                <a:gridCol w="2162020">
                  <a:extLst>
                    <a:ext uri="{9D8B030D-6E8A-4147-A177-3AD203B41FA5}">
                      <a16:colId xmlns:a16="http://schemas.microsoft.com/office/drawing/2014/main" val="185116053"/>
                    </a:ext>
                  </a:extLst>
                </a:gridCol>
              </a:tblGrid>
              <a:tr h="449838">
                <a:tc>
                  <a:txBody>
                    <a:bodyPr/>
                    <a:lstStyle/>
                    <a:p>
                      <a:r>
                        <a:rPr lang="fr-CM" dirty="0"/>
                        <a:t>Titre</a:t>
                      </a:r>
                    </a:p>
                  </a:txBody>
                  <a:tcPr/>
                </a:tc>
                <a:tc>
                  <a:txBody>
                    <a:bodyPr/>
                    <a:lstStyle/>
                    <a:p>
                      <a:r>
                        <a:rPr lang="fr-CM" dirty="0"/>
                        <a:t>Logos</a:t>
                      </a:r>
                    </a:p>
                  </a:txBody>
                  <a:tcPr/>
                </a:tc>
                <a:tc>
                  <a:txBody>
                    <a:bodyPr/>
                    <a:lstStyle/>
                    <a:p>
                      <a:r>
                        <a:rPr lang="fr-CM" dirty="0"/>
                        <a:t>Description</a:t>
                      </a:r>
                    </a:p>
                  </a:txBody>
                  <a:tcPr/>
                </a:tc>
                <a:tc>
                  <a:txBody>
                    <a:bodyPr/>
                    <a:lstStyle/>
                    <a:p>
                      <a:r>
                        <a:rPr lang="fr-CM" dirty="0"/>
                        <a:t>Prix</a:t>
                      </a:r>
                    </a:p>
                  </a:txBody>
                  <a:tcPr/>
                </a:tc>
                <a:extLst>
                  <a:ext uri="{0D108BD9-81ED-4DB2-BD59-A6C34878D82A}">
                    <a16:rowId xmlns:a16="http://schemas.microsoft.com/office/drawing/2014/main" val="1040010682"/>
                  </a:ext>
                </a:extLst>
              </a:tr>
              <a:tr h="776433">
                <a:tc>
                  <a:txBody>
                    <a:bodyPr/>
                    <a:lstStyle/>
                    <a:p>
                      <a:r>
                        <a:rPr lang="fr-CM" dirty="0"/>
                        <a:t>VMWare Workstation</a:t>
                      </a:r>
                    </a:p>
                  </a:txBody>
                  <a:tcPr/>
                </a:tc>
                <a:tc>
                  <a:txBody>
                    <a:bodyPr/>
                    <a:lstStyle/>
                    <a:p>
                      <a:endParaRPr lang="fr-CM" dirty="0"/>
                    </a:p>
                  </a:txBody>
                  <a:tcPr/>
                </a:tc>
                <a:tc>
                  <a:txBody>
                    <a:bodyPr/>
                    <a:lstStyle/>
                    <a:p>
                      <a:r>
                        <a:rPr lang="fr-CM" dirty="0"/>
                        <a:t>Hyperviseur</a:t>
                      </a:r>
                    </a:p>
                  </a:txBody>
                  <a:tcPr/>
                </a:tc>
                <a:tc>
                  <a:txBody>
                    <a:bodyPr/>
                    <a:lstStyle/>
                    <a:p>
                      <a:r>
                        <a:rPr lang="fr-CM" dirty="0"/>
                        <a:t>Gratuit</a:t>
                      </a:r>
                    </a:p>
                  </a:txBody>
                  <a:tcPr/>
                </a:tc>
                <a:extLst>
                  <a:ext uri="{0D108BD9-81ED-4DB2-BD59-A6C34878D82A}">
                    <a16:rowId xmlns:a16="http://schemas.microsoft.com/office/drawing/2014/main" val="566395893"/>
                  </a:ext>
                </a:extLst>
              </a:tr>
              <a:tr h="776433">
                <a:tc>
                  <a:txBody>
                    <a:bodyPr/>
                    <a:lstStyle/>
                    <a:p>
                      <a:r>
                        <a:rPr lang="fr-CM" dirty="0"/>
                        <a:t>Ubuntu</a:t>
                      </a:r>
                    </a:p>
                  </a:txBody>
                  <a:tcPr/>
                </a:tc>
                <a:tc>
                  <a:txBody>
                    <a:bodyPr/>
                    <a:lstStyle/>
                    <a:p>
                      <a:endParaRPr lang="fr-CM" dirty="0"/>
                    </a:p>
                    <a:p>
                      <a:endParaRPr lang="fr-CM" dirty="0"/>
                    </a:p>
                  </a:txBody>
                  <a:tcPr/>
                </a:tc>
                <a:tc>
                  <a:txBody>
                    <a:bodyPr/>
                    <a:lstStyle/>
                    <a:p>
                      <a:r>
                        <a:rPr lang="fr-CM" dirty="0"/>
                        <a:t>Système d’exploitation</a:t>
                      </a:r>
                    </a:p>
                  </a:txBody>
                  <a:tcPr/>
                </a:tc>
                <a:tc>
                  <a:txBody>
                    <a:bodyPr/>
                    <a:lstStyle/>
                    <a:p>
                      <a:r>
                        <a:rPr lang="fr-CM" dirty="0"/>
                        <a:t>Gratuit</a:t>
                      </a:r>
                    </a:p>
                  </a:txBody>
                  <a:tcPr/>
                </a:tc>
                <a:extLst>
                  <a:ext uri="{0D108BD9-81ED-4DB2-BD59-A6C34878D82A}">
                    <a16:rowId xmlns:a16="http://schemas.microsoft.com/office/drawing/2014/main" val="2103902507"/>
                  </a:ext>
                </a:extLst>
              </a:tr>
              <a:tr h="932662">
                <a:tc>
                  <a:txBody>
                    <a:bodyPr/>
                    <a:lstStyle/>
                    <a:p>
                      <a:r>
                        <a:rPr lang="fr-CM" dirty="0" err="1"/>
                        <a:t>AppArmor</a:t>
                      </a:r>
                      <a:endParaRPr lang="fr-CM" dirty="0"/>
                    </a:p>
                  </a:txBody>
                  <a:tcPr/>
                </a:tc>
                <a:tc>
                  <a:txBody>
                    <a:bodyPr/>
                    <a:lstStyle/>
                    <a:p>
                      <a:endParaRPr lang="fr-CM" dirty="0"/>
                    </a:p>
                    <a:p>
                      <a:endParaRPr lang="fr-CM" dirty="0"/>
                    </a:p>
                    <a:p>
                      <a:endParaRPr lang="fr-CM" dirty="0"/>
                    </a:p>
                  </a:txBody>
                  <a:tcPr/>
                </a:tc>
                <a:tc>
                  <a:txBody>
                    <a:bodyPr/>
                    <a:lstStyle/>
                    <a:p>
                      <a:r>
                        <a:rPr lang="fr-CM" dirty="0"/>
                        <a:t>Système de sécurité Linux</a:t>
                      </a:r>
                    </a:p>
                  </a:txBody>
                  <a:tcPr/>
                </a:tc>
                <a:tc>
                  <a:txBody>
                    <a:bodyPr/>
                    <a:lstStyle/>
                    <a:p>
                      <a:r>
                        <a:rPr lang="fr-CM" dirty="0"/>
                        <a:t>Gratuit</a:t>
                      </a:r>
                    </a:p>
                  </a:txBody>
                  <a:tcPr/>
                </a:tc>
                <a:extLst>
                  <a:ext uri="{0D108BD9-81ED-4DB2-BD59-A6C34878D82A}">
                    <a16:rowId xmlns:a16="http://schemas.microsoft.com/office/drawing/2014/main" val="178836005"/>
                  </a:ext>
                </a:extLst>
              </a:tr>
              <a:tr h="932662">
                <a:tc>
                  <a:txBody>
                    <a:bodyPr/>
                    <a:lstStyle/>
                    <a:p>
                      <a:r>
                        <a:rPr lang="fr-CM" dirty="0"/>
                        <a:t>IDE (de notre choix)</a:t>
                      </a:r>
                    </a:p>
                  </a:txBody>
                  <a:tcPr/>
                </a:tc>
                <a:tc>
                  <a:txBody>
                    <a:bodyPr/>
                    <a:lstStyle/>
                    <a:p>
                      <a:endParaRPr lang="fr-CM" dirty="0"/>
                    </a:p>
                    <a:p>
                      <a:endParaRPr lang="fr-CM" dirty="0"/>
                    </a:p>
                    <a:p>
                      <a:endParaRPr lang="fr-CM" dirty="0"/>
                    </a:p>
                  </a:txBody>
                  <a:tcPr>
                    <a:solidFill>
                      <a:schemeClr val="tx1">
                        <a:lumMod val="50000"/>
                        <a:lumOff val="50000"/>
                      </a:schemeClr>
                    </a:solidFill>
                  </a:tcPr>
                </a:tc>
                <a:tc>
                  <a:txBody>
                    <a:bodyPr/>
                    <a:lstStyle/>
                    <a:p>
                      <a:r>
                        <a:rPr lang="fr-CM" dirty="0"/>
                        <a:t>Editeur de texte</a:t>
                      </a:r>
                    </a:p>
                  </a:txBody>
                  <a:tcPr/>
                </a:tc>
                <a:tc>
                  <a:txBody>
                    <a:bodyPr/>
                    <a:lstStyle/>
                    <a:p>
                      <a:r>
                        <a:rPr lang="fr-CM" dirty="0"/>
                        <a:t>Gratuit</a:t>
                      </a:r>
                    </a:p>
                  </a:txBody>
                  <a:tcPr/>
                </a:tc>
                <a:extLst>
                  <a:ext uri="{0D108BD9-81ED-4DB2-BD59-A6C34878D82A}">
                    <a16:rowId xmlns:a16="http://schemas.microsoft.com/office/drawing/2014/main" val="2859314671"/>
                  </a:ext>
                </a:extLst>
              </a:tr>
              <a:tr h="932662">
                <a:tc>
                  <a:txBody>
                    <a:bodyPr/>
                    <a:lstStyle/>
                    <a:p>
                      <a:r>
                        <a:rPr lang="fr-CM" dirty="0" err="1"/>
                        <a:t>Mysql</a:t>
                      </a:r>
                      <a:r>
                        <a:rPr lang="fr-CM" dirty="0"/>
                        <a:t> </a:t>
                      </a:r>
                      <a:r>
                        <a:rPr lang="fr-CM" dirty="0" err="1"/>
                        <a:t>DataBase</a:t>
                      </a:r>
                      <a:endParaRPr lang="fr-CM" dirty="0"/>
                    </a:p>
                  </a:txBody>
                  <a:tcPr/>
                </a:tc>
                <a:tc>
                  <a:txBody>
                    <a:bodyPr/>
                    <a:lstStyle/>
                    <a:p>
                      <a:endParaRPr lang="fr-CM" dirty="0"/>
                    </a:p>
                    <a:p>
                      <a:endParaRPr lang="fr-CM" dirty="0"/>
                    </a:p>
                    <a:p>
                      <a:endParaRPr lang="fr-CM" dirty="0"/>
                    </a:p>
                  </a:txBody>
                  <a:tcPr/>
                </a:tc>
                <a:tc>
                  <a:txBody>
                    <a:bodyPr/>
                    <a:lstStyle/>
                    <a:p>
                      <a:r>
                        <a:rPr lang="fr-CM" dirty="0"/>
                        <a:t>SGBD</a:t>
                      </a:r>
                    </a:p>
                  </a:txBody>
                  <a:tcPr/>
                </a:tc>
                <a:tc>
                  <a:txBody>
                    <a:bodyPr/>
                    <a:lstStyle/>
                    <a:p>
                      <a:r>
                        <a:rPr lang="fr-CM" dirty="0"/>
                        <a:t>Gratuit</a:t>
                      </a:r>
                    </a:p>
                  </a:txBody>
                  <a:tcPr/>
                </a:tc>
                <a:extLst>
                  <a:ext uri="{0D108BD9-81ED-4DB2-BD59-A6C34878D82A}">
                    <a16:rowId xmlns:a16="http://schemas.microsoft.com/office/drawing/2014/main" val="1296429150"/>
                  </a:ext>
                </a:extLst>
              </a:tr>
            </a:tbl>
          </a:graphicData>
        </a:graphic>
      </p:graphicFrame>
      <p:pic>
        <p:nvPicPr>
          <p:cNvPr id="12" name="Image 11" descr="Une image contenant Graphique, capture d’écran">
            <a:extLst>
              <a:ext uri="{FF2B5EF4-FFF2-40B4-BE49-F238E27FC236}">
                <a16:creationId xmlns:a16="http://schemas.microsoft.com/office/drawing/2014/main" id="{7941AC6B-BE03-C148-62BC-76C161CEA4DF}"/>
              </a:ext>
            </a:extLst>
          </p:cNvPr>
          <p:cNvPicPr>
            <a:picLocks noChangeAspect="1"/>
          </p:cNvPicPr>
          <p:nvPr/>
        </p:nvPicPr>
        <p:blipFill>
          <a:blip r:embed="rId3"/>
          <a:stretch>
            <a:fillRect/>
          </a:stretch>
        </p:blipFill>
        <p:spPr>
          <a:xfrm>
            <a:off x="2437442" y="2351314"/>
            <a:ext cx="1298476" cy="730393"/>
          </a:xfrm>
          <a:prstGeom prst="rect">
            <a:avLst/>
          </a:prstGeom>
        </p:spPr>
      </p:pic>
      <p:pic>
        <p:nvPicPr>
          <p:cNvPr id="15" name="Image 14" descr="Une image contenant texte, logo, conception, capture d’écran&#10;&#10;Description générée automatiquement">
            <a:extLst>
              <a:ext uri="{FF2B5EF4-FFF2-40B4-BE49-F238E27FC236}">
                <a16:creationId xmlns:a16="http://schemas.microsoft.com/office/drawing/2014/main" id="{48E7F47D-95B9-76EE-2FDC-38F0AD44B270}"/>
              </a:ext>
            </a:extLst>
          </p:cNvPr>
          <p:cNvPicPr>
            <a:picLocks noChangeAspect="1"/>
          </p:cNvPicPr>
          <p:nvPr/>
        </p:nvPicPr>
        <p:blipFill>
          <a:blip r:embed="rId4"/>
          <a:stretch>
            <a:fillRect/>
          </a:stretch>
        </p:blipFill>
        <p:spPr>
          <a:xfrm>
            <a:off x="2604648" y="1679967"/>
            <a:ext cx="1131270" cy="632461"/>
          </a:xfrm>
          <a:prstGeom prst="rect">
            <a:avLst/>
          </a:prstGeom>
        </p:spPr>
      </p:pic>
      <p:pic>
        <p:nvPicPr>
          <p:cNvPr id="19" name="Image 18" descr="Une image contenant symbole, Emblème, logo, bouclier&#10;&#10;Description générée automatiquement">
            <a:extLst>
              <a:ext uri="{FF2B5EF4-FFF2-40B4-BE49-F238E27FC236}">
                <a16:creationId xmlns:a16="http://schemas.microsoft.com/office/drawing/2014/main" id="{2F3B450E-6FAE-2E97-31F2-714021A64178}"/>
              </a:ext>
            </a:extLst>
          </p:cNvPr>
          <p:cNvPicPr>
            <a:picLocks noChangeAspect="1"/>
          </p:cNvPicPr>
          <p:nvPr/>
        </p:nvPicPr>
        <p:blipFill>
          <a:blip r:embed="rId5"/>
          <a:stretch>
            <a:fillRect/>
          </a:stretch>
        </p:blipFill>
        <p:spPr>
          <a:xfrm>
            <a:off x="2697906" y="3238320"/>
            <a:ext cx="1301527" cy="730393"/>
          </a:xfrm>
          <a:prstGeom prst="rect">
            <a:avLst/>
          </a:prstGeom>
        </p:spPr>
      </p:pic>
      <p:pic>
        <p:nvPicPr>
          <p:cNvPr id="21" name="Image 20" descr="Une image contenant Graphique, texte, graphisme, Police&#10;&#10;Description générée automatiquement">
            <a:extLst>
              <a:ext uri="{FF2B5EF4-FFF2-40B4-BE49-F238E27FC236}">
                <a16:creationId xmlns:a16="http://schemas.microsoft.com/office/drawing/2014/main" id="{EA59090A-C73A-15DF-5D2D-A7602076F296}"/>
              </a:ext>
            </a:extLst>
          </p:cNvPr>
          <p:cNvPicPr>
            <a:picLocks noChangeAspect="1"/>
          </p:cNvPicPr>
          <p:nvPr/>
        </p:nvPicPr>
        <p:blipFill>
          <a:blip r:embed="rId6"/>
          <a:stretch>
            <a:fillRect/>
          </a:stretch>
        </p:blipFill>
        <p:spPr>
          <a:xfrm>
            <a:off x="2883400" y="5057096"/>
            <a:ext cx="744022" cy="744022"/>
          </a:xfrm>
          <a:prstGeom prst="rect">
            <a:avLst/>
          </a:prstGeom>
        </p:spPr>
      </p:pic>
      <p:pic>
        <p:nvPicPr>
          <p:cNvPr id="5" name="Image 4" descr="Une image contenant Graphique, Police, texte, symbole&#10;&#10;Le contenu généré par l’IA peut être incorrect.">
            <a:extLst>
              <a:ext uri="{FF2B5EF4-FFF2-40B4-BE49-F238E27FC236}">
                <a16:creationId xmlns:a16="http://schemas.microsoft.com/office/drawing/2014/main" id="{CF90D4E3-37EC-9699-8F29-5583551B8B16}"/>
              </a:ext>
            </a:extLst>
          </p:cNvPr>
          <p:cNvPicPr>
            <a:picLocks noChangeAspect="1"/>
          </p:cNvPicPr>
          <p:nvPr/>
        </p:nvPicPr>
        <p:blipFill>
          <a:blip r:embed="rId7"/>
          <a:stretch>
            <a:fillRect/>
          </a:stretch>
        </p:blipFill>
        <p:spPr>
          <a:xfrm>
            <a:off x="2333767" y="4134061"/>
            <a:ext cx="2129051" cy="826760"/>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8</a:t>
            </a:fld>
            <a:endParaRPr lang="fr-FR" dirty="0"/>
          </a:p>
        </p:txBody>
      </p:sp>
      <p:sp>
        <p:nvSpPr>
          <p:cNvPr id="2" name="ZoneTexte 1">
            <a:extLst>
              <a:ext uri="{FF2B5EF4-FFF2-40B4-BE49-F238E27FC236}">
                <a16:creationId xmlns:a16="http://schemas.microsoft.com/office/drawing/2014/main" id="{8F295C20-D746-2D63-E1AC-F3156ECAB98F}"/>
              </a:ext>
            </a:extLst>
          </p:cNvPr>
          <p:cNvSpPr txBox="1"/>
          <p:nvPr/>
        </p:nvSpPr>
        <p:spPr>
          <a:xfrm>
            <a:off x="674913" y="457199"/>
            <a:ext cx="5421087" cy="369332"/>
          </a:xfrm>
          <a:prstGeom prst="rect">
            <a:avLst/>
          </a:prstGeom>
          <a:noFill/>
        </p:spPr>
        <p:txBody>
          <a:bodyPr wrap="square" rtlCol="0">
            <a:spAutoFit/>
          </a:bodyPr>
          <a:lstStyle/>
          <a:p>
            <a:r>
              <a:rPr lang="fr-CM" dirty="0"/>
              <a:t>b. Ressources matérielles</a:t>
            </a:r>
          </a:p>
        </p:txBody>
      </p:sp>
      <p:graphicFrame>
        <p:nvGraphicFramePr>
          <p:cNvPr id="9" name="Tableau 8">
            <a:extLst>
              <a:ext uri="{FF2B5EF4-FFF2-40B4-BE49-F238E27FC236}">
                <a16:creationId xmlns:a16="http://schemas.microsoft.com/office/drawing/2014/main" id="{F815FFD7-E41B-6D9E-4F83-9D4CA14ECC2B}"/>
              </a:ext>
            </a:extLst>
          </p:cNvPr>
          <p:cNvGraphicFramePr>
            <a:graphicFrameLocks noGrp="1"/>
          </p:cNvGraphicFramePr>
          <p:nvPr>
            <p:extLst>
              <p:ext uri="{D42A27DB-BD31-4B8C-83A1-F6EECF244321}">
                <p14:modId xmlns:p14="http://schemas.microsoft.com/office/powerpoint/2010/main" val="3499831928"/>
              </p:ext>
            </p:extLst>
          </p:nvPr>
        </p:nvGraphicFramePr>
        <p:xfrm>
          <a:off x="773231" y="928689"/>
          <a:ext cx="9751700" cy="4827618"/>
        </p:xfrm>
        <a:graphic>
          <a:graphicData uri="http://schemas.openxmlformats.org/drawingml/2006/table">
            <a:tbl>
              <a:tblPr firstRow="1" bandRow="1">
                <a:tableStyleId>{5DA37D80-6434-44D0-A028-1B22A696006F}</a:tableStyleId>
              </a:tblPr>
              <a:tblGrid>
                <a:gridCol w="738340">
                  <a:extLst>
                    <a:ext uri="{9D8B030D-6E8A-4147-A177-3AD203B41FA5}">
                      <a16:colId xmlns:a16="http://schemas.microsoft.com/office/drawing/2014/main" val="1924447780"/>
                    </a:ext>
                  </a:extLst>
                </a:gridCol>
                <a:gridCol w="2253340">
                  <a:extLst>
                    <a:ext uri="{9D8B030D-6E8A-4147-A177-3AD203B41FA5}">
                      <a16:colId xmlns:a16="http://schemas.microsoft.com/office/drawing/2014/main" val="3929558563"/>
                    </a:ext>
                  </a:extLst>
                </a:gridCol>
                <a:gridCol w="2253340">
                  <a:extLst>
                    <a:ext uri="{9D8B030D-6E8A-4147-A177-3AD203B41FA5}">
                      <a16:colId xmlns:a16="http://schemas.microsoft.com/office/drawing/2014/main" val="2770459342"/>
                    </a:ext>
                  </a:extLst>
                </a:gridCol>
                <a:gridCol w="2265940">
                  <a:extLst>
                    <a:ext uri="{9D8B030D-6E8A-4147-A177-3AD203B41FA5}">
                      <a16:colId xmlns:a16="http://schemas.microsoft.com/office/drawing/2014/main" val="422566491"/>
                    </a:ext>
                  </a:extLst>
                </a:gridCol>
                <a:gridCol w="2240740">
                  <a:extLst>
                    <a:ext uri="{9D8B030D-6E8A-4147-A177-3AD203B41FA5}">
                      <a16:colId xmlns:a16="http://schemas.microsoft.com/office/drawing/2014/main" val="1214560997"/>
                    </a:ext>
                  </a:extLst>
                </a:gridCol>
              </a:tblGrid>
              <a:tr h="1030086">
                <a:tc>
                  <a:txBody>
                    <a:bodyPr/>
                    <a:lstStyle/>
                    <a:p>
                      <a:r>
                        <a:rPr lang="en-US" dirty="0"/>
                        <a:t>N</a:t>
                      </a:r>
                      <a:endParaRPr lang="fr-CM" dirty="0"/>
                    </a:p>
                  </a:txBody>
                  <a:tcPr/>
                </a:tc>
                <a:tc>
                  <a:txBody>
                    <a:bodyPr/>
                    <a:lstStyle/>
                    <a:p>
                      <a:r>
                        <a:rPr lang="en-US" dirty="0"/>
                        <a:t>MATERIEL</a:t>
                      </a:r>
                      <a:endParaRPr lang="fr-CM" dirty="0"/>
                    </a:p>
                  </a:txBody>
                  <a:tcPr/>
                </a:tc>
                <a:tc>
                  <a:txBody>
                    <a:bodyPr/>
                    <a:lstStyle/>
                    <a:p>
                      <a:r>
                        <a:rPr lang="en-US" dirty="0"/>
                        <a:t>DESCRIPTION</a:t>
                      </a:r>
                      <a:endParaRPr lang="fr-CM" dirty="0"/>
                    </a:p>
                  </a:txBody>
                  <a:tcPr/>
                </a:tc>
                <a:tc>
                  <a:txBody>
                    <a:bodyPr/>
                    <a:lstStyle/>
                    <a:p>
                      <a:r>
                        <a:rPr lang="en-US" dirty="0" err="1"/>
                        <a:t>Qte</a:t>
                      </a:r>
                      <a:endParaRPr lang="fr-CM" dirty="0"/>
                    </a:p>
                  </a:txBody>
                  <a:tcPr/>
                </a:tc>
                <a:tc>
                  <a:txBody>
                    <a:bodyPr/>
                    <a:lstStyle/>
                    <a:p>
                      <a:r>
                        <a:rPr lang="en-US" dirty="0"/>
                        <a:t>Cout </a:t>
                      </a:r>
                      <a:r>
                        <a:rPr lang="en-US" dirty="0" err="1"/>
                        <a:t>unitaire</a:t>
                      </a:r>
                      <a:r>
                        <a:rPr lang="en-US" dirty="0"/>
                        <a:t>(</a:t>
                      </a:r>
                      <a:r>
                        <a:rPr lang="en-US" dirty="0" err="1"/>
                        <a:t>fcfa</a:t>
                      </a:r>
                      <a:r>
                        <a:rPr lang="en-US" dirty="0"/>
                        <a:t>)</a:t>
                      </a:r>
                      <a:endParaRPr lang="fr-CM" dirty="0"/>
                    </a:p>
                  </a:txBody>
                  <a:tcPr/>
                </a:tc>
                <a:extLst>
                  <a:ext uri="{0D108BD9-81ED-4DB2-BD59-A6C34878D82A}">
                    <a16:rowId xmlns:a16="http://schemas.microsoft.com/office/drawing/2014/main" val="1351289517"/>
                  </a:ext>
                </a:extLst>
              </a:tr>
              <a:tr h="1030086">
                <a:tc>
                  <a:txBody>
                    <a:bodyPr/>
                    <a:lstStyle/>
                    <a:p>
                      <a:r>
                        <a:rPr lang="en-US" dirty="0"/>
                        <a:t>1</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Ordinateur de développement (RAM 32 Go, DD SSD 1To, CPU Intel </a:t>
                      </a:r>
                      <a:r>
                        <a:rPr lang="fr-CM" dirty="0" err="1"/>
                        <a:t>Core</a:t>
                      </a:r>
                      <a:r>
                        <a:rPr lang="fr-CM" dirty="0"/>
                        <a:t> i5, </a:t>
                      </a:r>
                      <a:r>
                        <a:rPr lang="fr-CM" dirty="0" err="1"/>
                        <a:t>etc</a:t>
                      </a:r>
                      <a:r>
                        <a:rPr lang="fr-CM" dirty="0"/>
                        <a:t>)</a:t>
                      </a:r>
                    </a:p>
                    <a:p>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Machine principale pour installer </a:t>
                      </a:r>
                      <a:r>
                        <a:rPr lang="fr-CM" dirty="0" err="1"/>
                        <a:t>APPArmor</a:t>
                      </a:r>
                      <a:r>
                        <a:rPr lang="fr-CM" dirty="0"/>
                        <a:t> et développer l’outil</a:t>
                      </a:r>
                    </a:p>
                    <a:p>
                      <a:endParaRPr lang="fr-CM" dirty="0"/>
                    </a:p>
                  </a:txBody>
                  <a:tcPr/>
                </a:tc>
                <a:tc>
                  <a:txBody>
                    <a:bodyPr/>
                    <a:lstStyle/>
                    <a:p>
                      <a:r>
                        <a:rPr lang="en-US" dirty="0"/>
                        <a:t>1</a:t>
                      </a:r>
                      <a:endParaRPr lang="fr-CM" dirty="0"/>
                    </a:p>
                  </a:txBody>
                  <a:tcPr/>
                </a:tc>
                <a:tc>
                  <a:txBody>
                    <a:bodyPr/>
                    <a:lstStyle/>
                    <a:p>
                      <a:r>
                        <a:rPr lang="en-US" dirty="0"/>
                        <a:t>850.000 </a:t>
                      </a:r>
                      <a:endParaRPr lang="fr-CM" dirty="0"/>
                    </a:p>
                  </a:txBody>
                  <a:tcPr/>
                </a:tc>
                <a:extLst>
                  <a:ext uri="{0D108BD9-81ED-4DB2-BD59-A6C34878D82A}">
                    <a16:rowId xmlns:a16="http://schemas.microsoft.com/office/drawing/2014/main" val="554577633"/>
                  </a:ext>
                </a:extLst>
              </a:tr>
              <a:tr h="1030086">
                <a:tc>
                  <a:txBody>
                    <a:bodyPr/>
                    <a:lstStyle/>
                    <a:p>
                      <a:r>
                        <a:rPr lang="en-US" dirty="0"/>
                        <a:t>2</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Box internet </a:t>
                      </a:r>
                    </a:p>
                    <a:p>
                      <a:endParaRPr lang="fr-CM" dirty="0"/>
                    </a:p>
                  </a:txBody>
                  <a:tcPr/>
                </a:tc>
                <a:tc>
                  <a:txBody>
                    <a:bodyPr/>
                    <a:lstStyle/>
                    <a:p>
                      <a:r>
                        <a:rPr lang="fr-CM" dirty="0"/>
                        <a:t>fournir un accès internet (TP -Link DIR-615)</a:t>
                      </a:r>
                    </a:p>
                  </a:txBody>
                  <a:tcPr/>
                </a:tc>
                <a:tc>
                  <a:txBody>
                    <a:bodyPr/>
                    <a:lstStyle/>
                    <a:p>
                      <a:r>
                        <a:rPr lang="en-US" dirty="0"/>
                        <a:t>1</a:t>
                      </a:r>
                      <a:endParaRPr lang="fr-CM" dirty="0"/>
                    </a:p>
                  </a:txBody>
                  <a:tcPr/>
                </a:tc>
                <a:tc>
                  <a:txBody>
                    <a:bodyPr/>
                    <a:lstStyle/>
                    <a:p>
                      <a:r>
                        <a:rPr lang="en-US" dirty="0"/>
                        <a:t>40.000</a:t>
                      </a:r>
                      <a:endParaRPr lang="fr-CM" dirty="0"/>
                    </a:p>
                  </a:txBody>
                  <a:tcPr/>
                </a:tc>
                <a:extLst>
                  <a:ext uri="{0D108BD9-81ED-4DB2-BD59-A6C34878D82A}">
                    <a16:rowId xmlns:a16="http://schemas.microsoft.com/office/drawing/2014/main" val="607091175"/>
                  </a:ext>
                </a:extLst>
              </a:tr>
              <a:tr h="1030086">
                <a:tc gridSpan="3">
                  <a:txBody>
                    <a:bodyPr/>
                    <a:lstStyle/>
                    <a:p>
                      <a:r>
                        <a:rPr lang="en-US" dirty="0"/>
                        <a:t>TOTAL</a:t>
                      </a:r>
                      <a:endParaRPr lang="fr-CM" dirty="0"/>
                    </a:p>
                  </a:txBody>
                  <a:tcPr/>
                </a:tc>
                <a:tc hMerge="1">
                  <a:txBody>
                    <a:bodyPr/>
                    <a:lstStyle/>
                    <a:p>
                      <a:endParaRPr lang="fr-CM" dirty="0"/>
                    </a:p>
                  </a:txBody>
                  <a:tcPr/>
                </a:tc>
                <a:tc hMerge="1">
                  <a:txBody>
                    <a:bodyPr/>
                    <a:lstStyle/>
                    <a:p>
                      <a:endParaRPr lang="fr-CM" dirty="0"/>
                    </a:p>
                  </a:txBody>
                  <a:tcPr/>
                </a:tc>
                <a:tc>
                  <a:txBody>
                    <a:bodyPr/>
                    <a:lstStyle/>
                    <a:p>
                      <a:r>
                        <a:rPr lang="en-US" dirty="0"/>
                        <a:t>2</a:t>
                      </a:r>
                      <a:endParaRPr lang="fr-CM" dirty="0"/>
                    </a:p>
                  </a:txBody>
                  <a:tcPr/>
                </a:tc>
                <a:tc>
                  <a:txBody>
                    <a:bodyPr/>
                    <a:lstStyle/>
                    <a:p>
                      <a:r>
                        <a:rPr lang="en-US" dirty="0"/>
                        <a:t>890.000</a:t>
                      </a:r>
                      <a:endParaRPr lang="fr-CM" dirty="0"/>
                    </a:p>
                  </a:txBody>
                  <a:tcPr/>
                </a:tc>
                <a:extLst>
                  <a:ext uri="{0D108BD9-81ED-4DB2-BD59-A6C34878D82A}">
                    <a16:rowId xmlns:a16="http://schemas.microsoft.com/office/drawing/2014/main" val="1009384353"/>
                  </a:ext>
                </a:extLst>
              </a:tr>
            </a:tbl>
          </a:graphicData>
        </a:graphic>
      </p:graphicFrame>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B81632F8-94CF-8F6E-958B-2E21B75CC46E}"/>
              </a:ext>
            </a:extLst>
          </p:cNvPr>
          <p:cNvSpPr>
            <a:spLocks noGrp="1"/>
          </p:cNvSpPr>
          <p:nvPr>
            <p:ph type="sldNum" sz="quarter" idx="10"/>
          </p:nvPr>
        </p:nvSpPr>
        <p:spPr/>
        <p:txBody>
          <a:bodyPr/>
          <a:lstStyle/>
          <a:p>
            <a:pPr rtl="0"/>
            <a:fld id="{48F63A3B-78C7-47BE-AE5E-E10140E04643}" type="slidenum">
              <a:rPr lang="fr-FR" smtClean="0"/>
              <a:pPr rtl="0"/>
              <a:t>9</a:t>
            </a:fld>
            <a:endParaRPr lang="fr-FR" dirty="0"/>
          </a:p>
        </p:txBody>
      </p:sp>
      <p:sp>
        <p:nvSpPr>
          <p:cNvPr id="15" name="ZoneTexte 14">
            <a:extLst>
              <a:ext uri="{FF2B5EF4-FFF2-40B4-BE49-F238E27FC236}">
                <a16:creationId xmlns:a16="http://schemas.microsoft.com/office/drawing/2014/main" id="{9BECD2AF-9B31-D71D-ACC8-5FC14FCB2E33}"/>
              </a:ext>
            </a:extLst>
          </p:cNvPr>
          <p:cNvSpPr txBox="1"/>
          <p:nvPr/>
        </p:nvSpPr>
        <p:spPr>
          <a:xfrm>
            <a:off x="765974" y="345898"/>
            <a:ext cx="6298164" cy="369332"/>
          </a:xfrm>
          <a:prstGeom prst="rect">
            <a:avLst/>
          </a:prstGeom>
          <a:noFill/>
        </p:spPr>
        <p:txBody>
          <a:bodyPr wrap="square" rtlCol="0">
            <a:spAutoFit/>
          </a:bodyPr>
          <a:lstStyle/>
          <a:p>
            <a:r>
              <a:rPr lang="fr-CM" dirty="0"/>
              <a:t>c. Ressources humaines</a:t>
            </a:r>
          </a:p>
        </p:txBody>
      </p:sp>
      <p:graphicFrame>
        <p:nvGraphicFramePr>
          <p:cNvPr id="16" name="Tableau 15">
            <a:extLst>
              <a:ext uri="{FF2B5EF4-FFF2-40B4-BE49-F238E27FC236}">
                <a16:creationId xmlns:a16="http://schemas.microsoft.com/office/drawing/2014/main" id="{8CEDFE6E-1C85-87FE-CD24-AACC52DBE276}"/>
              </a:ext>
            </a:extLst>
          </p:cNvPr>
          <p:cNvGraphicFramePr>
            <a:graphicFrameLocks noGrp="1"/>
          </p:cNvGraphicFramePr>
          <p:nvPr>
            <p:extLst>
              <p:ext uri="{D42A27DB-BD31-4B8C-83A1-F6EECF244321}">
                <p14:modId xmlns:p14="http://schemas.microsoft.com/office/powerpoint/2010/main" val="660258827"/>
              </p:ext>
            </p:extLst>
          </p:nvPr>
        </p:nvGraphicFramePr>
        <p:xfrm>
          <a:off x="477673" y="715230"/>
          <a:ext cx="11245756" cy="5763964"/>
        </p:xfrm>
        <a:graphic>
          <a:graphicData uri="http://schemas.openxmlformats.org/drawingml/2006/table">
            <a:tbl>
              <a:tblPr firstRow="1" bandRow="1">
                <a:tableStyleId>{8A107856-5554-42FB-B03E-39F5DBC370BA}</a:tableStyleId>
              </a:tblPr>
              <a:tblGrid>
                <a:gridCol w="807576">
                  <a:extLst>
                    <a:ext uri="{9D8B030D-6E8A-4147-A177-3AD203B41FA5}">
                      <a16:colId xmlns:a16="http://schemas.microsoft.com/office/drawing/2014/main" val="214891099"/>
                    </a:ext>
                  </a:extLst>
                </a:gridCol>
                <a:gridCol w="3156756">
                  <a:extLst>
                    <a:ext uri="{9D8B030D-6E8A-4147-A177-3AD203B41FA5}">
                      <a16:colId xmlns:a16="http://schemas.microsoft.com/office/drawing/2014/main" val="2337459896"/>
                    </a:ext>
                  </a:extLst>
                </a:gridCol>
                <a:gridCol w="1820356">
                  <a:extLst>
                    <a:ext uri="{9D8B030D-6E8A-4147-A177-3AD203B41FA5}">
                      <a16:colId xmlns:a16="http://schemas.microsoft.com/office/drawing/2014/main" val="3687892439"/>
                    </a:ext>
                  </a:extLst>
                </a:gridCol>
                <a:gridCol w="1820356">
                  <a:extLst>
                    <a:ext uri="{9D8B030D-6E8A-4147-A177-3AD203B41FA5}">
                      <a16:colId xmlns:a16="http://schemas.microsoft.com/office/drawing/2014/main" val="326034985"/>
                    </a:ext>
                  </a:extLst>
                </a:gridCol>
                <a:gridCol w="1820356">
                  <a:extLst>
                    <a:ext uri="{9D8B030D-6E8A-4147-A177-3AD203B41FA5}">
                      <a16:colId xmlns:a16="http://schemas.microsoft.com/office/drawing/2014/main" val="479696330"/>
                    </a:ext>
                  </a:extLst>
                </a:gridCol>
                <a:gridCol w="1820356">
                  <a:extLst>
                    <a:ext uri="{9D8B030D-6E8A-4147-A177-3AD203B41FA5}">
                      <a16:colId xmlns:a16="http://schemas.microsoft.com/office/drawing/2014/main" val="2714676754"/>
                    </a:ext>
                  </a:extLst>
                </a:gridCol>
              </a:tblGrid>
              <a:tr h="601760">
                <a:tc>
                  <a:txBody>
                    <a:bodyPr/>
                    <a:lstStyle/>
                    <a:p>
                      <a:r>
                        <a:rPr lang="en-US" dirty="0"/>
                        <a:t>N</a:t>
                      </a:r>
                      <a:endParaRPr lang="fr-CM" dirty="0"/>
                    </a:p>
                  </a:txBody>
                  <a:tcPr/>
                </a:tc>
                <a:tc>
                  <a:txBody>
                    <a:bodyPr/>
                    <a:lstStyle/>
                    <a:p>
                      <a:r>
                        <a:rPr lang="fr-CM" dirty="0"/>
                        <a:t>Temps</a:t>
                      </a:r>
                    </a:p>
                  </a:txBody>
                  <a:tcPr/>
                </a:tc>
                <a:tc>
                  <a:txBody>
                    <a:bodyPr/>
                    <a:lstStyle/>
                    <a:p>
                      <a:r>
                        <a:rPr lang="fr-CM" dirty="0"/>
                        <a:t>Prix</a:t>
                      </a:r>
                    </a:p>
                  </a:txBody>
                  <a:tcPr/>
                </a:tc>
                <a:tc>
                  <a:txBody>
                    <a:bodyPr/>
                    <a:lstStyle/>
                    <a:p>
                      <a:r>
                        <a:rPr lang="en-US" dirty="0"/>
                        <a:t>Duree (</a:t>
                      </a:r>
                      <a:r>
                        <a:rPr lang="en-US" dirty="0" err="1"/>
                        <a:t>jours</a:t>
                      </a:r>
                      <a:r>
                        <a:rPr lang="en-US" dirty="0"/>
                        <a:t>)</a:t>
                      </a:r>
                      <a:endParaRPr lang="fr-CM" dirty="0"/>
                    </a:p>
                  </a:txBody>
                  <a:tcPr/>
                </a:tc>
                <a:tc>
                  <a:txBody>
                    <a:bodyPr/>
                    <a:lstStyle/>
                    <a:p>
                      <a:r>
                        <a:rPr lang="en-US" dirty="0"/>
                        <a:t>Cout </a:t>
                      </a:r>
                      <a:r>
                        <a:rPr lang="en-US" dirty="0" err="1"/>
                        <a:t>unitaire</a:t>
                      </a:r>
                      <a:r>
                        <a:rPr lang="en-US" dirty="0"/>
                        <a:t> </a:t>
                      </a:r>
                      <a:r>
                        <a:rPr lang="en-US" dirty="0" err="1"/>
                        <a:t>fcfa</a:t>
                      </a:r>
                      <a:endParaRPr lang="fr-CM" dirty="0"/>
                    </a:p>
                  </a:txBody>
                  <a:tcPr/>
                </a:tc>
                <a:tc>
                  <a:txBody>
                    <a:bodyPr/>
                    <a:lstStyle/>
                    <a:p>
                      <a:r>
                        <a:rPr lang="en-US" dirty="0"/>
                        <a:t>Cout Total </a:t>
                      </a:r>
                      <a:r>
                        <a:rPr lang="en-US" dirty="0" err="1"/>
                        <a:t>fcfa</a:t>
                      </a:r>
                      <a:endParaRPr lang="fr-CM" dirty="0"/>
                    </a:p>
                  </a:txBody>
                  <a:tcPr/>
                </a:tc>
                <a:extLst>
                  <a:ext uri="{0D108BD9-81ED-4DB2-BD59-A6C34878D82A}">
                    <a16:rowId xmlns:a16="http://schemas.microsoft.com/office/drawing/2014/main" val="3163061951"/>
                  </a:ext>
                </a:extLst>
              </a:tr>
              <a:tr h="2144684">
                <a:tc>
                  <a:txBody>
                    <a:bodyPr/>
                    <a:lstStyle/>
                    <a:p>
                      <a:r>
                        <a:rPr lang="en-US" dirty="0"/>
                        <a:t>1</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Analyste</a:t>
                      </a:r>
                    </a:p>
                    <a:p>
                      <a:r>
                        <a:rPr lang="fr-CM" dirty="0"/>
                        <a:t>(Mme NSOE)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Analysé les besoins, définir les spécifications fonctionnelles et techniques   </a:t>
                      </a:r>
                    </a:p>
                    <a:p>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10</a:t>
                      </a:r>
                    </a:p>
                    <a:p>
                      <a:endParaRPr lang="fr-CM" dirty="0"/>
                    </a:p>
                  </a:txBody>
                  <a:tcPr/>
                </a:tc>
                <a:tc>
                  <a:txBody>
                    <a:bodyPr/>
                    <a:lstStyle/>
                    <a:p>
                      <a:r>
                        <a:rPr lang="en-US" dirty="0"/>
                        <a:t>25 000</a:t>
                      </a:r>
                      <a:endParaRPr lang="fr-CM" dirty="0"/>
                    </a:p>
                  </a:txBody>
                  <a:tcPr/>
                </a:tc>
                <a:tc>
                  <a:txBody>
                    <a:bodyPr/>
                    <a:lstStyle/>
                    <a:p>
                      <a:r>
                        <a:rPr lang="en-US" dirty="0"/>
                        <a:t>250 000</a:t>
                      </a:r>
                      <a:endParaRPr lang="fr-CM" dirty="0"/>
                    </a:p>
                  </a:txBody>
                  <a:tcPr/>
                </a:tc>
                <a:extLst>
                  <a:ext uri="{0D108BD9-81ED-4DB2-BD59-A6C34878D82A}">
                    <a16:rowId xmlns:a16="http://schemas.microsoft.com/office/drawing/2014/main" val="3657622925"/>
                  </a:ext>
                </a:extLst>
              </a:tr>
              <a:tr h="790147">
                <a:tc>
                  <a:txBody>
                    <a:bodyPr/>
                    <a:lstStyle/>
                    <a:p>
                      <a:r>
                        <a:rPr lang="en-US" dirty="0"/>
                        <a:t>2</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Développeur</a:t>
                      </a:r>
                    </a:p>
                    <a:p>
                      <a:r>
                        <a:rPr lang="fr-CM" dirty="0"/>
                        <a:t>(M. SIMO)</a:t>
                      </a:r>
                    </a:p>
                  </a:txBody>
                  <a:tcPr/>
                </a:tc>
                <a:tc>
                  <a:txBody>
                    <a:bodyPr/>
                    <a:lstStyle/>
                    <a:p>
                      <a:r>
                        <a:rPr lang="fr-CM" sz="1800" dirty="0"/>
                        <a:t>concevoir et développer la solution </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20  </a:t>
                      </a:r>
                    </a:p>
                    <a:p>
                      <a:endParaRPr lang="fr-CM" dirty="0"/>
                    </a:p>
                  </a:txBody>
                  <a:tcPr/>
                </a:tc>
                <a:tc>
                  <a:txBody>
                    <a:bodyPr/>
                    <a:lstStyle/>
                    <a:p>
                      <a:r>
                        <a:rPr lang="en-US" dirty="0"/>
                        <a:t>25 000</a:t>
                      </a:r>
                      <a:endParaRPr lang="fr-CM" dirty="0"/>
                    </a:p>
                  </a:txBody>
                  <a:tcPr/>
                </a:tc>
                <a:tc>
                  <a:txBody>
                    <a:bodyPr/>
                    <a:lstStyle/>
                    <a:p>
                      <a:r>
                        <a:rPr lang="en-US" dirty="0"/>
                        <a:t>500 000</a:t>
                      </a:r>
                      <a:endParaRPr lang="fr-CM" dirty="0"/>
                    </a:p>
                  </a:txBody>
                  <a:tcPr/>
                </a:tc>
                <a:extLst>
                  <a:ext uri="{0D108BD9-81ED-4DB2-BD59-A6C34878D82A}">
                    <a16:rowId xmlns:a16="http://schemas.microsoft.com/office/drawing/2014/main" val="3621593599"/>
                  </a:ext>
                </a:extLst>
              </a:tr>
              <a:tr h="790147">
                <a:tc>
                  <a:txBody>
                    <a:bodyPr/>
                    <a:lstStyle/>
                    <a:p>
                      <a:r>
                        <a:rPr lang="en-US" dirty="0"/>
                        <a:t>3</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Administrateur système  </a:t>
                      </a:r>
                    </a:p>
                    <a:p>
                      <a:r>
                        <a:rPr lang="fr-CM" dirty="0"/>
                        <a:t>(Mme NANA)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gérer et maintenir le service disponible </a:t>
                      </a:r>
                    </a:p>
                    <a:p>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5</a:t>
                      </a:r>
                    </a:p>
                    <a:p>
                      <a:endParaRPr lang="fr-CM" dirty="0"/>
                    </a:p>
                  </a:txBody>
                  <a:tcPr/>
                </a:tc>
                <a:tc>
                  <a:txBody>
                    <a:bodyPr/>
                    <a:lstStyle/>
                    <a:p>
                      <a:r>
                        <a:rPr lang="en-US" dirty="0"/>
                        <a:t>35 000</a:t>
                      </a:r>
                      <a:endParaRPr lang="fr-CM" dirty="0"/>
                    </a:p>
                  </a:txBody>
                  <a:tcPr/>
                </a:tc>
                <a:tc>
                  <a:txBody>
                    <a:bodyPr/>
                    <a:lstStyle/>
                    <a:p>
                      <a:r>
                        <a:rPr lang="en-US" dirty="0"/>
                        <a:t>175 000</a:t>
                      </a:r>
                      <a:endParaRPr lang="fr-CM" dirty="0"/>
                    </a:p>
                  </a:txBody>
                  <a:tcPr/>
                </a:tc>
                <a:extLst>
                  <a:ext uri="{0D108BD9-81ED-4DB2-BD59-A6C34878D82A}">
                    <a16:rowId xmlns:a16="http://schemas.microsoft.com/office/drawing/2014/main" val="2547619957"/>
                  </a:ext>
                </a:extLst>
              </a:tr>
              <a:tr h="601760">
                <a:tc gridSpan="3">
                  <a:txBody>
                    <a:bodyPr/>
                    <a:lstStyle/>
                    <a:p>
                      <a:r>
                        <a:rPr lang="en-US" dirty="0"/>
                        <a:t>TOTAL </a:t>
                      </a:r>
                      <a:endParaRPr lang="fr-CM" dirty="0"/>
                    </a:p>
                  </a:txBody>
                  <a:tcPr/>
                </a:tc>
                <a:tc hMerge="1">
                  <a:txBody>
                    <a:bodyPr/>
                    <a:lstStyle/>
                    <a:p>
                      <a:endParaRPr lang="fr-CM" dirty="0"/>
                    </a:p>
                  </a:txBody>
                  <a:tcPr/>
                </a:tc>
                <a:tc hMerge="1">
                  <a:txBody>
                    <a:bodyPr/>
                    <a:lstStyle/>
                    <a:p>
                      <a:endParaRPr lang="fr-CM" dirty="0"/>
                    </a:p>
                  </a:txBody>
                  <a:tcPr/>
                </a:tc>
                <a:tc>
                  <a:txBody>
                    <a:bodyPr/>
                    <a:lstStyle/>
                    <a:p>
                      <a:r>
                        <a:rPr lang="en-US" dirty="0"/>
                        <a:t>35</a:t>
                      </a:r>
                      <a:endParaRPr lang="fr-CM" dirty="0"/>
                    </a:p>
                  </a:txBody>
                  <a:tcPr/>
                </a:tc>
                <a:tc>
                  <a:txBody>
                    <a:bodyPr/>
                    <a:lstStyle/>
                    <a:p>
                      <a:r>
                        <a:rPr lang="en-US" dirty="0"/>
                        <a:t>85 000</a:t>
                      </a:r>
                      <a:endParaRPr lang="fr-CM" dirty="0"/>
                    </a:p>
                  </a:txBody>
                  <a:tcPr/>
                </a:tc>
                <a:tc>
                  <a:txBody>
                    <a:bodyPr/>
                    <a:lstStyle/>
                    <a:p>
                      <a:r>
                        <a:rPr lang="en-US" dirty="0"/>
                        <a:t>925 000</a:t>
                      </a:r>
                      <a:endParaRPr lang="fr-CM" dirty="0"/>
                    </a:p>
                  </a:txBody>
                  <a:tcPr/>
                </a:tc>
                <a:extLst>
                  <a:ext uri="{0D108BD9-81ED-4DB2-BD59-A6C34878D82A}">
                    <a16:rowId xmlns:a16="http://schemas.microsoft.com/office/drawing/2014/main" val="1119535005"/>
                  </a:ext>
                </a:extLst>
              </a:tr>
            </a:tbl>
          </a:graphicData>
        </a:graphic>
      </p:graphicFrame>
    </p:spTree>
    <p:extLst>
      <p:ext uri="{BB962C8B-B14F-4D97-AF65-F5344CB8AC3E}">
        <p14:creationId xmlns:p14="http://schemas.microsoft.com/office/powerpoint/2010/main" val="320565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5CE83842-B5B8-604B-DEF4-73FF5C8599A4}"/>
              </a:ext>
            </a:extLst>
          </p:cNvPr>
          <p:cNvSpPr>
            <a:spLocks noGrp="1"/>
          </p:cNvSpPr>
          <p:nvPr>
            <p:ph type="sldNum" sz="quarter" idx="10"/>
          </p:nvPr>
        </p:nvSpPr>
        <p:spPr/>
        <p:txBody>
          <a:bodyPr/>
          <a:lstStyle/>
          <a:p>
            <a:pPr rtl="0"/>
            <a:fld id="{48F63A3B-78C7-47BE-AE5E-E10140E04643}" type="slidenum">
              <a:rPr lang="fr-FR" smtClean="0"/>
              <a:pPr rtl="0"/>
              <a:t>10</a:t>
            </a:fld>
            <a:endParaRPr lang="fr-FR" dirty="0"/>
          </a:p>
        </p:txBody>
      </p:sp>
      <p:graphicFrame>
        <p:nvGraphicFramePr>
          <p:cNvPr id="10" name="Tableau 9">
            <a:extLst>
              <a:ext uri="{FF2B5EF4-FFF2-40B4-BE49-F238E27FC236}">
                <a16:creationId xmlns:a16="http://schemas.microsoft.com/office/drawing/2014/main" id="{41BACBE3-8D0B-7581-C4A7-B42A4FFDAC22}"/>
              </a:ext>
            </a:extLst>
          </p:cNvPr>
          <p:cNvGraphicFramePr>
            <a:graphicFrameLocks noGrp="1"/>
          </p:cNvGraphicFramePr>
          <p:nvPr>
            <p:extLst>
              <p:ext uri="{D42A27DB-BD31-4B8C-83A1-F6EECF244321}">
                <p14:modId xmlns:p14="http://schemas.microsoft.com/office/powerpoint/2010/main" val="1972691060"/>
              </p:ext>
            </p:extLst>
          </p:nvPr>
        </p:nvGraphicFramePr>
        <p:xfrm>
          <a:off x="1253863" y="1596921"/>
          <a:ext cx="9104574" cy="4507425"/>
        </p:xfrm>
        <a:graphic>
          <a:graphicData uri="http://schemas.openxmlformats.org/drawingml/2006/table">
            <a:tbl>
              <a:tblPr firstRow="1" bandRow="1">
                <a:tableStyleId>{0E3FDE45-AF77-4B5C-9715-49D594BDF05E}</a:tableStyleId>
              </a:tblPr>
              <a:tblGrid>
                <a:gridCol w="3034858">
                  <a:extLst>
                    <a:ext uri="{9D8B030D-6E8A-4147-A177-3AD203B41FA5}">
                      <a16:colId xmlns:a16="http://schemas.microsoft.com/office/drawing/2014/main" val="2241754384"/>
                    </a:ext>
                  </a:extLst>
                </a:gridCol>
                <a:gridCol w="3034858">
                  <a:extLst>
                    <a:ext uri="{9D8B030D-6E8A-4147-A177-3AD203B41FA5}">
                      <a16:colId xmlns:a16="http://schemas.microsoft.com/office/drawing/2014/main" val="2100234076"/>
                    </a:ext>
                  </a:extLst>
                </a:gridCol>
                <a:gridCol w="3034858">
                  <a:extLst>
                    <a:ext uri="{9D8B030D-6E8A-4147-A177-3AD203B41FA5}">
                      <a16:colId xmlns:a16="http://schemas.microsoft.com/office/drawing/2014/main" val="2402332274"/>
                    </a:ext>
                  </a:extLst>
                </a:gridCol>
              </a:tblGrid>
              <a:tr h="901485">
                <a:tc>
                  <a:txBody>
                    <a:bodyPr/>
                    <a:lstStyle/>
                    <a:p>
                      <a:r>
                        <a:rPr lang="en-US" dirty="0"/>
                        <a:t>N</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Libelle</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Cout Total FCFA</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7954979"/>
                  </a:ext>
                </a:extLst>
              </a:tr>
              <a:tr h="901485">
                <a:tc>
                  <a:txBody>
                    <a:bodyPr/>
                    <a:lstStyle/>
                    <a:p>
                      <a:r>
                        <a:rPr lang="en-US" dirty="0"/>
                        <a:t>1</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RH</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925 000</a:t>
                      </a:r>
                      <a:endParaRPr lang="fr-CM" dirty="0"/>
                    </a:p>
                    <a:p>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5698794"/>
                  </a:ext>
                </a:extLst>
              </a:tr>
              <a:tr h="901485">
                <a:tc>
                  <a:txBody>
                    <a:bodyPr/>
                    <a:lstStyle/>
                    <a:p>
                      <a:r>
                        <a:rPr lang="en-US" dirty="0"/>
                        <a:t>2</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MATERIEL</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890.000</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0014585"/>
                  </a:ext>
                </a:extLst>
              </a:tr>
              <a:tr h="901485">
                <a:tc>
                  <a:txBody>
                    <a:bodyPr/>
                    <a:lstStyle/>
                    <a:p>
                      <a:r>
                        <a:rPr lang="en-US" dirty="0"/>
                        <a:t>3</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LOGICIEL</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8392239"/>
                  </a:ext>
                </a:extLst>
              </a:tr>
              <a:tr h="901485">
                <a:tc gridSpan="2">
                  <a:txBody>
                    <a:bodyPr/>
                    <a:lstStyle/>
                    <a:p>
                      <a:r>
                        <a:rPr lang="en-US" dirty="0"/>
                        <a:t>TOTAL</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1 815 000</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0678524"/>
                  </a:ext>
                </a:extLst>
              </a:tr>
            </a:tbl>
          </a:graphicData>
        </a:graphic>
      </p:graphicFrame>
      <p:sp>
        <p:nvSpPr>
          <p:cNvPr id="11" name="Titre 1">
            <a:extLst>
              <a:ext uri="{FF2B5EF4-FFF2-40B4-BE49-F238E27FC236}">
                <a16:creationId xmlns:a16="http://schemas.microsoft.com/office/drawing/2014/main" id="{46A8FECA-F84C-2E27-8696-44FA6C447E98}"/>
              </a:ext>
            </a:extLst>
          </p:cNvPr>
          <p:cNvSpPr>
            <a:spLocks noGrp="1"/>
          </p:cNvSpPr>
          <p:nvPr>
            <p:ph type="title"/>
          </p:nvPr>
        </p:nvSpPr>
        <p:spPr>
          <a:xfrm>
            <a:off x="1253863" y="470847"/>
            <a:ext cx="8846821" cy="632460"/>
          </a:xfrm>
        </p:spPr>
        <p:txBody>
          <a:bodyPr rtlCol="0"/>
          <a:lstStyle>
            <a:defPPr>
              <a:defRPr lang="fr-FR"/>
            </a:defPPr>
          </a:lstStyle>
          <a:p>
            <a:pPr rtl="0"/>
            <a:r>
              <a:rPr lang="fr-FR" sz="3200" dirty="0"/>
              <a:t>Budgétisation du projet</a:t>
            </a:r>
          </a:p>
        </p:txBody>
      </p:sp>
    </p:spTree>
    <p:extLst>
      <p:ext uri="{BB962C8B-B14F-4D97-AF65-F5344CB8AC3E}">
        <p14:creationId xmlns:p14="http://schemas.microsoft.com/office/powerpoint/2010/main" val="3440653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7AAB21-A5C3-B765-0BF7-D48F312120BC}"/>
              </a:ext>
            </a:extLst>
          </p:cNvPr>
          <p:cNvSpPr>
            <a:spLocks noGrp="1"/>
          </p:cNvSpPr>
          <p:nvPr>
            <p:ph type="title"/>
          </p:nvPr>
        </p:nvSpPr>
        <p:spPr>
          <a:xfrm>
            <a:off x="1487606" y="457199"/>
            <a:ext cx="7631709" cy="569414"/>
          </a:xfrm>
        </p:spPr>
        <p:txBody>
          <a:bodyPr/>
          <a:lstStyle/>
          <a:p>
            <a:r>
              <a:rPr lang="en-US" dirty="0"/>
              <a:t>Operations </a:t>
            </a:r>
            <a:endParaRPr lang="fr-CM" dirty="0"/>
          </a:p>
        </p:txBody>
      </p:sp>
      <p:sp>
        <p:nvSpPr>
          <p:cNvPr id="6" name="Espace réservé du numéro de diapositive 5">
            <a:extLst>
              <a:ext uri="{FF2B5EF4-FFF2-40B4-BE49-F238E27FC236}">
                <a16:creationId xmlns:a16="http://schemas.microsoft.com/office/drawing/2014/main" id="{3E079B33-26E7-E6A5-9C2D-CC76D6845842}"/>
              </a:ext>
            </a:extLst>
          </p:cNvPr>
          <p:cNvSpPr>
            <a:spLocks noGrp="1"/>
          </p:cNvSpPr>
          <p:nvPr>
            <p:ph type="sldNum" sz="quarter" idx="10"/>
          </p:nvPr>
        </p:nvSpPr>
        <p:spPr/>
        <p:txBody>
          <a:bodyPr/>
          <a:lstStyle/>
          <a:p>
            <a:pPr rtl="0"/>
            <a:fld id="{48F63A3B-78C7-47BE-AE5E-E10140E04643}" type="slidenum">
              <a:rPr lang="fr-FR" smtClean="0"/>
              <a:pPr rtl="0"/>
              <a:t>11</a:t>
            </a:fld>
            <a:endParaRPr lang="fr-FR" dirty="0"/>
          </a:p>
        </p:txBody>
      </p:sp>
      <p:sp>
        <p:nvSpPr>
          <p:cNvPr id="3" name="ZoneTexte 2">
            <a:extLst>
              <a:ext uri="{FF2B5EF4-FFF2-40B4-BE49-F238E27FC236}">
                <a16:creationId xmlns:a16="http://schemas.microsoft.com/office/drawing/2014/main" id="{B2D01819-C28F-82D5-2FCC-0077E08680EC}"/>
              </a:ext>
            </a:extLst>
          </p:cNvPr>
          <p:cNvSpPr txBox="1"/>
          <p:nvPr/>
        </p:nvSpPr>
        <p:spPr>
          <a:xfrm>
            <a:off x="95534" y="1307364"/>
            <a:ext cx="6837529" cy="6186309"/>
          </a:xfrm>
          <a:prstGeom prst="rect">
            <a:avLst/>
          </a:prstGeom>
          <a:noFill/>
        </p:spPr>
        <p:txBody>
          <a:bodyPr wrap="square" rtlCol="0">
            <a:spAutoFit/>
          </a:bodyPr>
          <a:lstStyle/>
          <a:p>
            <a:r>
              <a:rPr lang="fr-FR" b="1" dirty="0"/>
              <a:t>1. Authentification et gestion des accès</a:t>
            </a:r>
          </a:p>
          <a:p>
            <a:r>
              <a:rPr lang="fr-FR" dirty="0"/>
              <a:t>Connexion sécurisée des administrateurs via </a:t>
            </a:r>
            <a:r>
              <a:rPr lang="fr-FR" dirty="0" err="1"/>
              <a:t>identifiant,mot</a:t>
            </a:r>
            <a:r>
              <a:rPr lang="fr-FR" dirty="0"/>
              <a:t> de passe. </a:t>
            </a:r>
          </a:p>
          <a:p>
            <a:r>
              <a:rPr lang="fr-FR" dirty="0"/>
              <a:t>Gestion des rôles (administrateur, auditeur). </a:t>
            </a:r>
          </a:p>
          <a:p>
            <a:r>
              <a:rPr lang="fr-FR" dirty="0"/>
              <a:t>Journalisation des connexions et tentatives d’accès.</a:t>
            </a:r>
          </a:p>
          <a:p>
            <a:endParaRPr lang="fr-FR" dirty="0"/>
          </a:p>
          <a:p>
            <a:r>
              <a:rPr lang="fr-FR" b="1" dirty="0"/>
              <a:t>2. Gestion des profils </a:t>
            </a:r>
            <a:r>
              <a:rPr lang="fr-FR" b="1" dirty="0" err="1"/>
              <a:t>AppArmor</a:t>
            </a:r>
            <a:endParaRPr lang="fr-FR" b="1" dirty="0"/>
          </a:p>
          <a:p>
            <a:r>
              <a:rPr lang="fr-FR" dirty="0"/>
              <a:t>Création de nouveaux profils de sécurité. </a:t>
            </a:r>
          </a:p>
          <a:p>
            <a:r>
              <a:rPr lang="fr-FR" dirty="0"/>
              <a:t>Modification et mise à jour des profils existants. </a:t>
            </a:r>
          </a:p>
          <a:p>
            <a:r>
              <a:rPr lang="fr-FR" dirty="0"/>
              <a:t>Suppression des profils obsolètes. </a:t>
            </a:r>
          </a:p>
          <a:p>
            <a:r>
              <a:rPr lang="fr-FR" dirty="0"/>
              <a:t>Activation/désactivation des profils. </a:t>
            </a:r>
          </a:p>
          <a:p>
            <a:r>
              <a:rPr lang="fr-FR" dirty="0"/>
              <a:t>Basculement entre les modes</a:t>
            </a:r>
          </a:p>
          <a:p>
            <a:endParaRPr lang="fr-FR" dirty="0"/>
          </a:p>
          <a:p>
            <a:r>
              <a:rPr lang="fr-FR" b="1" dirty="0"/>
              <a:t>3. Surveillance et audit</a:t>
            </a:r>
          </a:p>
          <a:p>
            <a:r>
              <a:rPr lang="fr-FR" dirty="0"/>
              <a:t>Collecte automatique des logs générés par </a:t>
            </a:r>
            <a:r>
              <a:rPr lang="fr-FR" dirty="0" err="1"/>
              <a:t>AppArmor</a:t>
            </a:r>
            <a:r>
              <a:rPr lang="fr-FR" dirty="0"/>
              <a:t>. </a:t>
            </a:r>
          </a:p>
          <a:p>
            <a:r>
              <a:rPr lang="fr-FR" dirty="0"/>
              <a:t>Analyse des logs pour identifier les comportements suspects. </a:t>
            </a:r>
          </a:p>
          <a:p>
            <a:r>
              <a:rPr lang="fr-FR" dirty="0"/>
              <a:t>Visualisation des événements en temps réel via un tableau de bord. </a:t>
            </a:r>
          </a:p>
          <a:p>
            <a:r>
              <a:rPr lang="fr-FR" dirty="0"/>
              <a:t>Historisation des activités pour audit.</a:t>
            </a:r>
          </a:p>
          <a:p>
            <a:endParaRPr lang="fr-FR" dirty="0"/>
          </a:p>
          <a:p>
            <a:endParaRPr lang="fr-FR" dirty="0"/>
          </a:p>
          <a:p>
            <a:endParaRPr lang="fr-FR" dirty="0"/>
          </a:p>
          <a:p>
            <a:endParaRPr lang="fr-CM" dirty="0"/>
          </a:p>
          <a:p>
            <a:endParaRPr lang="fr-CM" dirty="0"/>
          </a:p>
        </p:txBody>
      </p:sp>
      <p:sp>
        <p:nvSpPr>
          <p:cNvPr id="4" name="ZoneTexte 3">
            <a:extLst>
              <a:ext uri="{FF2B5EF4-FFF2-40B4-BE49-F238E27FC236}">
                <a16:creationId xmlns:a16="http://schemas.microsoft.com/office/drawing/2014/main" id="{1876C9D9-FDC5-385A-AF20-1625E6F3EA0B}"/>
              </a:ext>
            </a:extLst>
          </p:cNvPr>
          <p:cNvSpPr txBox="1"/>
          <p:nvPr/>
        </p:nvSpPr>
        <p:spPr>
          <a:xfrm>
            <a:off x="6933063" y="1345156"/>
            <a:ext cx="5163403" cy="4524315"/>
          </a:xfrm>
          <a:prstGeom prst="rect">
            <a:avLst/>
          </a:prstGeom>
          <a:noFill/>
        </p:spPr>
        <p:txBody>
          <a:bodyPr wrap="square" rtlCol="0">
            <a:spAutoFit/>
          </a:bodyPr>
          <a:lstStyle/>
          <a:p>
            <a:r>
              <a:rPr lang="fr-FR" b="1" dirty="0"/>
              <a:t>4. Détection des comportements malveillants</a:t>
            </a:r>
          </a:p>
          <a:p>
            <a:r>
              <a:rPr lang="fr-FR" dirty="0"/>
              <a:t>Identification d’accès non autorisés aux fichiers. </a:t>
            </a:r>
          </a:p>
          <a:p>
            <a:r>
              <a:rPr lang="fr-FR" dirty="0"/>
              <a:t>Détection d’exécutions de processus interdits. </a:t>
            </a:r>
          </a:p>
          <a:p>
            <a:r>
              <a:rPr lang="fr-FR" dirty="0"/>
              <a:t>Corrélation des événements suspects.</a:t>
            </a:r>
          </a:p>
          <a:p>
            <a:endParaRPr lang="fr-CM" dirty="0"/>
          </a:p>
          <a:p>
            <a:r>
              <a:rPr lang="fr-FR" b="1" dirty="0"/>
              <a:t>5. Mitigation et réponse aux incidents</a:t>
            </a:r>
          </a:p>
          <a:p>
            <a:r>
              <a:rPr lang="fr-FR" dirty="0"/>
              <a:t>Blocage automatique des accès non autorisés. </a:t>
            </a:r>
          </a:p>
          <a:p>
            <a:r>
              <a:rPr lang="fr-FR" dirty="0"/>
              <a:t>Restriction ou arrêt des processus suspects. </a:t>
            </a:r>
          </a:p>
          <a:p>
            <a:r>
              <a:rPr lang="fr-FR" dirty="0"/>
              <a:t>Isolement des applications compromises. </a:t>
            </a:r>
          </a:p>
          <a:p>
            <a:r>
              <a:rPr lang="fr-FR" dirty="0"/>
              <a:t>Notification des administrateurs.</a:t>
            </a:r>
          </a:p>
          <a:p>
            <a:endParaRPr lang="fr-CM" dirty="0"/>
          </a:p>
          <a:p>
            <a:r>
              <a:rPr lang="fr-FR" b="1" dirty="0"/>
              <a:t>6. Administration système</a:t>
            </a:r>
          </a:p>
          <a:p>
            <a:r>
              <a:rPr lang="fr-FR" dirty="0"/>
              <a:t>Gestion des paramètres globaux de sécurité. </a:t>
            </a:r>
          </a:p>
          <a:p>
            <a:r>
              <a:rPr lang="fr-FR" dirty="0"/>
              <a:t>Sauvegarde et restauration des configurations. </a:t>
            </a:r>
          </a:p>
          <a:p>
            <a:r>
              <a:rPr lang="fr-FR" dirty="0"/>
              <a:t>Mise à jour des profils et règles de sécurité</a:t>
            </a:r>
          </a:p>
          <a:p>
            <a:endParaRPr lang="fr-CM" dirty="0"/>
          </a:p>
        </p:txBody>
      </p:sp>
    </p:spTree>
    <p:extLst>
      <p:ext uri="{BB962C8B-B14F-4D97-AF65-F5344CB8AC3E}">
        <p14:creationId xmlns:p14="http://schemas.microsoft.com/office/powerpoint/2010/main" val="399200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3DFCC-289A-B1AE-6E7F-DC058F982821}"/>
              </a:ext>
            </a:extLst>
          </p:cNvPr>
          <p:cNvSpPr>
            <a:spLocks noGrp="1"/>
          </p:cNvSpPr>
          <p:nvPr>
            <p:ph type="title"/>
          </p:nvPr>
        </p:nvSpPr>
        <p:spPr>
          <a:xfrm>
            <a:off x="4776717" y="331978"/>
            <a:ext cx="5199797" cy="596710"/>
          </a:xfrm>
        </p:spPr>
        <p:txBody>
          <a:bodyPr/>
          <a:lstStyle/>
          <a:p>
            <a:r>
              <a:rPr lang="en-US" dirty="0"/>
              <a:t>Perimetre </a:t>
            </a:r>
            <a:endParaRPr lang="fr-CM" dirty="0"/>
          </a:p>
        </p:txBody>
      </p:sp>
      <p:sp>
        <p:nvSpPr>
          <p:cNvPr id="6" name="Espace réservé du numéro de diapositive 5">
            <a:extLst>
              <a:ext uri="{FF2B5EF4-FFF2-40B4-BE49-F238E27FC236}">
                <a16:creationId xmlns:a16="http://schemas.microsoft.com/office/drawing/2014/main" id="{E1CF2A39-8766-B160-9726-0D705C895CA2}"/>
              </a:ext>
            </a:extLst>
          </p:cNvPr>
          <p:cNvSpPr>
            <a:spLocks noGrp="1"/>
          </p:cNvSpPr>
          <p:nvPr>
            <p:ph type="sldNum" sz="quarter" idx="10"/>
          </p:nvPr>
        </p:nvSpPr>
        <p:spPr/>
        <p:txBody>
          <a:bodyPr/>
          <a:lstStyle/>
          <a:p>
            <a:pPr rtl="0"/>
            <a:fld id="{48F63A3B-78C7-47BE-AE5E-E10140E04643}" type="slidenum">
              <a:rPr lang="fr-FR" smtClean="0"/>
              <a:pPr rtl="0"/>
              <a:t>12</a:t>
            </a:fld>
            <a:endParaRPr lang="fr-FR" dirty="0"/>
          </a:p>
        </p:txBody>
      </p:sp>
      <p:sp>
        <p:nvSpPr>
          <p:cNvPr id="3" name="ZoneTexte 2">
            <a:extLst>
              <a:ext uri="{FF2B5EF4-FFF2-40B4-BE49-F238E27FC236}">
                <a16:creationId xmlns:a16="http://schemas.microsoft.com/office/drawing/2014/main" id="{AEF47106-AE47-731A-66F3-C9781DB5C582}"/>
              </a:ext>
            </a:extLst>
          </p:cNvPr>
          <p:cNvSpPr txBox="1"/>
          <p:nvPr/>
        </p:nvSpPr>
        <p:spPr>
          <a:xfrm>
            <a:off x="805217" y="928688"/>
            <a:ext cx="10385947" cy="5632311"/>
          </a:xfrm>
          <a:prstGeom prst="rect">
            <a:avLst/>
          </a:prstGeom>
          <a:noFill/>
        </p:spPr>
        <p:txBody>
          <a:bodyPr wrap="square" rtlCol="0">
            <a:spAutoFit/>
          </a:bodyPr>
          <a:lstStyle/>
          <a:p>
            <a:r>
              <a:rPr lang="fr-FR" b="1" dirty="0"/>
              <a:t>	1. Inclus dans le périmètre</a:t>
            </a:r>
          </a:p>
          <a:p>
            <a:r>
              <a:rPr lang="fr-FR" dirty="0"/>
              <a:t>Développement d’une application web sécurisée. </a:t>
            </a:r>
          </a:p>
          <a:p>
            <a:r>
              <a:rPr lang="fr-FR" dirty="0"/>
              <a:t>Intégration avec le système de sécurité </a:t>
            </a:r>
            <a:r>
              <a:rPr lang="fr-FR" dirty="0" err="1"/>
              <a:t>AppArmor</a:t>
            </a:r>
            <a:r>
              <a:rPr lang="fr-FR" dirty="0"/>
              <a:t>. </a:t>
            </a:r>
          </a:p>
          <a:p>
            <a:r>
              <a:rPr lang="fr-FR" dirty="0"/>
              <a:t>Gestion centralisée des profils </a:t>
            </a:r>
            <a:r>
              <a:rPr lang="fr-FR" dirty="0" err="1"/>
              <a:t>AppArmor</a:t>
            </a:r>
            <a:r>
              <a:rPr lang="fr-FR" dirty="0"/>
              <a:t>. </a:t>
            </a:r>
          </a:p>
          <a:p>
            <a:r>
              <a:rPr lang="fr-FR" dirty="0"/>
              <a:t>Visualisation et analyse des logs. </a:t>
            </a:r>
          </a:p>
          <a:p>
            <a:r>
              <a:rPr lang="fr-FR" dirty="0"/>
              <a:t>Détection et mitigation des comportements malveillants. </a:t>
            </a:r>
          </a:p>
          <a:p>
            <a:r>
              <a:rPr lang="fr-FR" dirty="0"/>
              <a:t>Déploiement sur un environnement Linux (Ubuntu). </a:t>
            </a:r>
          </a:p>
          <a:p>
            <a:endParaRPr lang="fr-FR" dirty="0"/>
          </a:p>
          <a:p>
            <a:r>
              <a:rPr lang="fr-FR" b="1" dirty="0"/>
              <a:t>									2. Hors périmètre</a:t>
            </a:r>
          </a:p>
          <a:p>
            <a:r>
              <a:rPr lang="fr-FR" dirty="0"/>
              <a:t>								Support d’autres systèmes de sécurité (ex : </a:t>
            </a:r>
            <a:r>
              <a:rPr lang="fr-FR" dirty="0" err="1"/>
              <a:t>SELinux</a:t>
            </a:r>
            <a:r>
              <a:rPr lang="fr-FR" dirty="0"/>
              <a:t>). </a:t>
            </a:r>
          </a:p>
          <a:p>
            <a:r>
              <a:rPr lang="fr-FR" dirty="0"/>
              <a:t>								Déploiement sur des systèmes non Linux (Windows, </a:t>
            </a:r>
            <a:r>
              <a:rPr lang="fr-FR" dirty="0" err="1"/>
              <a:t>macOS</a:t>
            </a:r>
            <a:r>
              <a:rPr lang="fr-FR" dirty="0"/>
              <a:t>). </a:t>
            </a:r>
          </a:p>
          <a:p>
            <a:r>
              <a:rPr lang="fr-FR" dirty="0"/>
              <a:t>								Gestion de réseaux distribués à grande échelle. </a:t>
            </a:r>
          </a:p>
          <a:p>
            <a:r>
              <a:rPr lang="fr-FR" dirty="0"/>
              <a:t>								Intelligence artificielle avancée pour la détection (option future). </a:t>
            </a:r>
          </a:p>
          <a:p>
            <a:endParaRPr lang="fr-FR" dirty="0"/>
          </a:p>
          <a:p>
            <a:r>
              <a:rPr lang="fr-FR" b="1" dirty="0"/>
              <a:t>	3. Contraintes</a:t>
            </a:r>
          </a:p>
          <a:p>
            <a:r>
              <a:rPr lang="fr-FR" dirty="0"/>
              <a:t>Utilisation de technologies open source. </a:t>
            </a:r>
          </a:p>
          <a:p>
            <a:r>
              <a:rPr lang="fr-FR" dirty="0"/>
              <a:t>Fonctionnement en environnement local ou virtualisé (VMware). </a:t>
            </a:r>
          </a:p>
          <a:p>
            <a:r>
              <a:rPr lang="fr-FR" dirty="0"/>
              <a:t>Respect des bonnes pratiques de sécurité web. </a:t>
            </a:r>
          </a:p>
          <a:p>
            <a:r>
              <a:rPr lang="fr-FR" dirty="0"/>
              <a:t>Performance acceptable pour un environnement de test académique.</a:t>
            </a:r>
          </a:p>
          <a:p>
            <a:endParaRPr lang="fr-CM" dirty="0"/>
          </a:p>
        </p:txBody>
      </p:sp>
    </p:spTree>
    <p:extLst>
      <p:ext uri="{BB962C8B-B14F-4D97-AF65-F5344CB8AC3E}">
        <p14:creationId xmlns:p14="http://schemas.microsoft.com/office/powerpoint/2010/main" val="4015641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962281-5167-1422-2A0A-DB160355CF47}"/>
              </a:ext>
            </a:extLst>
          </p:cNvPr>
          <p:cNvSpPr>
            <a:spLocks noGrp="1"/>
          </p:cNvSpPr>
          <p:nvPr>
            <p:ph type="title"/>
          </p:nvPr>
        </p:nvSpPr>
        <p:spPr>
          <a:xfrm>
            <a:off x="3548418" y="263740"/>
            <a:ext cx="7631709" cy="664948"/>
          </a:xfrm>
        </p:spPr>
        <p:txBody>
          <a:bodyPr/>
          <a:lstStyle/>
          <a:p>
            <a:r>
              <a:rPr lang="en-US" dirty="0"/>
              <a:t>specificites</a:t>
            </a:r>
            <a:endParaRPr lang="fr-CM" dirty="0"/>
          </a:p>
        </p:txBody>
      </p:sp>
      <p:sp>
        <p:nvSpPr>
          <p:cNvPr id="6" name="Espace réservé du numéro de diapositive 5">
            <a:extLst>
              <a:ext uri="{FF2B5EF4-FFF2-40B4-BE49-F238E27FC236}">
                <a16:creationId xmlns:a16="http://schemas.microsoft.com/office/drawing/2014/main" id="{27457034-5E2B-D449-B11E-934BF45F6405}"/>
              </a:ext>
            </a:extLst>
          </p:cNvPr>
          <p:cNvSpPr>
            <a:spLocks noGrp="1"/>
          </p:cNvSpPr>
          <p:nvPr>
            <p:ph type="sldNum" sz="quarter" idx="10"/>
          </p:nvPr>
        </p:nvSpPr>
        <p:spPr/>
        <p:txBody>
          <a:bodyPr/>
          <a:lstStyle/>
          <a:p>
            <a:pPr rtl="0"/>
            <a:fld id="{48F63A3B-78C7-47BE-AE5E-E10140E04643}" type="slidenum">
              <a:rPr lang="fr-FR" smtClean="0"/>
              <a:pPr rtl="0"/>
              <a:t>13</a:t>
            </a:fld>
            <a:endParaRPr lang="fr-FR" dirty="0"/>
          </a:p>
        </p:txBody>
      </p:sp>
      <p:sp>
        <p:nvSpPr>
          <p:cNvPr id="3" name="ZoneTexte 2">
            <a:extLst>
              <a:ext uri="{FF2B5EF4-FFF2-40B4-BE49-F238E27FC236}">
                <a16:creationId xmlns:a16="http://schemas.microsoft.com/office/drawing/2014/main" id="{9863625F-57CA-9592-4B0E-A38E052C40DD}"/>
              </a:ext>
            </a:extLst>
          </p:cNvPr>
          <p:cNvSpPr txBox="1"/>
          <p:nvPr/>
        </p:nvSpPr>
        <p:spPr>
          <a:xfrm>
            <a:off x="209266" y="983919"/>
            <a:ext cx="6792035" cy="5909310"/>
          </a:xfrm>
          <a:prstGeom prst="rect">
            <a:avLst/>
          </a:prstGeom>
          <a:noFill/>
        </p:spPr>
        <p:txBody>
          <a:bodyPr wrap="square" rtlCol="0">
            <a:spAutoFit/>
          </a:bodyPr>
          <a:lstStyle/>
          <a:p>
            <a:r>
              <a:rPr lang="fr-CM" b="1" dirty="0"/>
              <a:t>1. Spécificités techniques</a:t>
            </a:r>
          </a:p>
          <a:p>
            <a:r>
              <a:rPr lang="fr-CM" dirty="0"/>
              <a:t>Architecture client-serveur (frontend + backend). </a:t>
            </a:r>
          </a:p>
          <a:p>
            <a:r>
              <a:rPr lang="fr-CM" dirty="0"/>
              <a:t>Backend connecté à </a:t>
            </a:r>
            <a:r>
              <a:rPr lang="fr-CM" dirty="0" err="1"/>
              <a:t>AppArmor</a:t>
            </a:r>
            <a:r>
              <a:rPr lang="fr-CM" dirty="0"/>
              <a:t> via scripts système. </a:t>
            </a:r>
          </a:p>
          <a:p>
            <a:r>
              <a:rPr lang="fr-CM" dirty="0"/>
              <a:t>Base de données MySQL pour le stockage des logs et configurations. </a:t>
            </a:r>
          </a:p>
          <a:p>
            <a:r>
              <a:rPr lang="fr-CM" dirty="0"/>
              <a:t>Interface web développée avec un </a:t>
            </a:r>
            <a:r>
              <a:rPr lang="fr-CM" dirty="0" err="1"/>
              <a:t>framework</a:t>
            </a:r>
            <a:r>
              <a:rPr lang="fr-CM" dirty="0"/>
              <a:t> moderne (ex : Django, Flask, Node.js).</a:t>
            </a:r>
          </a:p>
          <a:p>
            <a:endParaRPr lang="fr-CM" dirty="0"/>
          </a:p>
          <a:p>
            <a:r>
              <a:rPr lang="fr-FR" b="1" dirty="0"/>
              <a:t>2. Spécificités de sécurité</a:t>
            </a:r>
          </a:p>
          <a:p>
            <a:r>
              <a:rPr lang="fr-FR" dirty="0"/>
              <a:t>Authentification sécurisée (hash des mots de passe). </a:t>
            </a:r>
          </a:p>
          <a:p>
            <a:r>
              <a:rPr lang="fr-FR" dirty="0"/>
              <a:t>Protection contre les attaques web (XSS, CSRF, injections SQL). </a:t>
            </a:r>
          </a:p>
          <a:p>
            <a:r>
              <a:rPr lang="fr-FR" dirty="0"/>
              <a:t>Chiffrement des communications (HTTPS). </a:t>
            </a:r>
          </a:p>
          <a:p>
            <a:r>
              <a:rPr lang="fr-FR" dirty="0"/>
              <a:t>Journalisation des actions sensibles.</a:t>
            </a:r>
          </a:p>
          <a:p>
            <a:endParaRPr lang="fr-CM" dirty="0"/>
          </a:p>
          <a:p>
            <a:r>
              <a:rPr lang="fr-FR" b="1" dirty="0"/>
              <a:t>3. Spécificités fonctionnelles</a:t>
            </a:r>
          </a:p>
          <a:p>
            <a:r>
              <a:rPr lang="fr-FR" dirty="0"/>
              <a:t>Interface intuitive et ergonomique. </a:t>
            </a:r>
          </a:p>
          <a:p>
            <a:r>
              <a:rPr lang="fr-FR" dirty="0"/>
              <a:t>Tableau de bord dynamique avec indicateurs de sécurité. </a:t>
            </a:r>
          </a:p>
          <a:p>
            <a:r>
              <a:rPr lang="fr-FR" dirty="0"/>
              <a:t>Alertes en temps réel en cas d’activité suspecte. </a:t>
            </a:r>
          </a:p>
          <a:p>
            <a:r>
              <a:rPr lang="fr-FR" dirty="0"/>
              <a:t>Gestion simplifiée des profils </a:t>
            </a:r>
            <a:r>
              <a:rPr lang="fr-FR" dirty="0" err="1"/>
              <a:t>AppArmor</a:t>
            </a:r>
            <a:r>
              <a:rPr lang="fr-FR" dirty="0"/>
              <a:t>. </a:t>
            </a:r>
          </a:p>
          <a:p>
            <a:endParaRPr lang="fr-CM" dirty="0"/>
          </a:p>
          <a:p>
            <a:endParaRPr lang="fr-CM" dirty="0"/>
          </a:p>
          <a:p>
            <a:endParaRPr lang="fr-CM" dirty="0"/>
          </a:p>
        </p:txBody>
      </p:sp>
      <p:sp>
        <p:nvSpPr>
          <p:cNvPr id="4" name="ZoneTexte 3">
            <a:extLst>
              <a:ext uri="{FF2B5EF4-FFF2-40B4-BE49-F238E27FC236}">
                <a16:creationId xmlns:a16="http://schemas.microsoft.com/office/drawing/2014/main" id="{55DA306B-7F76-D8C7-7975-57A13DB25488}"/>
              </a:ext>
            </a:extLst>
          </p:cNvPr>
          <p:cNvSpPr txBox="1"/>
          <p:nvPr/>
        </p:nvSpPr>
        <p:spPr>
          <a:xfrm>
            <a:off x="7001301" y="1963678"/>
            <a:ext cx="4981433" cy="3693319"/>
          </a:xfrm>
          <a:prstGeom prst="rect">
            <a:avLst/>
          </a:prstGeom>
          <a:noFill/>
        </p:spPr>
        <p:txBody>
          <a:bodyPr wrap="square" rtlCol="0">
            <a:spAutoFit/>
          </a:bodyPr>
          <a:lstStyle/>
          <a:p>
            <a:r>
              <a:rPr lang="fr-FR" b="1" dirty="0"/>
              <a:t>4. Spécificités de performance</a:t>
            </a:r>
          </a:p>
          <a:p>
            <a:r>
              <a:rPr lang="fr-FR" dirty="0"/>
              <a:t>Temps de réponse rapide (&lt; 5 secondes pour les opérations courantes). </a:t>
            </a:r>
          </a:p>
          <a:p>
            <a:r>
              <a:rPr lang="fr-FR" dirty="0"/>
              <a:t>Mise à jour quasi-temps réel des logs. </a:t>
            </a:r>
          </a:p>
          <a:p>
            <a:r>
              <a:rPr lang="fr-FR" dirty="0"/>
              <a:t>Capacité à gérer plusieurs profils simultanément.</a:t>
            </a:r>
          </a:p>
          <a:p>
            <a:endParaRPr lang="fr-FR" dirty="0"/>
          </a:p>
          <a:p>
            <a:r>
              <a:rPr lang="fr-FR" dirty="0"/>
              <a:t> </a:t>
            </a:r>
          </a:p>
          <a:p>
            <a:r>
              <a:rPr lang="fr-FR" b="1" dirty="0"/>
              <a:t>5. Spécificités d’évolutivité</a:t>
            </a:r>
          </a:p>
          <a:p>
            <a:r>
              <a:rPr lang="fr-FR" dirty="0"/>
              <a:t>Possibilité d’ajouter de nouveaux modules (IA, SIEM, etc.). </a:t>
            </a:r>
          </a:p>
          <a:p>
            <a:r>
              <a:rPr lang="fr-FR" dirty="0"/>
              <a:t>Architecture modulaire facilitant les extensions futures.</a:t>
            </a:r>
          </a:p>
          <a:p>
            <a:endParaRPr lang="fr-CM" dirty="0"/>
          </a:p>
        </p:txBody>
      </p:sp>
    </p:spTree>
    <p:extLst>
      <p:ext uri="{BB962C8B-B14F-4D97-AF65-F5344CB8AC3E}">
        <p14:creationId xmlns:p14="http://schemas.microsoft.com/office/powerpoint/2010/main" val="1509998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443EC8A-1733-CCF7-081F-EB4667CB3285}"/>
              </a:ext>
            </a:extLst>
          </p:cNvPr>
          <p:cNvSpPr>
            <a:spLocks noGrp="1"/>
          </p:cNvSpPr>
          <p:nvPr>
            <p:ph type="title"/>
          </p:nvPr>
        </p:nvSpPr>
        <p:spPr>
          <a:xfrm>
            <a:off x="1286231" y="-17343"/>
            <a:ext cx="8350899" cy="630687"/>
          </a:xfrm>
        </p:spPr>
        <p:txBody>
          <a:bodyPr rtlCol="0"/>
          <a:lstStyle>
            <a:defPPr>
              <a:defRPr lang="fr-FR"/>
            </a:defPPr>
          </a:lstStyle>
          <a:p>
            <a:pPr rtl="0"/>
            <a:r>
              <a:rPr lang="fr-FR" dirty="0"/>
              <a:t>V. Planification du projet</a:t>
            </a:r>
          </a:p>
        </p:txBody>
      </p:sp>
      <p:sp>
        <p:nvSpPr>
          <p:cNvPr id="2" name="Espace réservé du numéro de diapositive 1">
            <a:extLst>
              <a:ext uri="{FF2B5EF4-FFF2-40B4-BE49-F238E27FC236}">
                <a16:creationId xmlns:a16="http://schemas.microsoft.com/office/drawing/2014/main" id="{AB69D854-FB65-0E93-CFE2-041F7C41DD24}"/>
              </a:ext>
            </a:extLst>
          </p:cNvPr>
          <p:cNvSpPr>
            <a:spLocks noGrp="1"/>
          </p:cNvSpPr>
          <p:nvPr>
            <p:ph type="sldNum" sz="quarter" idx="10"/>
          </p:nvPr>
        </p:nvSpPr>
        <p:spPr>
          <a:xfrm>
            <a:off x="11038977" y="457199"/>
            <a:ext cx="987552" cy="471489"/>
          </a:xfrm>
        </p:spPr>
        <p:txBody>
          <a:bodyPr rtlCol="0"/>
          <a:lstStyle>
            <a:defPPr>
              <a:defRPr lang="fr-FR"/>
            </a:defPPr>
          </a:lstStyle>
          <a:p>
            <a:pPr rtl="0"/>
            <a:fld id="{48F63A3B-78C7-47BE-AE5E-E10140E04643}" type="slidenum">
              <a:rPr lang="fr-FR" smtClean="0"/>
              <a:pPr rtl="0"/>
              <a:t>14</a:t>
            </a:fld>
            <a:endParaRPr lang="fr-FR" dirty="0"/>
          </a:p>
        </p:txBody>
      </p:sp>
      <p:graphicFrame>
        <p:nvGraphicFramePr>
          <p:cNvPr id="11" name="Tableau 10">
            <a:extLst>
              <a:ext uri="{FF2B5EF4-FFF2-40B4-BE49-F238E27FC236}">
                <a16:creationId xmlns:a16="http://schemas.microsoft.com/office/drawing/2014/main" id="{252F484B-C429-F5CF-CA8C-60E4B6610023}"/>
              </a:ext>
            </a:extLst>
          </p:cNvPr>
          <p:cNvGraphicFramePr>
            <a:graphicFrameLocks noGrp="1"/>
          </p:cNvGraphicFramePr>
          <p:nvPr>
            <p:extLst>
              <p:ext uri="{D42A27DB-BD31-4B8C-83A1-F6EECF244321}">
                <p14:modId xmlns:p14="http://schemas.microsoft.com/office/powerpoint/2010/main" val="2836702416"/>
              </p:ext>
            </p:extLst>
          </p:nvPr>
        </p:nvGraphicFramePr>
        <p:xfrm>
          <a:off x="428159" y="692942"/>
          <a:ext cx="11254326" cy="6054489"/>
        </p:xfrm>
        <a:graphic>
          <a:graphicData uri="http://schemas.openxmlformats.org/drawingml/2006/table">
            <a:tbl>
              <a:tblPr firstRow="1" bandRow="1">
                <a:tableStyleId>{8A107856-5554-42FB-B03E-39F5DBC370BA}</a:tableStyleId>
              </a:tblPr>
              <a:tblGrid>
                <a:gridCol w="963316">
                  <a:extLst>
                    <a:ext uri="{9D8B030D-6E8A-4147-A177-3AD203B41FA5}">
                      <a16:colId xmlns:a16="http://schemas.microsoft.com/office/drawing/2014/main" val="2535193249"/>
                    </a:ext>
                  </a:extLst>
                </a:gridCol>
                <a:gridCol w="2602199">
                  <a:extLst>
                    <a:ext uri="{9D8B030D-6E8A-4147-A177-3AD203B41FA5}">
                      <a16:colId xmlns:a16="http://schemas.microsoft.com/office/drawing/2014/main" val="3043342224"/>
                    </a:ext>
                  </a:extLst>
                </a:gridCol>
                <a:gridCol w="1782758">
                  <a:extLst>
                    <a:ext uri="{9D8B030D-6E8A-4147-A177-3AD203B41FA5}">
                      <a16:colId xmlns:a16="http://schemas.microsoft.com/office/drawing/2014/main" val="3465845086"/>
                    </a:ext>
                  </a:extLst>
                </a:gridCol>
                <a:gridCol w="1782758">
                  <a:extLst>
                    <a:ext uri="{9D8B030D-6E8A-4147-A177-3AD203B41FA5}">
                      <a16:colId xmlns:a16="http://schemas.microsoft.com/office/drawing/2014/main" val="1663474120"/>
                    </a:ext>
                  </a:extLst>
                </a:gridCol>
                <a:gridCol w="1782758">
                  <a:extLst>
                    <a:ext uri="{9D8B030D-6E8A-4147-A177-3AD203B41FA5}">
                      <a16:colId xmlns:a16="http://schemas.microsoft.com/office/drawing/2014/main" val="4210832877"/>
                    </a:ext>
                  </a:extLst>
                </a:gridCol>
                <a:gridCol w="2340537">
                  <a:extLst>
                    <a:ext uri="{9D8B030D-6E8A-4147-A177-3AD203B41FA5}">
                      <a16:colId xmlns:a16="http://schemas.microsoft.com/office/drawing/2014/main" val="119287484"/>
                    </a:ext>
                  </a:extLst>
                </a:gridCol>
              </a:tblGrid>
              <a:tr h="1042803">
                <a:tc>
                  <a:txBody>
                    <a:bodyPr/>
                    <a:lstStyle/>
                    <a:p>
                      <a:r>
                        <a:rPr lang="en-US" dirty="0"/>
                        <a:t>Phases</a:t>
                      </a:r>
                      <a:endParaRPr lang="fr-CM" dirty="0"/>
                    </a:p>
                  </a:txBody>
                  <a:tcPr/>
                </a:tc>
                <a:tc>
                  <a:txBody>
                    <a:bodyPr/>
                    <a:lstStyle/>
                    <a:p>
                      <a:r>
                        <a:rPr lang="en-US" dirty="0"/>
                        <a:t>Intitule</a:t>
                      </a:r>
                      <a:endParaRPr lang="fr-CM" dirty="0"/>
                    </a:p>
                  </a:txBody>
                  <a:tcPr/>
                </a:tc>
                <a:tc>
                  <a:txBody>
                    <a:bodyPr/>
                    <a:lstStyle/>
                    <a:p>
                      <a:r>
                        <a:rPr lang="en-US" dirty="0"/>
                        <a:t>Activite principale</a:t>
                      </a:r>
                      <a:endParaRPr lang="fr-CM" dirty="0"/>
                    </a:p>
                  </a:txBody>
                  <a:tcPr/>
                </a:tc>
                <a:tc>
                  <a:txBody>
                    <a:bodyPr/>
                    <a:lstStyle/>
                    <a:p>
                      <a:r>
                        <a:rPr lang="en-US" dirty="0"/>
                        <a:t>Date de debut </a:t>
                      </a:r>
                      <a:endParaRPr lang="fr-CM" dirty="0"/>
                    </a:p>
                  </a:txBody>
                  <a:tcPr/>
                </a:tc>
                <a:tc>
                  <a:txBody>
                    <a:bodyPr/>
                    <a:lstStyle/>
                    <a:p>
                      <a:r>
                        <a:rPr lang="en-US" dirty="0"/>
                        <a:t>Date de fin </a:t>
                      </a:r>
                      <a:endParaRPr lang="fr-CM" dirty="0"/>
                    </a:p>
                  </a:txBody>
                  <a:tcPr/>
                </a:tc>
                <a:tc>
                  <a:txBody>
                    <a:bodyPr/>
                    <a:lstStyle/>
                    <a:p>
                      <a:r>
                        <a:rPr lang="en-US" dirty="0"/>
                        <a:t>Livable</a:t>
                      </a:r>
                      <a:endParaRPr lang="fr-CM" dirty="0"/>
                    </a:p>
                  </a:txBody>
                  <a:tcPr/>
                </a:tc>
                <a:extLst>
                  <a:ext uri="{0D108BD9-81ED-4DB2-BD59-A6C34878D82A}">
                    <a16:rowId xmlns:a16="http://schemas.microsoft.com/office/drawing/2014/main" val="1170146286"/>
                  </a:ext>
                </a:extLst>
              </a:tr>
              <a:tr h="1378435">
                <a:tc>
                  <a:txBody>
                    <a:bodyPr/>
                    <a:lstStyle/>
                    <a:p>
                      <a:r>
                        <a:rPr lang="en-US" dirty="0"/>
                        <a:t>1</a:t>
                      </a:r>
                      <a:endParaRPr lang="fr-CM" dirty="0"/>
                    </a:p>
                  </a:txBody>
                  <a:tcPr/>
                </a:tc>
                <a:tc>
                  <a:txBody>
                    <a:bodyPr/>
                    <a:lstStyle/>
                    <a:p>
                      <a:r>
                        <a:rPr lang="en-US" dirty="0"/>
                        <a:t>Cahier d’Analyse</a:t>
                      </a:r>
                      <a:endParaRPr lang="fr-CM" dirty="0"/>
                    </a:p>
                  </a:txBody>
                  <a:tcPr/>
                </a:tc>
                <a:tc>
                  <a:txBody>
                    <a:bodyPr/>
                    <a:lstStyle/>
                    <a:p>
                      <a:r>
                        <a:rPr lang="fr-FR" dirty="0"/>
                        <a:t>Analyse du besoin, étude de l’existant, définition des contraintes </a:t>
                      </a:r>
                      <a:endParaRPr lang="fr-CM" dirty="0"/>
                    </a:p>
                  </a:txBody>
                  <a:tcPr/>
                </a:tc>
                <a:tc>
                  <a:txBody>
                    <a:bodyPr/>
                    <a:lstStyle/>
                    <a:p>
                      <a:r>
                        <a:rPr lang="en-US" dirty="0"/>
                        <a:t>11/05/2026</a:t>
                      </a:r>
                      <a:endParaRPr lang="fr-CM" dirty="0"/>
                    </a:p>
                  </a:txBody>
                  <a:tcPr/>
                </a:tc>
                <a:tc>
                  <a:txBody>
                    <a:bodyPr/>
                    <a:lstStyle/>
                    <a:p>
                      <a:r>
                        <a:rPr lang="en-US" dirty="0"/>
                        <a:t>20/05/206</a:t>
                      </a:r>
                      <a:endParaRPr lang="fr-CM" dirty="0"/>
                    </a:p>
                  </a:txBody>
                  <a:tcPr/>
                </a:tc>
                <a:tc>
                  <a:txBody>
                    <a:bodyPr/>
                    <a:lstStyle/>
                    <a:p>
                      <a:r>
                        <a:rPr lang="en-US" dirty="0"/>
                        <a:t>Dossier </a:t>
                      </a:r>
                      <a:r>
                        <a:rPr lang="en-US" dirty="0" err="1"/>
                        <a:t>d’analyse</a:t>
                      </a:r>
                      <a:endParaRPr lang="fr-CM" dirty="0"/>
                    </a:p>
                  </a:txBody>
                  <a:tcPr/>
                </a:tc>
                <a:extLst>
                  <a:ext uri="{0D108BD9-81ED-4DB2-BD59-A6C34878D82A}">
                    <a16:rowId xmlns:a16="http://schemas.microsoft.com/office/drawing/2014/main" val="2091218383"/>
                  </a:ext>
                </a:extLst>
              </a:tr>
              <a:tr h="1042803">
                <a:tc>
                  <a:txBody>
                    <a:bodyPr/>
                    <a:lstStyle/>
                    <a:p>
                      <a:r>
                        <a:rPr lang="en-US" dirty="0"/>
                        <a:t>2</a:t>
                      </a:r>
                      <a:endParaRPr lang="fr-CM" dirty="0"/>
                    </a:p>
                  </a:txBody>
                  <a:tcPr/>
                </a:tc>
                <a:tc>
                  <a:txBody>
                    <a:bodyPr/>
                    <a:lstStyle/>
                    <a:p>
                      <a:r>
                        <a:rPr lang="en-US" dirty="0"/>
                        <a:t>Cahier de Conception</a:t>
                      </a:r>
                      <a:endParaRPr lang="fr-CM" dirty="0"/>
                    </a:p>
                  </a:txBody>
                  <a:tcPr/>
                </a:tc>
                <a:tc>
                  <a:txBody>
                    <a:bodyPr/>
                    <a:lstStyle/>
                    <a:p>
                      <a:r>
                        <a:rPr lang="fr-FR" dirty="0"/>
                        <a:t>Architecture, choix des outils, modélisation </a:t>
                      </a:r>
                      <a:endParaRPr lang="fr-CM" dirty="0"/>
                    </a:p>
                  </a:txBody>
                  <a:tcPr/>
                </a:tc>
                <a:tc>
                  <a:txBody>
                    <a:bodyPr/>
                    <a:lstStyle/>
                    <a:p>
                      <a:r>
                        <a:rPr lang="en-US" dirty="0"/>
                        <a:t>21/05/2026</a:t>
                      </a:r>
                      <a:endParaRPr lang="fr-CM" dirty="0"/>
                    </a:p>
                  </a:txBody>
                  <a:tcPr/>
                </a:tc>
                <a:tc>
                  <a:txBody>
                    <a:bodyPr/>
                    <a:lstStyle/>
                    <a:p>
                      <a:r>
                        <a:rPr lang="en-US" dirty="0"/>
                        <a:t>25/05/2026</a:t>
                      </a:r>
                      <a:endParaRPr lang="fr-CM" dirty="0"/>
                    </a:p>
                  </a:txBody>
                  <a:tcPr/>
                </a:tc>
                <a:tc>
                  <a:txBody>
                    <a:bodyPr/>
                    <a:lstStyle/>
                    <a:p>
                      <a:r>
                        <a:rPr lang="en-US" dirty="0"/>
                        <a:t>Dossier de conception</a:t>
                      </a:r>
                      <a:endParaRPr lang="fr-CM" dirty="0"/>
                    </a:p>
                  </a:txBody>
                  <a:tcPr/>
                </a:tc>
                <a:extLst>
                  <a:ext uri="{0D108BD9-81ED-4DB2-BD59-A6C34878D82A}">
                    <a16:rowId xmlns:a16="http://schemas.microsoft.com/office/drawing/2014/main" val="3201644569"/>
                  </a:ext>
                </a:extLst>
              </a:tr>
              <a:tr h="1042803">
                <a:tc>
                  <a:txBody>
                    <a:bodyPr/>
                    <a:lstStyle/>
                    <a:p>
                      <a:r>
                        <a:rPr lang="en-US" dirty="0"/>
                        <a:t>3</a:t>
                      </a:r>
                      <a:endParaRPr lang="fr-CM" dirty="0"/>
                    </a:p>
                  </a:txBody>
                  <a:tcPr/>
                </a:tc>
                <a:tc>
                  <a:txBody>
                    <a:bodyPr/>
                    <a:lstStyle/>
                    <a:p>
                      <a:r>
                        <a:rPr lang="en-US" dirty="0"/>
                        <a:t>Cahier de Realisation</a:t>
                      </a:r>
                      <a:endParaRPr lang="fr-CM" dirty="0"/>
                    </a:p>
                  </a:txBody>
                  <a:tcPr/>
                </a:tc>
                <a:tc>
                  <a:txBody>
                    <a:bodyPr/>
                    <a:lstStyle/>
                    <a:p>
                      <a:r>
                        <a:rPr lang="fr-FR" dirty="0"/>
                        <a:t>Développement, intégration, tests fonctionnels</a:t>
                      </a:r>
                      <a:endParaRPr lang="fr-CM" dirty="0"/>
                    </a:p>
                  </a:txBody>
                  <a:tcPr/>
                </a:tc>
                <a:tc>
                  <a:txBody>
                    <a:bodyPr/>
                    <a:lstStyle/>
                    <a:p>
                      <a:r>
                        <a:rPr lang="en-US" dirty="0"/>
                        <a:t>26/05/2026</a:t>
                      </a:r>
                      <a:endParaRPr lang="fr-CM" dirty="0"/>
                    </a:p>
                  </a:txBody>
                  <a:tcPr/>
                </a:tc>
                <a:tc>
                  <a:txBody>
                    <a:bodyPr/>
                    <a:lstStyle/>
                    <a:p>
                      <a:r>
                        <a:rPr lang="en-US" dirty="0"/>
                        <a:t>09/06/2026</a:t>
                      </a:r>
                      <a:endParaRPr lang="fr-CM" dirty="0"/>
                    </a:p>
                  </a:txBody>
                  <a:tcPr/>
                </a:tc>
                <a:tc>
                  <a:txBody>
                    <a:bodyPr/>
                    <a:lstStyle/>
                    <a:p>
                      <a:r>
                        <a:rPr lang="en-US" dirty="0"/>
                        <a:t>Dossier de realization</a:t>
                      </a:r>
                      <a:endParaRPr lang="fr-CM" dirty="0"/>
                    </a:p>
                  </a:txBody>
                  <a:tcPr/>
                </a:tc>
                <a:extLst>
                  <a:ext uri="{0D108BD9-81ED-4DB2-BD59-A6C34878D82A}">
                    <a16:rowId xmlns:a16="http://schemas.microsoft.com/office/drawing/2014/main" val="4136403353"/>
                  </a:ext>
                </a:extLst>
              </a:tr>
              <a:tr h="1378435">
                <a:tc>
                  <a:txBody>
                    <a:bodyPr/>
                    <a:lstStyle/>
                    <a:p>
                      <a:r>
                        <a:rPr lang="en-US" dirty="0"/>
                        <a:t>4</a:t>
                      </a:r>
                      <a:endParaRPr lang="fr-CM" dirty="0"/>
                    </a:p>
                  </a:txBody>
                  <a:tcPr/>
                </a:tc>
                <a:tc>
                  <a:txBody>
                    <a:bodyPr/>
                    <a:lstStyle/>
                    <a:p>
                      <a:r>
                        <a:rPr lang="en-US" dirty="0"/>
                        <a:t>Deploiement</a:t>
                      </a:r>
                      <a:endParaRPr lang="fr-CM" dirty="0"/>
                    </a:p>
                  </a:txBody>
                  <a:tcPr/>
                </a:tc>
                <a:tc>
                  <a:txBody>
                    <a:bodyPr/>
                    <a:lstStyle/>
                    <a:p>
                      <a:r>
                        <a:rPr lang="fr-FR" dirty="0"/>
                        <a:t>Mise en place du système, validation finale, documentation </a:t>
                      </a:r>
                      <a:endParaRPr lang="fr-CM" dirty="0"/>
                    </a:p>
                  </a:txBody>
                  <a:tcPr/>
                </a:tc>
                <a:tc>
                  <a:txBody>
                    <a:bodyPr/>
                    <a:lstStyle/>
                    <a:p>
                      <a:r>
                        <a:rPr lang="en-US" dirty="0"/>
                        <a:t>10/06/2026</a:t>
                      </a:r>
                      <a:endParaRPr lang="fr-CM" dirty="0"/>
                    </a:p>
                  </a:txBody>
                  <a:tcPr/>
                </a:tc>
                <a:tc>
                  <a:txBody>
                    <a:bodyPr/>
                    <a:lstStyle/>
                    <a:p>
                      <a:r>
                        <a:rPr lang="en-US"/>
                        <a:t>14/06/2026</a:t>
                      </a:r>
                      <a:endParaRPr lang="fr-CM" dirty="0"/>
                    </a:p>
                  </a:txBody>
                  <a:tcPr/>
                </a:tc>
                <a:tc>
                  <a:txBody>
                    <a:bodyPr/>
                    <a:lstStyle/>
                    <a:p>
                      <a:r>
                        <a:rPr lang="en-US" dirty="0"/>
                        <a:t>Rapport de deploiement du projet</a:t>
                      </a:r>
                      <a:endParaRPr lang="fr-CM" dirty="0"/>
                    </a:p>
                  </a:txBody>
                  <a:tcPr/>
                </a:tc>
                <a:extLst>
                  <a:ext uri="{0D108BD9-81ED-4DB2-BD59-A6C34878D82A}">
                    <a16:rowId xmlns:a16="http://schemas.microsoft.com/office/drawing/2014/main" val="2799012029"/>
                  </a:ext>
                </a:extLst>
              </a:tr>
            </a:tbl>
          </a:graphicData>
        </a:graphic>
      </p:graphicFrame>
    </p:spTree>
    <p:extLst>
      <p:ext uri="{BB962C8B-B14F-4D97-AF65-F5344CB8AC3E}">
        <p14:creationId xmlns:p14="http://schemas.microsoft.com/office/powerpoint/2010/main" val="4072101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136FCF6-982C-CC37-9625-3EBFC7E7DD13}"/>
              </a:ext>
            </a:extLst>
          </p:cNvPr>
          <p:cNvSpPr>
            <a:spLocks noGrp="1"/>
          </p:cNvSpPr>
          <p:nvPr>
            <p:ph type="title"/>
          </p:nvPr>
        </p:nvSpPr>
        <p:spPr>
          <a:xfrm>
            <a:off x="1550564" y="821776"/>
            <a:ext cx="9879437" cy="980844"/>
          </a:xfrm>
        </p:spPr>
        <p:txBody>
          <a:bodyPr rtlCol="0"/>
          <a:lstStyle>
            <a:defPPr>
              <a:defRPr lang="fr-FR"/>
            </a:defPPr>
          </a:lstStyle>
          <a:p>
            <a:pPr rtl="0"/>
            <a:r>
              <a:rPr lang="fr-FR" dirty="0"/>
              <a:t>VI. LES LIVRABLES</a:t>
            </a:r>
          </a:p>
        </p:txBody>
      </p:sp>
      <p:sp>
        <p:nvSpPr>
          <p:cNvPr id="4" name="Espace réservé du texte 3">
            <a:extLst>
              <a:ext uri="{FF2B5EF4-FFF2-40B4-BE49-F238E27FC236}">
                <a16:creationId xmlns:a16="http://schemas.microsoft.com/office/drawing/2014/main" id="{97DCC342-9FD1-7055-EAAC-008DC851B13F}"/>
              </a:ext>
            </a:extLst>
          </p:cNvPr>
          <p:cNvSpPr>
            <a:spLocks noGrp="1"/>
          </p:cNvSpPr>
          <p:nvPr>
            <p:ph type="body" sz="quarter" idx="13"/>
          </p:nvPr>
        </p:nvSpPr>
        <p:spPr>
          <a:xfrm>
            <a:off x="881029" y="2167197"/>
            <a:ext cx="10429942" cy="3816220"/>
          </a:xfrm>
        </p:spPr>
        <p:txBody>
          <a:bodyPr rtlCol="0"/>
          <a:lstStyle>
            <a:defPPr>
              <a:defRPr lang="fr-FR"/>
            </a:defPPr>
          </a:lstStyle>
          <a:p>
            <a:pPr rtl="0"/>
            <a:r>
              <a:rPr lang="fr-FR" sz="2000" dirty="0">
                <a:solidFill>
                  <a:schemeClr val="tx1"/>
                </a:solidFill>
              </a:rPr>
              <a:t>Les livrables finaux attendus pour ce projet sont :</a:t>
            </a:r>
          </a:p>
          <a:p>
            <a:pPr marL="342900" indent="-342900" rtl="0">
              <a:buFont typeface="Arial" panose="020B0604020202020204" pitchFamily="34" charset="0"/>
              <a:buChar char="•"/>
            </a:pPr>
            <a:r>
              <a:rPr lang="fr-FR" sz="2000" dirty="0">
                <a:solidFill>
                  <a:schemeClr val="tx1"/>
                </a:solidFill>
              </a:rPr>
              <a:t>Cahier des charges</a:t>
            </a:r>
          </a:p>
          <a:p>
            <a:pPr marL="342900" indent="-342900" rtl="0">
              <a:buFont typeface="Arial" panose="020B0604020202020204" pitchFamily="34" charset="0"/>
              <a:buChar char="•"/>
            </a:pPr>
            <a:r>
              <a:rPr lang="fr-FR" sz="2000" dirty="0">
                <a:solidFill>
                  <a:schemeClr val="tx1"/>
                </a:solidFill>
              </a:rPr>
              <a:t> Dossier d’analyse </a:t>
            </a:r>
          </a:p>
          <a:p>
            <a:pPr marL="342900" indent="-342900" rtl="0">
              <a:buFont typeface="Arial" panose="020B0604020202020204" pitchFamily="34" charset="0"/>
              <a:buChar char="•"/>
            </a:pPr>
            <a:r>
              <a:rPr lang="fr-FR" sz="2000" dirty="0">
                <a:solidFill>
                  <a:schemeClr val="tx1"/>
                </a:solidFill>
              </a:rPr>
              <a:t> Dossier de conception</a:t>
            </a:r>
          </a:p>
          <a:p>
            <a:pPr marL="342900" indent="-342900" rtl="0">
              <a:buFont typeface="Arial" panose="020B0604020202020204" pitchFamily="34" charset="0"/>
              <a:buChar char="•"/>
            </a:pPr>
            <a:r>
              <a:rPr lang="fr-FR" sz="2000" dirty="0">
                <a:solidFill>
                  <a:schemeClr val="tx1"/>
                </a:solidFill>
              </a:rPr>
              <a:t> Dossier de réalisation</a:t>
            </a:r>
          </a:p>
          <a:p>
            <a:pPr marL="342900" indent="-342900" rtl="0">
              <a:buFont typeface="Arial" panose="020B0604020202020204" pitchFamily="34" charset="0"/>
              <a:buChar char="•"/>
            </a:pPr>
            <a:r>
              <a:rPr lang="fr-FR" sz="2000" dirty="0">
                <a:solidFill>
                  <a:schemeClr val="tx1"/>
                </a:solidFill>
              </a:rPr>
              <a:t>Dossier de déploiement</a:t>
            </a:r>
          </a:p>
          <a:p>
            <a:pPr marL="342900" indent="-342900" rtl="0">
              <a:buFont typeface="Arial" panose="020B0604020202020204" pitchFamily="34" charset="0"/>
              <a:buChar char="•"/>
            </a:pPr>
            <a:r>
              <a:rPr lang="fr-FR" sz="2000" dirty="0">
                <a:solidFill>
                  <a:schemeClr val="tx1"/>
                </a:solidFill>
              </a:rPr>
              <a:t>Rapport de projet complet</a:t>
            </a:r>
          </a:p>
          <a:p>
            <a:pPr marL="342900" indent="-342900" rtl="0">
              <a:buFont typeface="Arial" panose="020B0604020202020204" pitchFamily="34" charset="0"/>
              <a:buChar char="•"/>
            </a:pPr>
            <a:r>
              <a:rPr lang="fr-FR" sz="2000" dirty="0">
                <a:solidFill>
                  <a:schemeClr val="tx1"/>
                </a:solidFill>
              </a:rPr>
              <a:t>Présentation PowerPoint</a:t>
            </a:r>
          </a:p>
          <a:p>
            <a:pPr rtl="0"/>
            <a:endParaRPr lang="fr-FR" dirty="0"/>
          </a:p>
        </p:txBody>
      </p:sp>
      <p:sp>
        <p:nvSpPr>
          <p:cNvPr id="2" name="Espace réservé du numéro de diapositive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15</a:t>
            </a:fld>
            <a:endParaRPr lang="fr-FR" dirty="0"/>
          </a:p>
        </p:txBody>
      </p:sp>
    </p:spTree>
    <p:extLst>
      <p:ext uri="{BB962C8B-B14F-4D97-AF65-F5344CB8AC3E}">
        <p14:creationId xmlns:p14="http://schemas.microsoft.com/office/powerpoint/2010/main" val="396999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D22C5-0C9E-B582-A8FE-B45E70A01E7F}"/>
              </a:ext>
            </a:extLst>
          </p:cNvPr>
          <p:cNvSpPr>
            <a:spLocks noGrp="1"/>
          </p:cNvSpPr>
          <p:nvPr>
            <p:ph type="ctrTitle"/>
          </p:nvPr>
        </p:nvSpPr>
        <p:spPr>
          <a:xfrm>
            <a:off x="317240" y="1097740"/>
            <a:ext cx="11178074" cy="2499907"/>
          </a:xfrm>
        </p:spPr>
        <p:txBody>
          <a:bodyPr rtlCol="0"/>
          <a:lstStyle>
            <a:defPPr>
              <a:defRPr lang="fr-FR"/>
            </a:defPPr>
          </a:lstStyle>
          <a:p>
            <a:pPr rtl="0"/>
            <a:r>
              <a:rPr lang="fr-FR" sz="4800" dirty="0">
                <a:effectLst>
                  <a:reflection blurRad="6350" stA="60000" endA="900" endPos="60000" dist="29997" dir="5400000" sy="-100000" algn="bl" rotWithShape="0"/>
                </a:effectLst>
              </a:rPr>
              <a:t>MERCI POUR VOTRE ATTENTION</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Personnalisé">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893085_TF78438558_Win32" id="{3A360CBA-99A0-49ED-B63F-2D1627BB2518}" vid="{56FFFEFC-6F1D-4078-81C7-9B5A182BBA3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{6C16E821-2375-4C4E-B041-76AB3DD61015}TF8a9b5915-b8c7-461e-8cdd-693d48b5e32310e906f8_win32-220c37ecc522</Template>
  <TotalTime>2738</TotalTime>
  <Words>1334</Words>
  <Application>Microsoft Office PowerPoint</Application>
  <PresentationFormat>Grand écran</PresentationFormat>
  <Paragraphs>275</Paragraphs>
  <Slides>16</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Arial Black</vt:lpstr>
      <vt:lpstr>Calibri</vt:lpstr>
      <vt:lpstr>Sabon Next LT</vt:lpstr>
      <vt:lpstr>Times New Roman</vt:lpstr>
      <vt:lpstr>Personnalisé</vt:lpstr>
      <vt:lpstr>CONCEPTION, DEVELOPPEMENT ET DEPLOIEMENT D’UN GESTIONNAIRE WEB SECURISE POUR L’ADMINISTRATION ET L’AUDIT DES PROFILS APPArmor AVEC DETECTION ET MITIGATION DES COMPORTEMENTS MALVEILLANTS</vt:lpstr>
      <vt:lpstr>CAHIER DES CHARGES   SOMMAIRE</vt:lpstr>
      <vt:lpstr>I. CONTEXTE ET JUSTIFICATION</vt:lpstr>
      <vt:lpstr>II. OBJECTIF PRINCIPAL DU PROJET</vt:lpstr>
      <vt:lpstr>OBJECTIFS SPECIFIQUES</vt:lpstr>
      <vt:lpstr>III. EXPRESSIONS DES BESOINS FONCTIONNELS</vt:lpstr>
      <vt:lpstr>IV. EVALUATION DES RESSOURCES</vt:lpstr>
      <vt:lpstr>Présentation PowerPoint</vt:lpstr>
      <vt:lpstr>Présentation PowerPoint</vt:lpstr>
      <vt:lpstr>Budgétisation du projet</vt:lpstr>
      <vt:lpstr>Operations </vt:lpstr>
      <vt:lpstr>Perimetre </vt:lpstr>
      <vt:lpstr>specificites</vt:lpstr>
      <vt:lpstr>V. Planification du projet</vt:lpstr>
      <vt:lpstr>VI. LES LIVRABLES</vt:lpstr>
      <vt:lpstr>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DEVELOPPEMENT ET DEPLOIEMENT D’UN GESTIONNAIRE WEB SECURISE POUR L’ADMINISTRATION ET L’AUDIT DES PROFILS AppARMOR AVEC DETECTION ET MITIGATION DES COMPORTEMENTS MALVEILLANTS</dc:title>
  <dc:subject/>
  <dc:creator>Emilie Nana Ndieupe</dc:creator>
  <cp:lastModifiedBy>yannick simo</cp:lastModifiedBy>
  <cp:revision>19</cp:revision>
  <dcterms:created xsi:type="dcterms:W3CDTF">2026-05-04T10:40:56Z</dcterms:created>
  <dcterms:modified xsi:type="dcterms:W3CDTF">2026-06-13T16:50:24Z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